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  <p:sldMasterId id="2147483671" r:id="rId5"/>
  </p:sldMasterIdLst>
  <p:notesMasterIdLst>
    <p:notesMasterId r:id="rId10"/>
  </p:notesMasterIdLst>
  <p:handoutMasterIdLst>
    <p:handoutMasterId r:id="rId11"/>
  </p:handoutMasterIdLst>
  <p:sldIdLst>
    <p:sldId id="616" r:id="rId6"/>
    <p:sldId id="618" r:id="rId7"/>
    <p:sldId id="617" r:id="rId8"/>
    <p:sldId id="619" r:id="rId9"/>
  </p:sldIdLst>
  <p:sldSz cx="12192000" cy="6858000"/>
  <p:notesSz cx="6794500" cy="9906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3A032C5B-C48A-4256-8128-1A7E2FC663D3}">
          <p14:sldIdLst>
            <p14:sldId id="616"/>
            <p14:sldId id="618"/>
            <p14:sldId id="617"/>
            <p14:sldId id="619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1728" userDrawn="1">
          <p15:clr>
            <a:srgbClr val="A4A3A4"/>
          </p15:clr>
        </p15:guide>
        <p15:guide id="4" orient="horz" pos="1296" userDrawn="1">
          <p15:clr>
            <a:srgbClr val="A4A3A4"/>
          </p15:clr>
        </p15:guide>
        <p15:guide id="5" orient="horz" pos="864" userDrawn="1">
          <p15:clr>
            <a:srgbClr val="A4A3A4"/>
          </p15:clr>
        </p15:guide>
        <p15:guide id="6" orient="horz" pos="434" userDrawn="1">
          <p15:clr>
            <a:srgbClr val="A4A3A4"/>
          </p15:clr>
        </p15:guide>
        <p15:guide id="7" orient="horz" pos="2590" userDrawn="1">
          <p15:clr>
            <a:srgbClr val="A4A3A4"/>
          </p15:clr>
        </p15:guide>
        <p15:guide id="8" orient="horz" pos="3022" userDrawn="1">
          <p15:clr>
            <a:srgbClr val="A4A3A4"/>
          </p15:clr>
        </p15:guide>
        <p15:guide id="9" orient="horz" pos="3454" userDrawn="1">
          <p15:clr>
            <a:srgbClr val="A4A3A4"/>
          </p15:clr>
        </p15:guide>
        <p15:guide id="10" orient="horz" pos="3884" userDrawn="1">
          <p15:clr>
            <a:srgbClr val="A4A3A4"/>
          </p15:clr>
        </p15:guide>
        <p15:guide id="11" pos="3359" userDrawn="1">
          <p15:clr>
            <a:srgbClr val="A4A3A4"/>
          </p15:clr>
        </p15:guide>
        <p15:guide id="12" pos="2880" userDrawn="1">
          <p15:clr>
            <a:srgbClr val="A4A3A4"/>
          </p15:clr>
        </p15:guide>
        <p15:guide id="13" pos="2398" userDrawn="1">
          <p15:clr>
            <a:srgbClr val="A4A3A4"/>
          </p15:clr>
        </p15:guide>
        <p15:guide id="14" pos="1920" userDrawn="1">
          <p15:clr>
            <a:srgbClr val="A4A3A4"/>
          </p15:clr>
        </p15:guide>
        <p15:guide id="15" pos="1438" userDrawn="1">
          <p15:clr>
            <a:srgbClr val="A4A3A4"/>
          </p15:clr>
        </p15:guide>
        <p15:guide id="16" pos="960" userDrawn="1">
          <p15:clr>
            <a:srgbClr val="A4A3A4"/>
          </p15:clr>
        </p15:guide>
        <p15:guide id="17" pos="479" userDrawn="1">
          <p15:clr>
            <a:srgbClr val="A4A3A4"/>
          </p15:clr>
        </p15:guide>
        <p15:guide id="18" pos="4320" userDrawn="1">
          <p15:clr>
            <a:srgbClr val="A4A3A4"/>
          </p15:clr>
        </p15:guide>
        <p15:guide id="19" pos="4798" userDrawn="1">
          <p15:clr>
            <a:srgbClr val="A4A3A4"/>
          </p15:clr>
        </p15:guide>
        <p15:guide id="20" pos="5278" userDrawn="1">
          <p15:clr>
            <a:srgbClr val="A4A3A4"/>
          </p15:clr>
        </p15:guide>
        <p15:guide id="21" pos="5756" userDrawn="1">
          <p15:clr>
            <a:srgbClr val="A4A3A4"/>
          </p15:clr>
        </p15:guide>
        <p15:guide id="22" pos="6236" userDrawn="1">
          <p15:clr>
            <a:srgbClr val="A4A3A4"/>
          </p15:clr>
        </p15:guide>
        <p15:guide id="23" pos="6718" userDrawn="1">
          <p15:clr>
            <a:srgbClr val="A4A3A4"/>
          </p15:clr>
        </p15:guide>
        <p15:guide id="24" pos="7198" userDrawn="1">
          <p15:clr>
            <a:srgbClr val="A4A3A4"/>
          </p15:clr>
        </p15:guide>
        <p15:guide id="25" orient="horz" pos="2152">
          <p15:clr>
            <a:srgbClr val="A4A3A4"/>
          </p15:clr>
        </p15:guide>
        <p15:guide id="26" orient="horz" pos="87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F80F0"/>
    <a:srgbClr val="0555FA"/>
    <a:srgbClr val="40BCEF"/>
    <a:srgbClr val="FF5A0E"/>
    <a:srgbClr val="28A35A"/>
    <a:srgbClr val="FF1B6C"/>
    <a:srgbClr val="36B25F"/>
    <a:srgbClr val="DEE9FE"/>
    <a:srgbClr val="0000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777C6-8C1E-4E59-A785-02B8A12B4201}" v="21" dt="2024-02-01T11:22:08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6" autoAdjust="0"/>
    <p:restoredTop sz="65889" autoAdjust="0"/>
  </p:normalViewPr>
  <p:slideViewPr>
    <p:cSldViewPr snapToGrid="0" snapToObjects="1">
      <p:cViewPr varScale="1">
        <p:scale>
          <a:sx n="86" d="100"/>
          <a:sy n="86" d="100"/>
        </p:scale>
        <p:origin x="1170" y="96"/>
      </p:cViewPr>
      <p:guideLst>
        <p:guide pos="3840"/>
        <p:guide orient="horz" pos="2160"/>
        <p:guide orient="horz" pos="1728"/>
        <p:guide orient="horz" pos="1296"/>
        <p:guide orient="horz" pos="864"/>
        <p:guide orient="horz" pos="434"/>
        <p:guide orient="horz" pos="2590"/>
        <p:guide orient="horz" pos="3022"/>
        <p:guide orient="horz" pos="3454"/>
        <p:guide orient="horz" pos="3884"/>
        <p:guide pos="3359"/>
        <p:guide pos="2880"/>
        <p:guide pos="2398"/>
        <p:guide pos="1920"/>
        <p:guide pos="1438"/>
        <p:guide pos="960"/>
        <p:guide pos="479"/>
        <p:guide pos="4320"/>
        <p:guide pos="4798"/>
        <p:guide pos="5278"/>
        <p:guide pos="5756"/>
        <p:guide pos="6236"/>
        <p:guide pos="6718"/>
        <p:guide pos="7198"/>
        <p:guide orient="horz" pos="2152"/>
        <p:guide orient="horz" pos="870"/>
      </p:guideLst>
    </p:cSldViewPr>
  </p:slideViewPr>
  <p:outlineViewPr>
    <p:cViewPr>
      <p:scale>
        <a:sx n="33" d="100"/>
        <a:sy n="33" d="100"/>
      </p:scale>
      <p:origin x="270" y="492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ommentAuthors" Target="commentAuthor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1F510-2865-AD40-B295-EFE53B47B615}" type="datetimeFigureOut">
              <a:rPr lang="en-US" smtClean="0"/>
              <a:pPr/>
              <a:t>2/1/2024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645" y="9408981"/>
            <a:ext cx="294428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C96FB-A7F6-4D46-979D-BE69A3DE08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753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A2DA8-FDC1-D147-9E87-8AE9AC161936}" type="datetimeFigureOut">
              <a:rPr lang="en-GB" smtClean="0"/>
              <a:pPr/>
              <a:t>01/02/2024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67262"/>
            <a:ext cx="5435600" cy="3900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08981"/>
            <a:ext cx="2944283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4B304-E99A-554B-A154-AA493B70D9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03023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1" y="1723877"/>
            <a:ext cx="7616824" cy="1368425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2825" y="3429007"/>
            <a:ext cx="6109388" cy="276999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5519" y="3429007"/>
            <a:ext cx="1510613" cy="276999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 rot="16200000">
            <a:off x="1615349" y="-157777"/>
            <a:ext cx="691602" cy="2398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2" y="5638329"/>
            <a:ext cx="1478493" cy="5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18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GB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9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>
          <a:xfrm>
            <a:off x="772211" y="6264005"/>
            <a:ext cx="1510613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82825" y="6264005"/>
            <a:ext cx="8381999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Reporting &amp; Analytics</a:t>
            </a: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64825" y="6264005"/>
            <a:ext cx="762000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1534496" y="1363678"/>
            <a:ext cx="6076985" cy="2054225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29" name="Rectangle 28"/>
          <p:cNvSpPr/>
          <p:nvPr userDrawn="1"/>
        </p:nvSpPr>
        <p:spPr>
          <a:xfrm rot="16200000">
            <a:off x="2879087" y="2344098"/>
            <a:ext cx="1098240" cy="3808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noProof="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3" y="701166"/>
            <a:ext cx="1478493" cy="5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4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1999" y="2057399"/>
            <a:ext cx="5334001" cy="4108451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9" y="2057399"/>
            <a:ext cx="5330825" cy="4108451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372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057399"/>
            <a:ext cx="3554412" cy="4108451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6413" y="2057399"/>
            <a:ext cx="3554411" cy="4108451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7870824" y="2057400"/>
            <a:ext cx="3554411" cy="4108451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594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spcAft>
                <a:spcPts val="1200"/>
              </a:spcAft>
              <a:defRPr sz="3800"/>
            </a:lvl1pPr>
            <a:lvl2pPr>
              <a:defRPr i="1"/>
            </a:lvl2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215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ggetto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764317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270" imgH="270" progId="TCLayout.ActiveDocument.1">
                  <p:embed/>
                </p:oleObj>
              </mc:Choice>
              <mc:Fallback>
                <p:oleObj name="Diapositiva think-cell" r:id="rId3" imgW="270" imgH="270" progId="TCLayout.ActiveDocument.1">
                  <p:embed/>
                  <p:pic>
                    <p:nvPicPr>
                      <p:cNvPr id="6" name="Oggetto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860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8808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BBC2FA9F-3F3F-4C7A-A70C-56D90B962855}" type="datetime1">
              <a:rPr lang="en-GB" smtClean="0"/>
              <a:pPr/>
              <a:t>01/02/2024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 dirty="0"/>
              <a:t>Enel Global ICT – Holding &amp; Global Service Function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  <p:pic>
        <p:nvPicPr>
          <p:cNvPr id="10" name="Picture 4" descr="BIP_LOGO_esecutivo CMYK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5917" y="6166934"/>
            <a:ext cx="622675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5" name="Group 14"/>
          <p:cNvGrpSpPr/>
          <p:nvPr userDrawn="1"/>
        </p:nvGrpSpPr>
        <p:grpSpPr>
          <a:xfrm>
            <a:off x="-147208" y="97675"/>
            <a:ext cx="1944000" cy="232166"/>
            <a:chOff x="8526483" y="249383"/>
            <a:chExt cx="1944000" cy="232166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8526483" y="285008"/>
              <a:ext cx="19440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Draft</a:t>
              </a:r>
              <a:r>
                <a:rPr lang="en-US" sz="1200" baseline="0" noProof="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for discussion</a:t>
              </a:r>
              <a:endParaRPr lang="en-US" sz="1200" noProof="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cxnSp>
          <p:nvCxnSpPr>
            <p:cNvPr id="13" name="Straight Connector 12"/>
            <p:cNvCxnSpPr/>
            <p:nvPr userDrawn="1"/>
          </p:nvCxnSpPr>
          <p:spPr>
            <a:xfrm>
              <a:off x="8763990" y="249383"/>
              <a:ext cx="144878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 userDrawn="1"/>
          </p:nvCxnSpPr>
          <p:spPr>
            <a:xfrm>
              <a:off x="8763990" y="481549"/>
              <a:ext cx="144878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933616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1" y="1723877"/>
            <a:ext cx="7616824" cy="1368425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2825" y="3429007"/>
            <a:ext cx="6109388" cy="276999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5519" y="3429007"/>
            <a:ext cx="1510613" cy="276999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1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 rot="16200000">
            <a:off x="1615349" y="-157777"/>
            <a:ext cx="691602" cy="239829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2" y="5638329"/>
            <a:ext cx="1478493" cy="5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8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GB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43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>
          <a:xfrm>
            <a:off x="772211" y="6264005"/>
            <a:ext cx="1510613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82825" y="6264005"/>
            <a:ext cx="8381999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Reporting &amp; Analytics</a:t>
            </a: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64825" y="6264005"/>
            <a:ext cx="762000" cy="153888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1534496" y="1363678"/>
            <a:ext cx="6076985" cy="2054225"/>
          </a:xfrm>
        </p:spPr>
        <p:txBody>
          <a:bodyPr anchor="b"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Master title style</a:t>
            </a:r>
          </a:p>
        </p:txBody>
      </p:sp>
      <p:sp>
        <p:nvSpPr>
          <p:cNvPr id="29" name="Rectangle 28"/>
          <p:cNvSpPr/>
          <p:nvPr userDrawn="1"/>
        </p:nvSpPr>
        <p:spPr>
          <a:xfrm rot="16200000">
            <a:off x="2879087" y="2344098"/>
            <a:ext cx="1098240" cy="3808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noProof="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3" y="701166"/>
            <a:ext cx="1478493" cy="53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87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1999" y="2057399"/>
            <a:ext cx="5334001" cy="41084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9" y="2057399"/>
            <a:ext cx="5330825" cy="41084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050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057399"/>
            <a:ext cx="3554412" cy="41084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16413" y="2057399"/>
            <a:ext cx="3554411" cy="41084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7870824" y="2057400"/>
            <a:ext cx="3554411" cy="41084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67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spcAft>
                <a:spcPts val="1200"/>
              </a:spcAft>
              <a:defRPr sz="3800"/>
            </a:lvl1pPr>
            <a:lvl2pPr>
              <a:defRPr i="1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88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61999" y="1085366"/>
            <a:ext cx="8375651" cy="276999"/>
          </a:xfrm>
        </p:spPr>
        <p:txBody>
          <a:bodyPr rIns="0">
            <a:noAutofit/>
          </a:bodyPr>
          <a:lstStyle>
            <a:lvl1pPr>
              <a:defRPr sz="1800"/>
            </a:lvl1pPr>
          </a:lstStyle>
          <a:p>
            <a:pPr lvl="0"/>
            <a:r>
              <a:rPr lang="en-GB" dirty="0"/>
              <a:t>Click to edit Master subtitle style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58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19/09/2016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Reporting &amp;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2235E-0982-3B42-A838-A74550CD444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533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ggetto 6" hidden="1"/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378247040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12" imgW="270" imgH="270" progId="TCLayout.ActiveDocument.1">
                  <p:embed/>
                </p:oleObj>
              </mc:Choice>
              <mc:Fallback>
                <p:oleObj name="Diapositiva think-cell" r:id="rId12" imgW="270" imgH="270" progId="TCLayout.ActiveDocument.1">
                  <p:embed/>
                  <p:pic>
                    <p:nvPicPr>
                      <p:cNvPr id="7" name="Oggetto 6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1999" y="670121"/>
            <a:ext cx="8375651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noProof="0"/>
              <a:t>Fare clic per modificare lo stile del titolo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9" y="2055703"/>
            <a:ext cx="10664825" cy="4110147"/>
          </a:xfrm>
          <a:prstGeom prst="rect">
            <a:avLst/>
          </a:prstGeom>
        </p:spPr>
        <p:txBody>
          <a:bodyPr vert="horz" wrap="square" lIns="0" tIns="0" rIns="180000" bIns="0" rtlCol="0">
            <a:noAutofit/>
          </a:bodyPr>
          <a:lstStyle/>
          <a:p>
            <a:pPr lvl="0"/>
            <a:r>
              <a:rPr lang="it-IT" noProof="0"/>
              <a:t>Fare clic per modificare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2211" y="6264005"/>
            <a:ext cx="1510613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it-IT" noProof="0" dirty="0"/>
              <a:t>19/09/2016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2825" y="6264005"/>
            <a:ext cx="8381999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 noProof="0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4825" y="6264005"/>
            <a:ext cx="762000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r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1ED2235E-0982-3B42-A838-A74550CD4449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Rectangle 9"/>
          <p:cNvSpPr/>
          <p:nvPr/>
        </p:nvSpPr>
        <p:spPr>
          <a:xfrm>
            <a:off x="403225" y="688975"/>
            <a:ext cx="196850" cy="6826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3" y="701166"/>
            <a:ext cx="1478493" cy="535932"/>
          </a:xfrm>
          <a:prstGeom prst="rect">
            <a:avLst/>
          </a:prstGeom>
        </p:spPr>
      </p:pic>
      <p:sp>
        <p:nvSpPr>
          <p:cNvPr id="9" name="MSIPCMContentMarking" descr="{&quot;HashCode&quot;:-75512786,&quot;Placement&quot;:&quot;Header&quot;,&quot;Top&quot;:0.0,&quot;Left&quot;:450.693634,&quot;SlideWidth&quot;:960,&quot;SlideHeight&quot;:540}">
            <a:extLst>
              <a:ext uri="{FF2B5EF4-FFF2-40B4-BE49-F238E27FC236}">
                <a16:creationId xmlns:a16="http://schemas.microsoft.com/office/drawing/2014/main" id="{8743DCBB-C7A2-433C-80C9-717381644A70}"/>
              </a:ext>
            </a:extLst>
          </p:cNvPr>
          <p:cNvSpPr txBox="1"/>
          <p:nvPr userDrawn="1"/>
        </p:nvSpPr>
        <p:spPr>
          <a:xfrm>
            <a:off x="5723809" y="0"/>
            <a:ext cx="744382" cy="21764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800">
                <a:solidFill>
                  <a:srgbClr val="000000"/>
                </a:solidFill>
                <a:latin typeface="Arial" panose="020B0604020202020204" pitchFamily="34" charset="0"/>
              </a:rPr>
              <a:t>INTERNAL</a:t>
            </a:r>
            <a:endParaRPr lang="en-GB" sz="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2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65" r:id="rId3"/>
    <p:sldLayoutId id="2147483652" r:id="rId4"/>
    <p:sldLayoutId id="2147483657" r:id="rId5"/>
    <p:sldLayoutId id="2147483658" r:id="rId6"/>
    <p:sldLayoutId id="2147483654" r:id="rId7"/>
    <p:sldLayoutId id="2147483655" r:id="rId8"/>
    <p:sldLayoutId id="2147483698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/>
        <a:buNone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698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1338" indent="-271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1338" indent="-271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80">
          <p15:clr>
            <a:srgbClr val="F26B43"/>
          </p15:clr>
        </p15:guide>
        <p15:guide id="4" pos="1920">
          <p15:clr>
            <a:srgbClr val="F26B43"/>
          </p15:clr>
        </p15:guide>
        <p15:guide id="5" pos="960">
          <p15:clr>
            <a:srgbClr val="F26B43"/>
          </p15:clr>
        </p15:guide>
        <p15:guide id="6" pos="1438">
          <p15:clr>
            <a:srgbClr val="F26B43"/>
          </p15:clr>
        </p15:guide>
        <p15:guide id="7" pos="2398">
          <p15:clr>
            <a:srgbClr val="F26B43"/>
          </p15:clr>
        </p15:guide>
        <p15:guide id="8" pos="2880">
          <p15:clr>
            <a:srgbClr val="F26B43"/>
          </p15:clr>
        </p15:guide>
        <p15:guide id="9" pos="3360">
          <p15:clr>
            <a:srgbClr val="F26B43"/>
          </p15:clr>
        </p15:guide>
        <p15:guide id="10" pos="4320">
          <p15:clr>
            <a:srgbClr val="F26B43"/>
          </p15:clr>
        </p15:guide>
        <p15:guide id="11" pos="4798">
          <p15:clr>
            <a:srgbClr val="F26B43"/>
          </p15:clr>
        </p15:guide>
        <p15:guide id="12" pos="5278">
          <p15:clr>
            <a:srgbClr val="F26B43"/>
          </p15:clr>
        </p15:guide>
        <p15:guide id="13" pos="5756">
          <p15:clr>
            <a:srgbClr val="F26B43"/>
          </p15:clr>
        </p15:guide>
        <p15:guide id="14" pos="6236">
          <p15:clr>
            <a:srgbClr val="F26B43"/>
          </p15:clr>
        </p15:guide>
        <p15:guide id="15" pos="6718">
          <p15:clr>
            <a:srgbClr val="F26B43"/>
          </p15:clr>
        </p15:guide>
        <p15:guide id="16" pos="7197">
          <p15:clr>
            <a:srgbClr val="F26B43"/>
          </p15:clr>
        </p15:guide>
        <p15:guide id="17" orient="horz" pos="1728">
          <p15:clr>
            <a:srgbClr val="F26B43"/>
          </p15:clr>
        </p15:guide>
        <p15:guide id="18" orient="horz" pos="1296">
          <p15:clr>
            <a:srgbClr val="F26B43"/>
          </p15:clr>
        </p15:guide>
        <p15:guide id="19" orient="horz" pos="864">
          <p15:clr>
            <a:srgbClr val="F26B43"/>
          </p15:clr>
        </p15:guide>
        <p15:guide id="20" orient="horz" pos="434">
          <p15:clr>
            <a:srgbClr val="F26B43"/>
          </p15:clr>
        </p15:guide>
        <p15:guide id="21" orient="horz" pos="2590">
          <p15:clr>
            <a:srgbClr val="F26B43"/>
          </p15:clr>
        </p15:guide>
        <p15:guide id="22" orient="horz" pos="3022">
          <p15:clr>
            <a:srgbClr val="F26B43"/>
          </p15:clr>
        </p15:guide>
        <p15:guide id="23" orient="horz" pos="3454">
          <p15:clr>
            <a:srgbClr val="F26B43"/>
          </p15:clr>
        </p15:guide>
        <p15:guide id="24" orient="horz" pos="388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1999" y="670121"/>
            <a:ext cx="8375651" cy="39498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999" y="2055703"/>
            <a:ext cx="10664825" cy="4110147"/>
          </a:xfrm>
          <a:prstGeom prst="rect">
            <a:avLst/>
          </a:prstGeom>
        </p:spPr>
        <p:txBody>
          <a:bodyPr vert="horz" wrap="square" lIns="0" tIns="0" rIns="180000" bIns="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2211" y="6264005"/>
            <a:ext cx="1510613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it-IT" noProof="0" dirty="0"/>
              <a:t>19/09/2016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2825" y="6264005"/>
            <a:ext cx="8381999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GB" noProof="0" dirty="0"/>
              <a:t>Reporting &amp;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4825" y="6264005"/>
            <a:ext cx="762000" cy="15388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r">
              <a:defRPr sz="1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1ED2235E-0982-3B42-A838-A74550CD4449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Rectangle 9"/>
          <p:cNvSpPr/>
          <p:nvPr/>
        </p:nvSpPr>
        <p:spPr>
          <a:xfrm>
            <a:off x="403225" y="688975"/>
            <a:ext cx="196850" cy="6826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GB" noProof="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8333" y="701166"/>
            <a:ext cx="1478493" cy="535932"/>
          </a:xfrm>
          <a:prstGeom prst="rect">
            <a:avLst/>
          </a:prstGeom>
        </p:spPr>
      </p:pic>
      <p:sp>
        <p:nvSpPr>
          <p:cNvPr id="8" name="MSIPCMContentMarking" descr="{&quot;HashCode&quot;:-75512786,&quot;Placement&quot;:&quot;Header&quot;,&quot;Top&quot;:0.0,&quot;Left&quot;:450.693634,&quot;SlideWidth&quot;:960,&quot;SlideHeight&quot;:540}">
            <a:extLst>
              <a:ext uri="{FF2B5EF4-FFF2-40B4-BE49-F238E27FC236}">
                <a16:creationId xmlns:a16="http://schemas.microsoft.com/office/drawing/2014/main" id="{BB45FA0C-A26F-4E30-A35B-3F90441D7ED7}"/>
              </a:ext>
            </a:extLst>
          </p:cNvPr>
          <p:cNvSpPr txBox="1"/>
          <p:nvPr userDrawn="1"/>
        </p:nvSpPr>
        <p:spPr>
          <a:xfrm>
            <a:off x="5723809" y="0"/>
            <a:ext cx="744382" cy="21764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800">
                <a:solidFill>
                  <a:srgbClr val="000000"/>
                </a:solidFill>
                <a:latin typeface="Arial" panose="020B0604020202020204" pitchFamily="34" charset="0"/>
              </a:rPr>
              <a:t>INTERNAL</a:t>
            </a:r>
            <a:endParaRPr lang="en-GB" sz="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19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76" r:id="rId3"/>
    <p:sldLayoutId id="2147483681" r:id="rId4"/>
    <p:sldLayoutId id="2147483682" r:id="rId5"/>
    <p:sldLayoutId id="2147483683" r:id="rId6"/>
    <p:sldLayoutId id="2147483685" r:id="rId7"/>
    <p:sldLayoutId id="2147483686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/>
        <a:buNone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698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1338" indent="-271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>
          <a:tab pos="10572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1338" indent="-2714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Lucida Grande"/>
        <a:buChar char="-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8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960" userDrawn="1">
          <p15:clr>
            <a:srgbClr val="F26B43"/>
          </p15:clr>
        </p15:guide>
        <p15:guide id="6" pos="1438" userDrawn="1">
          <p15:clr>
            <a:srgbClr val="F26B43"/>
          </p15:clr>
        </p15:guide>
        <p15:guide id="7" pos="2398" userDrawn="1">
          <p15:clr>
            <a:srgbClr val="F26B43"/>
          </p15:clr>
        </p15:guide>
        <p15:guide id="8" pos="2880" userDrawn="1">
          <p15:clr>
            <a:srgbClr val="F26B43"/>
          </p15:clr>
        </p15:guide>
        <p15:guide id="9" pos="3360" userDrawn="1">
          <p15:clr>
            <a:srgbClr val="F26B43"/>
          </p15:clr>
        </p15:guide>
        <p15:guide id="10" pos="4320" userDrawn="1">
          <p15:clr>
            <a:srgbClr val="F26B43"/>
          </p15:clr>
        </p15:guide>
        <p15:guide id="11" pos="4798" userDrawn="1">
          <p15:clr>
            <a:srgbClr val="F26B43"/>
          </p15:clr>
        </p15:guide>
        <p15:guide id="12" pos="5278" userDrawn="1">
          <p15:clr>
            <a:srgbClr val="F26B43"/>
          </p15:clr>
        </p15:guide>
        <p15:guide id="13" pos="5756" userDrawn="1">
          <p15:clr>
            <a:srgbClr val="F26B43"/>
          </p15:clr>
        </p15:guide>
        <p15:guide id="14" pos="6236" userDrawn="1">
          <p15:clr>
            <a:srgbClr val="F26B43"/>
          </p15:clr>
        </p15:guide>
        <p15:guide id="15" pos="6718" userDrawn="1">
          <p15:clr>
            <a:srgbClr val="F26B43"/>
          </p15:clr>
        </p15:guide>
        <p15:guide id="16" pos="7197" userDrawn="1">
          <p15:clr>
            <a:srgbClr val="F26B43"/>
          </p15:clr>
        </p15:guide>
        <p15:guide id="17" orient="horz" pos="1728" userDrawn="1">
          <p15:clr>
            <a:srgbClr val="F26B43"/>
          </p15:clr>
        </p15:guide>
        <p15:guide id="18" orient="horz" pos="1296" userDrawn="1">
          <p15:clr>
            <a:srgbClr val="F26B43"/>
          </p15:clr>
        </p15:guide>
        <p15:guide id="19" orient="horz" pos="864" userDrawn="1">
          <p15:clr>
            <a:srgbClr val="F26B43"/>
          </p15:clr>
        </p15:guide>
        <p15:guide id="20" orient="horz" pos="434" userDrawn="1">
          <p15:clr>
            <a:srgbClr val="F26B43"/>
          </p15:clr>
        </p15:guide>
        <p15:guide id="21" orient="horz" pos="2590" userDrawn="1">
          <p15:clr>
            <a:srgbClr val="F26B43"/>
          </p15:clr>
        </p15:guide>
        <p15:guide id="22" orient="horz" pos="3022" userDrawn="1">
          <p15:clr>
            <a:srgbClr val="F26B43"/>
          </p15:clr>
        </p15:guide>
        <p15:guide id="23" orient="horz" pos="3454" userDrawn="1">
          <p15:clr>
            <a:srgbClr val="F26B43"/>
          </p15:clr>
        </p15:guide>
        <p15:guide id="24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aborazione 10"/>
          <p:cNvSpPr/>
          <p:nvPr/>
        </p:nvSpPr>
        <p:spPr>
          <a:xfrm>
            <a:off x="784979" y="1606532"/>
            <a:ext cx="10159463" cy="410095"/>
          </a:xfrm>
          <a:prstGeom prst="flowChartProcess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2000" b="1" kern="1200" dirty="0">
                <a:solidFill>
                  <a:schemeClr val="tx1"/>
                </a:solidFill>
              </a:rPr>
              <a:t>COMPANY SCOPE. </a:t>
            </a:r>
            <a:r>
              <a:rPr lang="it-IT" sz="1200" kern="1200" dirty="0">
                <a:solidFill>
                  <a:schemeClr val="tx1"/>
                </a:solidFill>
              </a:rPr>
              <a:t>Tabella AWS contente tutti i codici delle società da elaborare, viene c</a:t>
            </a:r>
            <a:r>
              <a:rPr lang="it-IT" sz="1200" dirty="0"/>
              <a:t>opiata ogni sera dal lunedì al sabato alle 17.00 dal </a:t>
            </a:r>
            <a:r>
              <a:rPr lang="it-IT" sz="1200" dirty="0" err="1"/>
              <a:t>Consolidation</a:t>
            </a:r>
            <a:r>
              <a:rPr lang="it-IT" sz="1200" dirty="0"/>
              <a:t> </a:t>
            </a:r>
            <a:r>
              <a:rPr lang="it-IT" sz="1200" dirty="0" err="1"/>
              <a:t>Perimeter</a:t>
            </a:r>
            <a:r>
              <a:rPr lang="it-IT" sz="1200" dirty="0"/>
              <a:t> </a:t>
            </a:r>
            <a:r>
              <a:rPr lang="it-IT" sz="1200" dirty="0" err="1"/>
              <a:t>Catalog</a:t>
            </a:r>
            <a:r>
              <a:rPr lang="it-IT" sz="1200" dirty="0"/>
              <a:t> di Service </a:t>
            </a:r>
            <a:r>
              <a:rPr lang="it-IT" sz="1200" dirty="0" err="1"/>
              <a:t>Now</a:t>
            </a:r>
            <a:endParaRPr lang="it-IT" sz="1200" dirty="0"/>
          </a:p>
        </p:txBody>
      </p:sp>
      <p:sp>
        <p:nvSpPr>
          <p:cNvPr id="45" name="Rettangolo 44"/>
          <p:cNvSpPr/>
          <p:nvPr/>
        </p:nvSpPr>
        <p:spPr>
          <a:xfrm>
            <a:off x="811714" y="844508"/>
            <a:ext cx="528428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dirty="0">
                <a:ln w="12700" cmpd="sng">
                  <a:solidFill>
                    <a:schemeClr val="accent4"/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TABELLE AWS -  CATALOGHI</a:t>
            </a:r>
          </a:p>
        </p:txBody>
      </p:sp>
      <p:sp>
        <p:nvSpPr>
          <p:cNvPr id="23" name="Elaborazione 7">
            <a:extLst>
              <a:ext uri="{FF2B5EF4-FFF2-40B4-BE49-F238E27FC236}">
                <a16:creationId xmlns:a16="http://schemas.microsoft.com/office/drawing/2014/main" id="{02D56CE8-02D7-477D-890A-7800874FD9DF}"/>
              </a:ext>
            </a:extLst>
          </p:cNvPr>
          <p:cNvSpPr/>
          <p:nvPr/>
        </p:nvSpPr>
        <p:spPr>
          <a:xfrm>
            <a:off x="809727" y="3269487"/>
            <a:ext cx="10134715" cy="327858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ENTITY. </a:t>
            </a:r>
            <a:r>
              <a:rPr lang="it-IT" sz="1200" dirty="0"/>
              <a:t>Tabella AWS contenente le Legal </a:t>
            </a:r>
            <a:r>
              <a:rPr lang="it-IT" sz="1200" dirty="0" err="1"/>
              <a:t>entities</a:t>
            </a:r>
            <a:r>
              <a:rPr lang="it-IT" sz="1200" dirty="0"/>
              <a:t> per cui alle OU di Staff e di Services viene impostata la GBL indicata in tabella. v</a:t>
            </a:r>
          </a:p>
        </p:txBody>
      </p:sp>
      <p:sp>
        <p:nvSpPr>
          <p:cNvPr id="24" name="Elaborazione 7">
            <a:extLst>
              <a:ext uri="{FF2B5EF4-FFF2-40B4-BE49-F238E27FC236}">
                <a16:creationId xmlns:a16="http://schemas.microsoft.com/office/drawing/2014/main" id="{10F3C5EA-7194-4B0E-8251-F86A560984FE}"/>
              </a:ext>
            </a:extLst>
          </p:cNvPr>
          <p:cNvSpPr/>
          <p:nvPr/>
        </p:nvSpPr>
        <p:spPr>
          <a:xfrm>
            <a:off x="792004" y="3693929"/>
            <a:ext cx="10134715" cy="522773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EXCEPTIONTABLE. </a:t>
            </a:r>
            <a:r>
              <a:rPr lang="it-IT" sz="1200" dirty="0"/>
              <a:t>Tabella AWS contenente le attività della GPG per le quali alle OU di Staff e di Services vengono proposte sia la GBL BGEN che la GBL BREN.</a:t>
            </a:r>
          </a:p>
        </p:txBody>
      </p:sp>
      <p:sp>
        <p:nvSpPr>
          <p:cNvPr id="31" name="Elaborazione 10">
            <a:extLst>
              <a:ext uri="{FF2B5EF4-FFF2-40B4-BE49-F238E27FC236}">
                <a16:creationId xmlns:a16="http://schemas.microsoft.com/office/drawing/2014/main" id="{55854B83-4F73-4EF9-B92A-716260A30691}"/>
              </a:ext>
            </a:extLst>
          </p:cNvPr>
          <p:cNvSpPr/>
          <p:nvPr/>
        </p:nvSpPr>
        <p:spPr>
          <a:xfrm>
            <a:off x="799154" y="2355637"/>
            <a:ext cx="10159463" cy="611362"/>
          </a:xfrm>
          <a:prstGeom prst="flowChartProcess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2000" b="1" kern="1200" dirty="0">
                <a:solidFill>
                  <a:schemeClr val="tx1"/>
                </a:solidFill>
              </a:rPr>
              <a:t>ACTIVITYASSOCIATION. </a:t>
            </a:r>
            <a:r>
              <a:rPr lang="it-IT" sz="1200" kern="1200" dirty="0">
                <a:solidFill>
                  <a:schemeClr val="tx1"/>
                </a:solidFill>
              </a:rPr>
              <a:t>Tabella AWS contente tutti i codici attività, viene c</a:t>
            </a:r>
            <a:r>
              <a:rPr lang="it-IT" sz="1200" dirty="0"/>
              <a:t>opiata ogni sera dal lunedì al sabato alle 17.00 dal </a:t>
            </a:r>
            <a:r>
              <a:rPr lang="it-IT" sz="1200" dirty="0" err="1"/>
              <a:t>Tarncoding</a:t>
            </a:r>
            <a:r>
              <a:rPr lang="it-IT" sz="1200" dirty="0"/>
              <a:t> Activity </a:t>
            </a:r>
            <a:r>
              <a:rPr lang="it-IT" sz="1200" dirty="0" err="1"/>
              <a:t>Catalog</a:t>
            </a:r>
            <a:r>
              <a:rPr lang="it-IT" sz="1200" dirty="0"/>
              <a:t> di Service </a:t>
            </a:r>
            <a:r>
              <a:rPr lang="it-IT" sz="1200" dirty="0" err="1"/>
              <a:t>Now</a:t>
            </a:r>
            <a:endParaRPr lang="it-IT" sz="1200" dirty="0"/>
          </a:p>
        </p:txBody>
      </p:sp>
      <p:sp>
        <p:nvSpPr>
          <p:cNvPr id="37" name="Elaborazione 7">
            <a:extLst>
              <a:ext uri="{FF2B5EF4-FFF2-40B4-BE49-F238E27FC236}">
                <a16:creationId xmlns:a16="http://schemas.microsoft.com/office/drawing/2014/main" id="{0DEC1805-BE28-4AD9-AE7A-F48015B265CB}"/>
              </a:ext>
            </a:extLst>
          </p:cNvPr>
          <p:cNvSpPr/>
          <p:nvPr/>
        </p:nvSpPr>
        <p:spPr>
          <a:xfrm>
            <a:off x="811714" y="4324205"/>
            <a:ext cx="10134715" cy="327858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TYPOLOGY TRANSCODING. </a:t>
            </a:r>
            <a:r>
              <a:rPr lang="it-IT" sz="1200" dirty="0"/>
              <a:t>Tabella AWS contenente tutti i possibili </a:t>
            </a:r>
            <a:r>
              <a:rPr lang="it-IT" sz="1200" dirty="0" err="1"/>
              <a:t>Father</a:t>
            </a:r>
            <a:r>
              <a:rPr lang="it-IT" sz="1200" dirty="0"/>
              <a:t> Code delle OU (es 30.08 ENX, 31.04 GCO </a:t>
            </a:r>
            <a:r>
              <a:rPr lang="it-IT" sz="1200" dirty="0" err="1"/>
              <a:t>etc</a:t>
            </a:r>
            <a:r>
              <a:rPr lang="it-IT" sz="1200" dirty="0"/>
              <a:t>) </a:t>
            </a:r>
          </a:p>
        </p:txBody>
      </p:sp>
      <p:sp>
        <p:nvSpPr>
          <p:cNvPr id="38" name="Elaborazione 7">
            <a:extLst>
              <a:ext uri="{FF2B5EF4-FFF2-40B4-BE49-F238E27FC236}">
                <a16:creationId xmlns:a16="http://schemas.microsoft.com/office/drawing/2014/main" id="{81E599E9-70DD-45EA-9B6C-1D0B4A5EB7F2}"/>
              </a:ext>
            </a:extLst>
          </p:cNvPr>
          <p:cNvSpPr/>
          <p:nvPr/>
        </p:nvSpPr>
        <p:spPr>
          <a:xfrm>
            <a:off x="777830" y="4801774"/>
            <a:ext cx="10134715" cy="327858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FATHER TRANSCODING. </a:t>
            </a:r>
            <a:r>
              <a:rPr lang="it-IT" sz="1200" dirty="0"/>
              <a:t> </a:t>
            </a:r>
          </a:p>
        </p:txBody>
      </p:sp>
      <p:sp>
        <p:nvSpPr>
          <p:cNvPr id="2" name="Elaborazione 7">
            <a:extLst>
              <a:ext uri="{FF2B5EF4-FFF2-40B4-BE49-F238E27FC236}">
                <a16:creationId xmlns:a16="http://schemas.microsoft.com/office/drawing/2014/main" id="{BA86442A-56D7-93BB-C626-3D2B5D0A574A}"/>
              </a:ext>
            </a:extLst>
          </p:cNvPr>
          <p:cNvSpPr/>
          <p:nvPr/>
        </p:nvSpPr>
        <p:spPr>
          <a:xfrm>
            <a:off x="777829" y="5129632"/>
            <a:ext cx="10134715" cy="764372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COSTANTVALUE. </a:t>
            </a:r>
            <a:r>
              <a:rPr lang="it-IT" sz="1400" dirty="0">
                <a:solidFill>
                  <a:schemeClr val="tx1"/>
                </a:solidFill>
              </a:rPr>
              <a:t>Per alcuni codici BPC delle OU di ICT e Procurement (in base alla loro PA) Macro2 e VCS vengono individuate in base ai BPC Code delle NPA delle OU medesime   </a:t>
            </a:r>
            <a:r>
              <a:rPr lang="it-IT" sz="1050" dirty="0"/>
              <a:t> 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1440316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tangolo 44"/>
          <p:cNvSpPr/>
          <p:nvPr/>
        </p:nvSpPr>
        <p:spPr>
          <a:xfrm>
            <a:off x="811714" y="844508"/>
            <a:ext cx="501492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dirty="0">
                <a:ln w="12700" cmpd="sng">
                  <a:solidFill>
                    <a:schemeClr val="accent4"/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TABELLE AWS - FULL</a:t>
            </a:r>
          </a:p>
        </p:txBody>
      </p:sp>
      <p:sp>
        <p:nvSpPr>
          <p:cNvPr id="25" name="Elaborazione 7">
            <a:extLst>
              <a:ext uri="{FF2B5EF4-FFF2-40B4-BE49-F238E27FC236}">
                <a16:creationId xmlns:a16="http://schemas.microsoft.com/office/drawing/2014/main" id="{4B40BFD8-0A56-4ED6-AEED-A2764AFF0CA2}"/>
              </a:ext>
            </a:extLst>
          </p:cNvPr>
          <p:cNvSpPr/>
          <p:nvPr/>
        </p:nvSpPr>
        <p:spPr>
          <a:xfrm>
            <a:off x="791999" y="1571816"/>
            <a:ext cx="10134715" cy="692912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HROU. </a:t>
            </a:r>
            <a:r>
              <a:rPr lang="it-IT" sz="1200" dirty="0"/>
              <a:t>Tabella AWS contenente per ciascuna delle OU elaborate dalla FULL, tutti gli attributi HR, il numero dei CC associati ed il tipo di associazione HR ed i numero degli offset da trasmettere a SNOW (</a:t>
            </a:r>
            <a:r>
              <a:rPr lang="it-IT" sz="1200" dirty="0" err="1"/>
              <a:t>vd</a:t>
            </a:r>
            <a:r>
              <a:rPr lang="it-IT" sz="1200" dirty="0"/>
              <a:t> campo </a:t>
            </a:r>
            <a:r>
              <a:rPr lang="it-IT" sz="1200" dirty="0" err="1"/>
              <a:t>hrmdou_id</a:t>
            </a:r>
            <a:r>
              <a:rPr lang="it-IT" sz="1200" dirty="0"/>
              <a:t>).</a:t>
            </a:r>
          </a:p>
        </p:txBody>
      </p:sp>
      <p:sp>
        <p:nvSpPr>
          <p:cNvPr id="26" name="Elaborazione 7">
            <a:extLst>
              <a:ext uri="{FF2B5EF4-FFF2-40B4-BE49-F238E27FC236}">
                <a16:creationId xmlns:a16="http://schemas.microsoft.com/office/drawing/2014/main" id="{5590D113-797A-489E-AC27-E6D41896DA3E}"/>
              </a:ext>
            </a:extLst>
          </p:cNvPr>
          <p:cNvSpPr/>
          <p:nvPr/>
        </p:nvSpPr>
        <p:spPr>
          <a:xfrm>
            <a:off x="763647" y="2383432"/>
            <a:ext cx="10134715" cy="692912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BWCC. </a:t>
            </a:r>
            <a:r>
              <a:rPr lang="it-IT" sz="1200" dirty="0"/>
              <a:t>Tabella AWS contenente per ciascuna delle OU elaborate dalla FULL, tutti i CC associati, i loro attributi il numero dei CC associati ed il numero degli offset da trasmettere a SNOW (</a:t>
            </a:r>
            <a:r>
              <a:rPr lang="it-IT" sz="1200" dirty="0" err="1"/>
              <a:t>vd</a:t>
            </a:r>
            <a:r>
              <a:rPr lang="it-IT" sz="1200" dirty="0"/>
              <a:t> campo </a:t>
            </a:r>
            <a:r>
              <a:rPr lang="it-IT" sz="1200" dirty="0" err="1"/>
              <a:t>association_cost_center_id</a:t>
            </a:r>
            <a:r>
              <a:rPr lang="it-IT" sz="1200" dirty="0"/>
              <a:t>).</a:t>
            </a:r>
          </a:p>
        </p:txBody>
      </p:sp>
      <p:sp>
        <p:nvSpPr>
          <p:cNvPr id="29" name="Elaborazione 7">
            <a:extLst>
              <a:ext uri="{FF2B5EF4-FFF2-40B4-BE49-F238E27FC236}">
                <a16:creationId xmlns:a16="http://schemas.microsoft.com/office/drawing/2014/main" id="{ABC189F6-7142-416E-A6BE-E73721372381}"/>
              </a:ext>
            </a:extLst>
          </p:cNvPr>
          <p:cNvSpPr/>
          <p:nvPr/>
        </p:nvSpPr>
        <p:spPr>
          <a:xfrm>
            <a:off x="784908" y="3244677"/>
            <a:ext cx="10134715" cy="381018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HROUBCK. </a:t>
            </a:r>
            <a:r>
              <a:rPr lang="it-IT" sz="1200" dirty="0">
                <a:solidFill>
                  <a:schemeClr val="tx1"/>
                </a:solidFill>
              </a:rPr>
              <a:t>Copia della tabella HROU alla fine dell’elaborazione della FULL</a:t>
            </a:r>
            <a:endParaRPr lang="it-IT" sz="1200" dirty="0"/>
          </a:p>
        </p:txBody>
      </p:sp>
      <p:sp>
        <p:nvSpPr>
          <p:cNvPr id="30" name="Elaborazione 7">
            <a:extLst>
              <a:ext uri="{FF2B5EF4-FFF2-40B4-BE49-F238E27FC236}">
                <a16:creationId xmlns:a16="http://schemas.microsoft.com/office/drawing/2014/main" id="{8021FE24-59D4-4EF4-9F23-DE50DE16A8DE}"/>
              </a:ext>
            </a:extLst>
          </p:cNvPr>
          <p:cNvSpPr/>
          <p:nvPr/>
        </p:nvSpPr>
        <p:spPr>
          <a:xfrm>
            <a:off x="792004" y="3799324"/>
            <a:ext cx="10134715" cy="303048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BWCCBCK. </a:t>
            </a:r>
            <a:r>
              <a:rPr lang="it-IT" sz="1200" dirty="0">
                <a:solidFill>
                  <a:schemeClr val="tx1"/>
                </a:solidFill>
              </a:rPr>
              <a:t>Copia della tabella </a:t>
            </a:r>
            <a:r>
              <a:rPr lang="it-IT" sz="1200" dirty="0" err="1">
                <a:solidFill>
                  <a:schemeClr val="tx1"/>
                </a:solidFill>
              </a:rPr>
              <a:t>bwccHROU</a:t>
            </a:r>
            <a:r>
              <a:rPr lang="it-IT" sz="1200" dirty="0">
                <a:solidFill>
                  <a:schemeClr val="tx1"/>
                </a:solidFill>
              </a:rPr>
              <a:t> alla fine dell’elaborazione della FULL</a:t>
            </a:r>
            <a:endParaRPr lang="it-IT" sz="1200" dirty="0"/>
          </a:p>
        </p:txBody>
      </p:sp>
      <p:sp>
        <p:nvSpPr>
          <p:cNvPr id="16" name="Elaborazione 7">
            <a:extLst>
              <a:ext uri="{FF2B5EF4-FFF2-40B4-BE49-F238E27FC236}">
                <a16:creationId xmlns:a16="http://schemas.microsoft.com/office/drawing/2014/main" id="{CC7D3C4F-F820-4D9E-844C-26AEB64AB39C}"/>
              </a:ext>
            </a:extLst>
          </p:cNvPr>
          <p:cNvSpPr/>
          <p:nvPr/>
        </p:nvSpPr>
        <p:spPr>
          <a:xfrm>
            <a:off x="790448" y="4467428"/>
            <a:ext cx="10134715" cy="692912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HRMASTERDATAOU. </a:t>
            </a:r>
            <a:r>
              <a:rPr lang="it-IT" sz="1200" dirty="0"/>
              <a:t>Tabella AWS contenente per ciascuna delle OU elaborate dalla HRSYNC (passo precedente alla FULL), tutti gli attributi scaricati da HR.</a:t>
            </a:r>
          </a:p>
        </p:txBody>
      </p:sp>
      <p:sp>
        <p:nvSpPr>
          <p:cNvPr id="17" name="Elaborazione 7">
            <a:extLst>
              <a:ext uri="{FF2B5EF4-FFF2-40B4-BE49-F238E27FC236}">
                <a16:creationId xmlns:a16="http://schemas.microsoft.com/office/drawing/2014/main" id="{EB3F376B-8E3A-4378-B6C0-985CED9051D3}"/>
              </a:ext>
            </a:extLst>
          </p:cNvPr>
          <p:cNvSpPr/>
          <p:nvPr/>
        </p:nvSpPr>
        <p:spPr>
          <a:xfrm>
            <a:off x="790448" y="5427904"/>
            <a:ext cx="10134715" cy="692912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HRMASTERDATAOUBK. </a:t>
            </a:r>
            <a:r>
              <a:rPr lang="it-IT" sz="1200" dirty="0">
                <a:solidFill>
                  <a:schemeClr val="tx1"/>
                </a:solidFill>
              </a:rPr>
              <a:t>Copia della tabella HRMASTERDATAOU alla fine dell’elaborazione della FULL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1958049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tangolo 44"/>
          <p:cNvSpPr/>
          <p:nvPr/>
        </p:nvSpPr>
        <p:spPr>
          <a:xfrm>
            <a:off x="1295698" y="849044"/>
            <a:ext cx="521142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dirty="0">
                <a:ln w="12700" cmpd="sng">
                  <a:solidFill>
                    <a:schemeClr val="accent4"/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TABELLE AWS CLEANING</a:t>
            </a:r>
          </a:p>
        </p:txBody>
      </p:sp>
      <p:sp>
        <p:nvSpPr>
          <p:cNvPr id="14" name="Elaborazione 7">
            <a:extLst>
              <a:ext uri="{FF2B5EF4-FFF2-40B4-BE49-F238E27FC236}">
                <a16:creationId xmlns:a16="http://schemas.microsoft.com/office/drawing/2014/main" id="{DD2F5D5C-D7A2-499B-8DFA-07BC06184B8C}"/>
              </a:ext>
            </a:extLst>
          </p:cNvPr>
          <p:cNvSpPr/>
          <p:nvPr/>
        </p:nvSpPr>
        <p:spPr>
          <a:xfrm>
            <a:off x="774274" y="2138887"/>
            <a:ext cx="10134715" cy="692912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CLEANHROU. </a:t>
            </a:r>
            <a:r>
              <a:rPr lang="it-IT" sz="1200" dirty="0"/>
              <a:t>Tabella AWS contenente per tutte le OU tutti gli attributi HR</a:t>
            </a:r>
          </a:p>
        </p:txBody>
      </p:sp>
      <p:sp>
        <p:nvSpPr>
          <p:cNvPr id="15" name="Elaborazione 7">
            <a:extLst>
              <a:ext uri="{FF2B5EF4-FFF2-40B4-BE49-F238E27FC236}">
                <a16:creationId xmlns:a16="http://schemas.microsoft.com/office/drawing/2014/main" id="{164F4226-6D44-41AB-AF3F-6FCF66A1E786}"/>
              </a:ext>
            </a:extLst>
          </p:cNvPr>
          <p:cNvSpPr/>
          <p:nvPr/>
        </p:nvSpPr>
        <p:spPr>
          <a:xfrm>
            <a:off x="745922" y="2950503"/>
            <a:ext cx="10134715" cy="692912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CLEANBWCC. </a:t>
            </a:r>
            <a:r>
              <a:rPr lang="it-IT" sz="1200" dirty="0"/>
              <a:t>Tabella AWS contenente per ciascuna delle OU elaborate dal </a:t>
            </a:r>
            <a:r>
              <a:rPr lang="it-IT" sz="1200" dirty="0" err="1"/>
              <a:t>Cleaning</a:t>
            </a:r>
            <a:r>
              <a:rPr lang="it-IT" sz="1200" dirty="0"/>
              <a:t> tutte le possibili combinazioni degli attributi dei CC associabili.</a:t>
            </a:r>
          </a:p>
        </p:txBody>
      </p:sp>
      <p:sp>
        <p:nvSpPr>
          <p:cNvPr id="16" name="Elaborazione 7">
            <a:extLst>
              <a:ext uri="{FF2B5EF4-FFF2-40B4-BE49-F238E27FC236}">
                <a16:creationId xmlns:a16="http://schemas.microsoft.com/office/drawing/2014/main" id="{E3609B76-8FE3-44C3-ABF2-CF274DFD898E}"/>
              </a:ext>
            </a:extLst>
          </p:cNvPr>
          <p:cNvSpPr/>
          <p:nvPr/>
        </p:nvSpPr>
        <p:spPr>
          <a:xfrm>
            <a:off x="767183" y="3811748"/>
            <a:ext cx="10134715" cy="381018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CLEANHROUBCK. </a:t>
            </a:r>
            <a:r>
              <a:rPr lang="it-IT" sz="1200" dirty="0">
                <a:solidFill>
                  <a:schemeClr val="tx1"/>
                </a:solidFill>
              </a:rPr>
              <a:t>Copia della tabella CLEANHROU alla fine dell’elaborazione del </a:t>
            </a:r>
            <a:r>
              <a:rPr lang="it-IT" sz="1200" dirty="0" err="1">
                <a:solidFill>
                  <a:schemeClr val="tx1"/>
                </a:solidFill>
              </a:rPr>
              <a:t>cleaning</a:t>
            </a:r>
            <a:endParaRPr lang="it-IT" sz="1200" dirty="0"/>
          </a:p>
        </p:txBody>
      </p:sp>
      <p:sp>
        <p:nvSpPr>
          <p:cNvPr id="17" name="Elaborazione 7">
            <a:extLst>
              <a:ext uri="{FF2B5EF4-FFF2-40B4-BE49-F238E27FC236}">
                <a16:creationId xmlns:a16="http://schemas.microsoft.com/office/drawing/2014/main" id="{1520B8D5-308F-4ABA-A61E-991A431BBDF5}"/>
              </a:ext>
            </a:extLst>
          </p:cNvPr>
          <p:cNvSpPr/>
          <p:nvPr/>
        </p:nvSpPr>
        <p:spPr>
          <a:xfrm>
            <a:off x="774279" y="4366395"/>
            <a:ext cx="10134715" cy="303048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CLEANBWCCBCK. </a:t>
            </a:r>
            <a:r>
              <a:rPr lang="it-IT" sz="1200" dirty="0">
                <a:solidFill>
                  <a:schemeClr val="tx1"/>
                </a:solidFill>
              </a:rPr>
              <a:t>Copia della tabella CLEANBWCC alla fine dell’elaborazione del </a:t>
            </a:r>
            <a:r>
              <a:rPr lang="it-IT" sz="1200" dirty="0" err="1">
                <a:solidFill>
                  <a:schemeClr val="tx1"/>
                </a:solidFill>
              </a:rPr>
              <a:t>cleaning</a:t>
            </a:r>
            <a:endParaRPr lang="it-IT" sz="1200" dirty="0"/>
          </a:p>
        </p:txBody>
      </p:sp>
    </p:spTree>
    <p:extLst>
      <p:ext uri="{BB962C8B-B14F-4D97-AF65-F5344CB8AC3E}">
        <p14:creationId xmlns:p14="http://schemas.microsoft.com/office/powerpoint/2010/main" val="3500193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tangolo 44"/>
          <p:cNvSpPr/>
          <p:nvPr/>
        </p:nvSpPr>
        <p:spPr>
          <a:xfrm>
            <a:off x="1295698" y="849044"/>
            <a:ext cx="521142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1"/>
            </a:solidFill>
          </a:ln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dirty="0">
                <a:ln w="12700" cmpd="sng">
                  <a:solidFill>
                    <a:schemeClr val="accent4"/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TABELLE AWS ALTRE</a:t>
            </a:r>
          </a:p>
        </p:txBody>
      </p:sp>
      <p:sp>
        <p:nvSpPr>
          <p:cNvPr id="14" name="Elaborazione 7">
            <a:extLst>
              <a:ext uri="{FF2B5EF4-FFF2-40B4-BE49-F238E27FC236}">
                <a16:creationId xmlns:a16="http://schemas.microsoft.com/office/drawing/2014/main" id="{DD2F5D5C-D7A2-499B-8DFA-07BC06184B8C}"/>
              </a:ext>
            </a:extLst>
          </p:cNvPr>
          <p:cNvSpPr/>
          <p:nvPr/>
        </p:nvSpPr>
        <p:spPr>
          <a:xfrm>
            <a:off x="774274" y="2138887"/>
            <a:ext cx="10134715" cy="692912"/>
          </a:xfrm>
          <a:prstGeom prst="flowChart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0" vert="horz" wrap="square" lIns="36000" tIns="36000" rIns="36000" bIns="36000" numCol="1" spcCol="1270" rtlCol="0" anchor="ctr" anchorCtr="0">
            <a:noAutofit/>
          </a:bodyPr>
          <a:lstStyle/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b="1" dirty="0">
                <a:solidFill>
                  <a:schemeClr val="tx1"/>
                </a:solidFill>
              </a:rPr>
              <a:t>EMAIL </a:t>
            </a:r>
            <a:r>
              <a:rPr lang="it-IT" sz="1200" dirty="0"/>
              <a:t>Tabella AWS contenente gli utenti che ricevono la mail di fine programma Cataloghi, HRSYNC e </a:t>
            </a:r>
            <a:r>
              <a:rPr lang="it-IT" sz="1200" dirty="0" err="1"/>
              <a:t>Masterdata</a:t>
            </a:r>
            <a:r>
              <a:rPr lang="it-IT" sz="1200" dirty="0"/>
              <a:t> per le FULL..</a:t>
            </a:r>
          </a:p>
          <a:p>
            <a:pPr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200" dirty="0"/>
              <a:t>Per il processo di </a:t>
            </a:r>
            <a:r>
              <a:rPr lang="it-IT" sz="1200" dirty="0" err="1"/>
              <a:t>Resume</a:t>
            </a:r>
            <a:r>
              <a:rPr lang="it-IT" sz="1200" dirty="0"/>
              <a:t> Massiva le mail non arrivano.</a:t>
            </a:r>
          </a:p>
        </p:txBody>
      </p:sp>
    </p:spTree>
    <p:extLst>
      <p:ext uri="{BB962C8B-B14F-4D97-AF65-F5344CB8AC3E}">
        <p14:creationId xmlns:p14="http://schemas.microsoft.com/office/powerpoint/2010/main" val="41549188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nel+PowerPoint+template_printfriendly_DR">
  <a:themeElements>
    <a:clrScheme name="ENEL">
      <a:dk1>
        <a:sysClr val="windowText" lastClr="000000"/>
      </a:dk1>
      <a:lt1>
        <a:sysClr val="window" lastClr="FFFFFF"/>
      </a:lt1>
      <a:dk2>
        <a:srgbClr val="C6C6C6"/>
      </a:dk2>
      <a:lt2>
        <a:srgbClr val="EDEEE8"/>
      </a:lt2>
      <a:accent1>
        <a:srgbClr val="0655FA"/>
      </a:accent1>
      <a:accent2>
        <a:srgbClr val="40B9E6"/>
      </a:accent2>
      <a:accent3>
        <a:srgbClr val="E71401"/>
      </a:accent3>
      <a:accent4>
        <a:srgbClr val="FE0F64"/>
      </a:accent4>
      <a:accent5>
        <a:srgbClr val="028C59"/>
      </a:accent5>
      <a:accent6>
        <a:srgbClr val="55BD5A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</a:spPr>
      <a:bodyPr spcFirstLastPara="0" vert="horz" wrap="square" lIns="36000" tIns="36000" rIns="36000" bIns="36000" numCol="1" spcCol="1270" rtlCol="0" anchor="ctr" anchorCtr="0">
        <a:noAutofit/>
      </a:bodyPr>
      <a:lstStyle>
        <a:defPPr algn="ctr" defTabSz="666750">
          <a:lnSpc>
            <a:spcPct val="90000"/>
          </a:lnSpc>
          <a:spcBef>
            <a:spcPct val="0"/>
          </a:spcBef>
          <a:spcAft>
            <a:spcPct val="35000"/>
          </a:spcAft>
          <a:defRPr sz="1000" kern="1200" dirty="0" smtClean="0">
            <a:solidFill>
              <a:schemeClr val="tx1"/>
            </a:solidFill>
          </a:defRPr>
        </a:defPPr>
      </a:lstStyle>
      <a:style>
        <a:lnRef idx="0">
          <a:schemeClr val="lt1">
            <a:hueOff val="0"/>
            <a:satOff val="0"/>
            <a:lumOff val="0"/>
            <a:alphaOff val="0"/>
          </a:schemeClr>
        </a:lnRef>
        <a:fillRef idx="1">
          <a:schemeClr val="accent4">
            <a:hueOff val="0"/>
            <a:satOff val="0"/>
            <a:lumOff val="0"/>
            <a:alphaOff val="0"/>
          </a:schemeClr>
        </a:fillRef>
        <a:effectRef idx="0">
          <a:schemeClr val="accent4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88E4D010-1F27-4A82-8F74-3F1761496E3A}" vid="{82C91379-86C5-4FC2-B588-90C0BFC7AC0B}"/>
    </a:ext>
  </a:extLst>
</a:theme>
</file>

<file path=ppt/theme/theme2.xml><?xml version="1.0" encoding="utf-8"?>
<a:theme xmlns:a="http://schemas.openxmlformats.org/drawingml/2006/main" name="1_Enel Template v2.2">
  <a:themeElements>
    <a:clrScheme name="ENEL">
      <a:dk1>
        <a:sysClr val="windowText" lastClr="000000"/>
      </a:dk1>
      <a:lt1>
        <a:sysClr val="window" lastClr="FFFFFF"/>
      </a:lt1>
      <a:dk2>
        <a:srgbClr val="C6C6C6"/>
      </a:dk2>
      <a:lt2>
        <a:srgbClr val="EDEEE8"/>
      </a:lt2>
      <a:accent1>
        <a:srgbClr val="0655FA"/>
      </a:accent1>
      <a:accent2>
        <a:srgbClr val="40B9E6"/>
      </a:accent2>
      <a:accent3>
        <a:srgbClr val="E71401"/>
      </a:accent3>
      <a:accent4>
        <a:srgbClr val="FE0F64"/>
      </a:accent4>
      <a:accent5>
        <a:srgbClr val="028C59"/>
      </a:accent5>
      <a:accent6>
        <a:srgbClr val="55BD5A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36000" rIns="72000" bIns="36000"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88E4D010-1F27-4A82-8F74-3F1761496E3A}" vid="{18D66783-A63F-4EA3-9EB7-07C3A372964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AD0D5D769FB1F4C8C82693089BEBB8C" ma:contentTypeVersion="9" ma:contentTypeDescription="Creare un nuovo documento." ma:contentTypeScope="" ma:versionID="ff44f9b8e5d3da09289cf45e9632fac2">
  <xsd:schema xmlns:xsd="http://www.w3.org/2001/XMLSchema" xmlns:xs="http://www.w3.org/2001/XMLSchema" xmlns:p="http://schemas.microsoft.com/office/2006/metadata/properties" xmlns:ns2="e0291adc-2074-491e-a4e6-dd327137f4a4" targetNamespace="http://schemas.microsoft.com/office/2006/metadata/properties" ma:root="true" ma:fieldsID="e658bf84badca2c6b72ecb7bac72fa61" ns2:_="">
    <xsd:import namespace="e0291adc-2074-491e-a4e6-dd327137f4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291adc-2074-491e-a4e6-dd327137f4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7486B43F-386B-4964-8FF6-49BF86E062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3F1CF7-B101-4E22-8762-04A1B646117D}"/>
</file>

<file path=customXml/itemProps3.xml><?xml version="1.0" encoding="utf-8"?>
<ds:datastoreItem xmlns:ds="http://schemas.openxmlformats.org/officeDocument/2006/customXml" ds:itemID="{9AAD35B5-73F3-4DDF-8CDD-0F78E7E5AC9B}">
  <ds:schemaRefs>
    <ds:schemaRef ds:uri="fa08d7e0-1251-4dc7-87b9-13a3435fd2c9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d785b8fc-d22c-4ba9-b454-aea9cb9fa48f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Enel+PowerPoint+template_printfriendly_DR</Template>
  <TotalTime>0</TotalTime>
  <Words>426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Lucida Grande</vt:lpstr>
      <vt:lpstr>Enel+PowerPoint+template_printfriendly_DR</vt:lpstr>
      <vt:lpstr>1_Enel Template v2.2</vt:lpstr>
      <vt:lpstr>Diapositiva think-cell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System Integration</dc:title>
  <dc:creator/>
  <cp:lastModifiedBy/>
  <cp:revision>1</cp:revision>
  <cp:lastPrinted>2016-01-18T12:45:27Z</cp:lastPrinted>
  <dcterms:created xsi:type="dcterms:W3CDTF">2016-01-29T08:04:45Z</dcterms:created>
  <dcterms:modified xsi:type="dcterms:W3CDTF">2024-02-01T11:24:00Z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0x0101006AD0D5D769FB1F4C8C82693089BEBB8C</vt:lpwstr>
  </property>
  <property fmtid="{D5CDD505-2E9C-101B-9397-08002B2CF9AE}" pid="3" name="AuthorIds_UIVersion_512">
    <vt:lpwstr>213</vt:lpwstr>
  </property>
  <property fmtid="{D5CDD505-2E9C-101B-9397-08002B2CF9AE}" pid="4" name="MSIP_Label_797ad33d-ed35-43c0-b526-22bc83c17deb_Enabled">
    <vt:lpwstr>true</vt:lpwstr>
  </property>
  <property fmtid="{D5CDD505-2E9C-101B-9397-08002B2CF9AE}" pid="5" name="MSIP_Label_797ad33d-ed35-43c0-b526-22bc83c17deb_SetDate">
    <vt:lpwstr>2021-10-18T15:10:42Z</vt:lpwstr>
  </property>
  <property fmtid="{D5CDD505-2E9C-101B-9397-08002B2CF9AE}" pid="6" name="MSIP_Label_797ad33d-ed35-43c0-b526-22bc83c17deb_Method">
    <vt:lpwstr>Standard</vt:lpwstr>
  </property>
  <property fmtid="{D5CDD505-2E9C-101B-9397-08002B2CF9AE}" pid="7" name="MSIP_Label_797ad33d-ed35-43c0-b526-22bc83c17deb_Name">
    <vt:lpwstr>797ad33d-ed35-43c0-b526-22bc83c17deb</vt:lpwstr>
  </property>
  <property fmtid="{D5CDD505-2E9C-101B-9397-08002B2CF9AE}" pid="8" name="MSIP_Label_797ad33d-ed35-43c0-b526-22bc83c17deb_SiteId">
    <vt:lpwstr>d539d4bf-5610-471a-afc2-1c76685cfefa</vt:lpwstr>
  </property>
  <property fmtid="{D5CDD505-2E9C-101B-9397-08002B2CF9AE}" pid="9" name="MSIP_Label_797ad33d-ed35-43c0-b526-22bc83c17deb_ActionId">
    <vt:lpwstr>a294bb4b-1fa5-44f8-b2ef-6b0e7d501f3d</vt:lpwstr>
  </property>
  <property fmtid="{D5CDD505-2E9C-101B-9397-08002B2CF9AE}" pid="10" name="MSIP_Label_797ad33d-ed35-43c0-b526-22bc83c17deb_ContentBits">
    <vt:lpwstr>1</vt:lpwstr>
  </property>
</Properties>
</file>