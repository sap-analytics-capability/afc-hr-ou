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5"/>
    <p:sldMasterId id="2147483671" r:id="rId6"/>
  </p:sldMasterIdLst>
  <p:notesMasterIdLst>
    <p:notesMasterId r:id="rId26"/>
  </p:notesMasterIdLst>
  <p:handoutMasterIdLst>
    <p:handoutMasterId r:id="rId27"/>
  </p:handoutMasterIdLst>
  <p:sldIdLst>
    <p:sldId id="280" r:id="rId7"/>
    <p:sldId id="522" r:id="rId8"/>
    <p:sldId id="606" r:id="rId9"/>
    <p:sldId id="559" r:id="rId10"/>
    <p:sldId id="609" r:id="rId11"/>
    <p:sldId id="608" r:id="rId12"/>
    <p:sldId id="610" r:id="rId13"/>
    <p:sldId id="555" r:id="rId14"/>
    <p:sldId id="575" r:id="rId15"/>
    <p:sldId id="523" r:id="rId16"/>
    <p:sldId id="518" r:id="rId17"/>
    <p:sldId id="525" r:id="rId18"/>
    <p:sldId id="602" r:id="rId19"/>
    <p:sldId id="570" r:id="rId20"/>
    <p:sldId id="579" r:id="rId21"/>
    <p:sldId id="603" r:id="rId22"/>
    <p:sldId id="604" r:id="rId23"/>
    <p:sldId id="597" r:id="rId24"/>
    <p:sldId id="590" r:id="rId25"/>
  </p:sldIdLst>
  <p:sldSz cx="12192000" cy="6858000"/>
  <p:notesSz cx="6794500" cy="9906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3A032C5B-C48A-4256-8128-1A7E2FC663D3}">
          <p14:sldIdLst>
            <p14:sldId id="280"/>
            <p14:sldId id="522"/>
            <p14:sldId id="606"/>
            <p14:sldId id="559"/>
            <p14:sldId id="609"/>
            <p14:sldId id="608"/>
            <p14:sldId id="610"/>
            <p14:sldId id="555"/>
            <p14:sldId id="575"/>
            <p14:sldId id="523"/>
            <p14:sldId id="518"/>
            <p14:sldId id="525"/>
            <p14:sldId id="602"/>
            <p14:sldId id="570"/>
            <p14:sldId id="579"/>
            <p14:sldId id="603"/>
            <p14:sldId id="604"/>
            <p14:sldId id="597"/>
            <p14:sldId id="590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1728" userDrawn="1">
          <p15:clr>
            <a:srgbClr val="A4A3A4"/>
          </p15:clr>
        </p15:guide>
        <p15:guide id="4" orient="horz" pos="1298" userDrawn="1">
          <p15:clr>
            <a:srgbClr val="A4A3A4"/>
          </p15:clr>
        </p15:guide>
        <p15:guide id="5" orient="horz" pos="864" userDrawn="1">
          <p15:clr>
            <a:srgbClr val="A4A3A4"/>
          </p15:clr>
        </p15:guide>
        <p15:guide id="6" orient="horz" pos="434" userDrawn="1">
          <p15:clr>
            <a:srgbClr val="A4A3A4"/>
          </p15:clr>
        </p15:guide>
        <p15:guide id="7" orient="horz" pos="2614" userDrawn="1">
          <p15:clr>
            <a:srgbClr val="A4A3A4"/>
          </p15:clr>
        </p15:guide>
        <p15:guide id="8" orient="horz" pos="3022" userDrawn="1">
          <p15:clr>
            <a:srgbClr val="A4A3A4"/>
          </p15:clr>
        </p15:guide>
        <p15:guide id="9" orient="horz" pos="3453" userDrawn="1">
          <p15:clr>
            <a:srgbClr val="A4A3A4"/>
          </p15:clr>
        </p15:guide>
        <p15:guide id="10" orient="horz" pos="3884" userDrawn="1">
          <p15:clr>
            <a:srgbClr val="A4A3A4"/>
          </p15:clr>
        </p15:guide>
        <p15:guide id="11" pos="3341" userDrawn="1">
          <p15:clr>
            <a:srgbClr val="A4A3A4"/>
          </p15:clr>
        </p15:guide>
        <p15:guide id="12" pos="2887" userDrawn="1">
          <p15:clr>
            <a:srgbClr val="A4A3A4"/>
          </p15:clr>
        </p15:guide>
        <p15:guide id="13" pos="2389" userDrawn="1">
          <p15:clr>
            <a:srgbClr val="A4A3A4"/>
          </p15:clr>
        </p15:guide>
        <p15:guide id="14" pos="1912" userDrawn="1">
          <p15:clr>
            <a:srgbClr val="A4A3A4"/>
          </p15:clr>
        </p15:guide>
        <p15:guide id="15" pos="1436" userDrawn="1">
          <p15:clr>
            <a:srgbClr val="A4A3A4"/>
          </p15:clr>
        </p15:guide>
        <p15:guide id="16" pos="960" userDrawn="1">
          <p15:clr>
            <a:srgbClr val="A4A3A4"/>
          </p15:clr>
        </p15:guide>
        <p15:guide id="17" pos="461" userDrawn="1">
          <p15:clr>
            <a:srgbClr val="A4A3A4"/>
          </p15:clr>
        </p15:guide>
        <p15:guide id="18" pos="4320" userDrawn="1">
          <p15:clr>
            <a:srgbClr val="A4A3A4"/>
          </p15:clr>
        </p15:guide>
        <p15:guide id="19" pos="4793" userDrawn="1">
          <p15:clr>
            <a:srgbClr val="A4A3A4"/>
          </p15:clr>
        </p15:guide>
        <p15:guide id="20" pos="5269" userDrawn="1">
          <p15:clr>
            <a:srgbClr val="A4A3A4"/>
          </p15:clr>
        </p15:guide>
        <p15:guide id="21" pos="5756" userDrawn="1">
          <p15:clr>
            <a:srgbClr val="A4A3A4"/>
          </p15:clr>
        </p15:guide>
        <p15:guide id="22" pos="6236" userDrawn="1">
          <p15:clr>
            <a:srgbClr val="A4A3A4"/>
          </p15:clr>
        </p15:guide>
        <p15:guide id="23" pos="6718" userDrawn="1">
          <p15:clr>
            <a:srgbClr val="A4A3A4"/>
          </p15:clr>
        </p15:guide>
        <p15:guide id="24" pos="7198" userDrawn="1">
          <p15:clr>
            <a:srgbClr val="A4A3A4"/>
          </p15:clr>
        </p15:guide>
        <p15:guide id="25" orient="horz" pos="2137" userDrawn="1">
          <p15:clr>
            <a:srgbClr val="A4A3A4"/>
          </p15:clr>
        </p15:guide>
        <p15:guide id="26" orient="horz" pos="87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555FA"/>
    <a:srgbClr val="1F80F0"/>
    <a:srgbClr val="40BCEF"/>
    <a:srgbClr val="FF5A0E"/>
    <a:srgbClr val="28A35A"/>
    <a:srgbClr val="FF1B6C"/>
    <a:srgbClr val="36B25F"/>
    <a:srgbClr val="DEE9FE"/>
    <a:srgbClr val="00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5E4F2-F01E-4751-9F8F-45B12A3D0010}" v="10" dt="2024-07-02T16:59:39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9" autoAdjust="0"/>
    <p:restoredTop sz="65889" autoAdjust="0"/>
  </p:normalViewPr>
  <p:slideViewPr>
    <p:cSldViewPr snapToGrid="0" snapToObjects="1">
      <p:cViewPr varScale="1">
        <p:scale>
          <a:sx n="86" d="100"/>
          <a:sy n="86" d="100"/>
        </p:scale>
        <p:origin x="648" y="96"/>
      </p:cViewPr>
      <p:guideLst>
        <p:guide pos="3840"/>
        <p:guide orient="horz" pos="2160"/>
        <p:guide orient="horz" pos="1728"/>
        <p:guide orient="horz" pos="1298"/>
        <p:guide orient="horz" pos="864"/>
        <p:guide orient="horz" pos="434"/>
        <p:guide orient="horz" pos="2614"/>
        <p:guide orient="horz" pos="3022"/>
        <p:guide orient="horz" pos="3453"/>
        <p:guide orient="horz" pos="3884"/>
        <p:guide pos="3341"/>
        <p:guide pos="2887"/>
        <p:guide pos="2389"/>
        <p:guide pos="1912"/>
        <p:guide pos="1436"/>
        <p:guide pos="960"/>
        <p:guide pos="461"/>
        <p:guide pos="4320"/>
        <p:guide pos="4793"/>
        <p:guide pos="5269"/>
        <p:guide pos="5756"/>
        <p:guide pos="6236"/>
        <p:guide pos="6718"/>
        <p:guide pos="7198"/>
        <p:guide orient="horz" pos="2137"/>
        <p:guide orient="horz" pos="870"/>
      </p:guideLst>
    </p:cSldViewPr>
  </p:slideViewPr>
  <p:outlineViewPr>
    <p:cViewPr>
      <p:scale>
        <a:sx n="33" d="100"/>
        <a:sy n="33" d="100"/>
      </p:scale>
      <p:origin x="270" y="492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1F510-2865-AD40-B295-EFE53B47B615}" type="datetimeFigureOut">
              <a:rPr lang="en-US" smtClean="0"/>
              <a:pPr/>
              <a:t>7/2/2024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96FB-A7F6-4D46-979D-BE69A3DE08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753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A2DA8-FDC1-D147-9E87-8AE9AC161936}" type="datetimeFigureOut">
              <a:rPr lang="en-GB" smtClean="0"/>
              <a:pPr/>
              <a:t>02/07/2024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4B304-E99A-554B-A154-AA493B70D9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3023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4B304-E99A-554B-A154-AA493B70D9FA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3479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1" y="1723877"/>
            <a:ext cx="7616824" cy="1368425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2825" y="3429007"/>
            <a:ext cx="6109388" cy="276999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5519" y="3429007"/>
            <a:ext cx="1510613" cy="27699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1615349" y="-157777"/>
            <a:ext cx="691602" cy="2398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2" y="5638329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1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772211" y="6264005"/>
            <a:ext cx="1510613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82825" y="6264005"/>
            <a:ext cx="8381999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4825" y="6264005"/>
            <a:ext cx="762000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534496" y="1363678"/>
            <a:ext cx="6076985" cy="2054225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29" name="Rectangle 28"/>
          <p:cNvSpPr/>
          <p:nvPr userDrawn="1"/>
        </p:nvSpPr>
        <p:spPr>
          <a:xfrm rot="16200000">
            <a:off x="2879087" y="2344098"/>
            <a:ext cx="1098240" cy="3808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4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1999" y="2057399"/>
            <a:ext cx="5334001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2057399"/>
            <a:ext cx="5330825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7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057399"/>
            <a:ext cx="3554412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6413" y="2057399"/>
            <a:ext cx="3554411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7870824" y="2057400"/>
            <a:ext cx="3554411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9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spcAft>
                <a:spcPts val="1200"/>
              </a:spcAft>
              <a:defRPr sz="3800"/>
            </a:lvl1pPr>
            <a:lvl2pPr>
              <a:defRPr i="1"/>
            </a:lvl2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1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76431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6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80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BBC2FA9F-3F3F-4C7A-A70C-56D90B962855}" type="datetime1">
              <a:rPr lang="en-GB" smtClean="0"/>
              <a:pPr/>
              <a:t>02/07/2024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 dirty="0"/>
              <a:t>Enel Global ICT – Holding &amp; Global Service Function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  <p:pic>
        <p:nvPicPr>
          <p:cNvPr id="10" name="Picture 4" descr="BIP_LOGO_esecutivo CMYK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5917" y="6166934"/>
            <a:ext cx="622675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4"/>
          <p:cNvGrpSpPr/>
          <p:nvPr userDrawn="1"/>
        </p:nvGrpSpPr>
        <p:grpSpPr>
          <a:xfrm>
            <a:off x="-147208" y="97675"/>
            <a:ext cx="1944000" cy="232166"/>
            <a:chOff x="8526483" y="249383"/>
            <a:chExt cx="1944000" cy="232166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526483" y="285008"/>
              <a:ext cx="1944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Draft</a:t>
              </a:r>
              <a:r>
                <a:rPr lang="en-US" sz="1200" baseline="0" noProof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for discussion</a:t>
              </a:r>
              <a:endParaRPr lang="en-US" sz="1200" noProof="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3" name="Straight Connector 12"/>
            <p:cNvCxnSpPr/>
            <p:nvPr userDrawn="1"/>
          </p:nvCxnSpPr>
          <p:spPr>
            <a:xfrm>
              <a:off x="8763990" y="249383"/>
              <a:ext cx="144878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8763990" y="481549"/>
              <a:ext cx="144878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33616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1" y="1723877"/>
            <a:ext cx="7616824" cy="1368425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2825" y="3429007"/>
            <a:ext cx="6109388" cy="276999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5519" y="3429007"/>
            <a:ext cx="1510613" cy="27699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1615349" y="-157777"/>
            <a:ext cx="691602" cy="2398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2" y="5638329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8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43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772211" y="6264005"/>
            <a:ext cx="1510613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82825" y="6264005"/>
            <a:ext cx="8381999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4825" y="6264005"/>
            <a:ext cx="762000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534496" y="1363678"/>
            <a:ext cx="6076985" cy="2054225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29" name="Rectangle 28"/>
          <p:cNvSpPr/>
          <p:nvPr userDrawn="1"/>
        </p:nvSpPr>
        <p:spPr>
          <a:xfrm rot="16200000">
            <a:off x="2879087" y="2344098"/>
            <a:ext cx="1098240" cy="3808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87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1999" y="2057399"/>
            <a:ext cx="5334001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2057399"/>
            <a:ext cx="5330825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05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057399"/>
            <a:ext cx="3554412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6413" y="2057399"/>
            <a:ext cx="3554411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7870824" y="2057400"/>
            <a:ext cx="3554411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spcAft>
                <a:spcPts val="1200"/>
              </a:spcAft>
              <a:defRPr sz="3800"/>
            </a:lvl1pPr>
            <a:lvl2pPr>
              <a:defRPr i="1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88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58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33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ggetto 6" hidden="1"/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7824704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12" imgW="270" imgH="270" progId="TCLayout.ActiveDocument.1">
                  <p:embed/>
                </p:oleObj>
              </mc:Choice>
              <mc:Fallback>
                <p:oleObj name="Diapositiva think-cell" r:id="rId12" imgW="270" imgH="270" progId="TCLayout.ActiveDocument.1">
                  <p:embed/>
                  <p:pic>
                    <p:nvPicPr>
                      <p:cNvPr id="7" name="Oggetto 6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8375651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noProof="0"/>
              <a:t>Fare clic per modificare lo stile del titolo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055703"/>
            <a:ext cx="10664825" cy="4110147"/>
          </a:xfrm>
          <a:prstGeom prst="rect">
            <a:avLst/>
          </a:prstGeom>
        </p:spPr>
        <p:txBody>
          <a:bodyPr vert="horz" wrap="square" lIns="0" tIns="0" rIns="180000" bIns="0" rtlCol="0">
            <a:no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2211" y="6264005"/>
            <a:ext cx="1510613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noProof="0" dirty="0"/>
              <a:t>19/09/2016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825" y="6264005"/>
            <a:ext cx="8381999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noProof="0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4825" y="6264005"/>
            <a:ext cx="762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403225" y="688975"/>
            <a:ext cx="196850" cy="6826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65" r:id="rId3"/>
    <p:sldLayoutId id="2147483652" r:id="rId4"/>
    <p:sldLayoutId id="2147483657" r:id="rId5"/>
    <p:sldLayoutId id="2147483658" r:id="rId6"/>
    <p:sldLayoutId id="2147483654" r:id="rId7"/>
    <p:sldLayoutId id="2147483655" r:id="rId8"/>
    <p:sldLayoutId id="2147483698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None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80">
          <p15:clr>
            <a:srgbClr val="F26B43"/>
          </p15:clr>
        </p15:guide>
        <p15:guide id="4" pos="1920">
          <p15:clr>
            <a:srgbClr val="F26B43"/>
          </p15:clr>
        </p15:guide>
        <p15:guide id="5" pos="960">
          <p15:clr>
            <a:srgbClr val="F26B43"/>
          </p15:clr>
        </p15:guide>
        <p15:guide id="6" pos="1438">
          <p15:clr>
            <a:srgbClr val="F26B43"/>
          </p15:clr>
        </p15:guide>
        <p15:guide id="7" pos="2398">
          <p15:clr>
            <a:srgbClr val="F26B43"/>
          </p15:clr>
        </p15:guide>
        <p15:guide id="8" pos="2880">
          <p15:clr>
            <a:srgbClr val="F26B43"/>
          </p15:clr>
        </p15:guide>
        <p15:guide id="9" pos="3360">
          <p15:clr>
            <a:srgbClr val="F26B43"/>
          </p15:clr>
        </p15:guide>
        <p15:guide id="10" pos="4320">
          <p15:clr>
            <a:srgbClr val="F26B43"/>
          </p15:clr>
        </p15:guide>
        <p15:guide id="11" pos="4798">
          <p15:clr>
            <a:srgbClr val="F26B43"/>
          </p15:clr>
        </p15:guide>
        <p15:guide id="12" pos="5278">
          <p15:clr>
            <a:srgbClr val="F26B43"/>
          </p15:clr>
        </p15:guide>
        <p15:guide id="13" pos="5756">
          <p15:clr>
            <a:srgbClr val="F26B43"/>
          </p15:clr>
        </p15:guide>
        <p15:guide id="14" pos="6236">
          <p15:clr>
            <a:srgbClr val="F26B43"/>
          </p15:clr>
        </p15:guide>
        <p15:guide id="15" pos="6718">
          <p15:clr>
            <a:srgbClr val="F26B43"/>
          </p15:clr>
        </p15:guide>
        <p15:guide id="16" pos="7197">
          <p15:clr>
            <a:srgbClr val="F26B43"/>
          </p15:clr>
        </p15:guide>
        <p15:guide id="17" orient="horz" pos="1728">
          <p15:clr>
            <a:srgbClr val="F26B43"/>
          </p15:clr>
        </p15:guide>
        <p15:guide id="18" orient="horz" pos="1296">
          <p15:clr>
            <a:srgbClr val="F26B43"/>
          </p15:clr>
        </p15:guide>
        <p15:guide id="19" orient="horz" pos="864">
          <p15:clr>
            <a:srgbClr val="F26B43"/>
          </p15:clr>
        </p15:guide>
        <p15:guide id="20" orient="horz" pos="434">
          <p15:clr>
            <a:srgbClr val="F26B43"/>
          </p15:clr>
        </p15:guide>
        <p15:guide id="21" orient="horz" pos="2590">
          <p15:clr>
            <a:srgbClr val="F26B43"/>
          </p15:clr>
        </p15:guide>
        <p15:guide id="22" orient="horz" pos="3022">
          <p15:clr>
            <a:srgbClr val="F26B43"/>
          </p15:clr>
        </p15:guide>
        <p15:guide id="23" orient="horz" pos="3454">
          <p15:clr>
            <a:srgbClr val="F26B43"/>
          </p15:clr>
        </p15:guide>
        <p15:guide id="24" orient="horz" pos="38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8375651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055703"/>
            <a:ext cx="10664825" cy="4110147"/>
          </a:xfrm>
          <a:prstGeom prst="rect">
            <a:avLst/>
          </a:prstGeom>
        </p:spPr>
        <p:txBody>
          <a:bodyPr vert="horz" wrap="square" lIns="0" tIns="0" rIns="18000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2211" y="6264005"/>
            <a:ext cx="1510613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noProof="0" dirty="0"/>
              <a:t>19/09/2016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825" y="6264005"/>
            <a:ext cx="8381999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noProof="0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4825" y="6264005"/>
            <a:ext cx="762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403225" y="688975"/>
            <a:ext cx="196850" cy="6826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9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6" r:id="rId3"/>
    <p:sldLayoutId id="2147483681" r:id="rId4"/>
    <p:sldLayoutId id="2147483682" r:id="rId5"/>
    <p:sldLayoutId id="2147483683" r:id="rId6"/>
    <p:sldLayoutId id="2147483685" r:id="rId7"/>
    <p:sldLayoutId id="214748368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None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8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960" userDrawn="1">
          <p15:clr>
            <a:srgbClr val="F26B43"/>
          </p15:clr>
        </p15:guide>
        <p15:guide id="6" pos="1438" userDrawn="1">
          <p15:clr>
            <a:srgbClr val="F26B43"/>
          </p15:clr>
        </p15:guide>
        <p15:guide id="7" pos="2398" userDrawn="1">
          <p15:clr>
            <a:srgbClr val="F26B43"/>
          </p15:clr>
        </p15:guide>
        <p15:guide id="8" pos="2880" userDrawn="1">
          <p15:clr>
            <a:srgbClr val="F26B43"/>
          </p15:clr>
        </p15:guide>
        <p15:guide id="9" pos="3360" userDrawn="1">
          <p15:clr>
            <a:srgbClr val="F26B43"/>
          </p15:clr>
        </p15:guide>
        <p15:guide id="10" pos="4320" userDrawn="1">
          <p15:clr>
            <a:srgbClr val="F26B43"/>
          </p15:clr>
        </p15:guide>
        <p15:guide id="11" pos="4798" userDrawn="1">
          <p15:clr>
            <a:srgbClr val="F26B43"/>
          </p15:clr>
        </p15:guide>
        <p15:guide id="12" pos="5278" userDrawn="1">
          <p15:clr>
            <a:srgbClr val="F26B43"/>
          </p15:clr>
        </p15:guide>
        <p15:guide id="13" pos="5756" userDrawn="1">
          <p15:clr>
            <a:srgbClr val="F26B43"/>
          </p15:clr>
        </p15:guide>
        <p15:guide id="14" pos="6236" userDrawn="1">
          <p15:clr>
            <a:srgbClr val="F26B43"/>
          </p15:clr>
        </p15:guide>
        <p15:guide id="15" pos="6718" userDrawn="1">
          <p15:clr>
            <a:srgbClr val="F26B43"/>
          </p15:clr>
        </p15:guide>
        <p15:guide id="16" pos="7197" userDrawn="1">
          <p15:clr>
            <a:srgbClr val="F26B43"/>
          </p15:clr>
        </p15:guide>
        <p15:guide id="17" orient="horz" pos="1728" userDrawn="1">
          <p15:clr>
            <a:srgbClr val="F26B43"/>
          </p15:clr>
        </p15:guide>
        <p15:guide id="18" orient="horz" pos="1296" userDrawn="1">
          <p15:clr>
            <a:srgbClr val="F26B43"/>
          </p15:clr>
        </p15:guide>
        <p15:guide id="19" orient="horz" pos="864" userDrawn="1">
          <p15:clr>
            <a:srgbClr val="F26B43"/>
          </p15:clr>
        </p15:guide>
        <p15:guide id="20" orient="horz" pos="434" userDrawn="1">
          <p15:clr>
            <a:srgbClr val="F26B43"/>
          </p15:clr>
        </p15:guide>
        <p15:guide id="21" orient="horz" pos="2590" userDrawn="1">
          <p15:clr>
            <a:srgbClr val="F26B43"/>
          </p15:clr>
        </p15:guide>
        <p15:guide id="22" orient="horz" pos="3022" userDrawn="1">
          <p15:clr>
            <a:srgbClr val="F26B43"/>
          </p15:clr>
        </p15:guide>
        <p15:guide id="23" orient="horz" pos="3454" userDrawn="1">
          <p15:clr>
            <a:srgbClr val="F26B43"/>
          </p15:clr>
        </p15:guide>
        <p15:guide id="24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1" y="1723877"/>
            <a:ext cx="10158844" cy="1368425"/>
          </a:xfrm>
        </p:spPr>
        <p:txBody>
          <a:bodyPr/>
          <a:lstStyle/>
          <a:p>
            <a:r>
              <a:rPr lang="en-GB" dirty="0"/>
              <a:t>Room HR-AFC Integration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762001" y="3092302"/>
            <a:ext cx="652590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80531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Creazione</a:t>
            </a:r>
            <a:r>
              <a:rPr lang="en-US" dirty="0"/>
              <a:t> UO e </a:t>
            </a:r>
            <a:r>
              <a:rPr lang="en-US" dirty="0" err="1"/>
              <a:t>richiesta</a:t>
            </a:r>
            <a:r>
              <a:rPr lang="en-US" dirty="0"/>
              <a:t> CC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1904983" y="1776245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Creazione UO</a:t>
            </a:r>
          </a:p>
        </p:txBody>
      </p:sp>
      <p:sp>
        <p:nvSpPr>
          <p:cNvPr id="5" name="Rettangolo 4"/>
          <p:cNvSpPr/>
          <p:nvPr/>
        </p:nvSpPr>
        <p:spPr>
          <a:xfrm>
            <a:off x="2804220" y="2104591"/>
            <a:ext cx="748923" cy="2446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100" b="1" i="1" dirty="0">
                <a:solidFill>
                  <a:schemeClr val="accent3"/>
                </a:solidFill>
              </a:rPr>
              <a:t>HR ORG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642" y="1788004"/>
            <a:ext cx="266850" cy="334850"/>
          </a:xfrm>
          <a:prstGeom prst="rect">
            <a:avLst/>
          </a:prstGeom>
        </p:spPr>
      </p:pic>
      <p:cxnSp>
        <p:nvCxnSpPr>
          <p:cNvPr id="11" name="Connettore 2 10"/>
          <p:cNvCxnSpPr>
            <a:stCxn id="4" idx="2"/>
            <a:endCxn id="13" idx="0"/>
          </p:cNvCxnSpPr>
          <p:nvPr/>
        </p:nvCxnSpPr>
        <p:spPr>
          <a:xfrm flipH="1">
            <a:off x="2728288" y="2342916"/>
            <a:ext cx="943" cy="47424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tangolo arrotondato 12"/>
          <p:cNvSpPr/>
          <p:nvPr/>
        </p:nvSpPr>
        <p:spPr>
          <a:xfrm>
            <a:off x="1974874" y="2817158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kern="1200" dirty="0">
                <a:solidFill>
                  <a:schemeClr val="tx1"/>
                </a:solidFill>
              </a:rPr>
              <a:t>A valle dell’attivazione della UO su SAP HR global</a:t>
            </a:r>
          </a:p>
        </p:txBody>
      </p:sp>
      <p:sp>
        <p:nvSpPr>
          <p:cNvPr id="86" name="Rettangolo con angoli arrotondati in diagonale 85"/>
          <p:cNvSpPr/>
          <p:nvPr/>
        </p:nvSpPr>
        <p:spPr>
          <a:xfrm>
            <a:off x="10183091" y="1384396"/>
            <a:ext cx="1878792" cy="616414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Inserimento controllo coerenza società tra persona/unità – controllo inserito ma bonifica in corso in carico ad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hold</a:t>
            </a:r>
            <a:endParaRPr lang="it-IT" sz="1000" kern="1200" dirty="0">
              <a:solidFill>
                <a:schemeClr val="tx1"/>
              </a:solidFill>
            </a:endParaRPr>
          </a:p>
        </p:txBody>
      </p:sp>
      <p:sp>
        <p:nvSpPr>
          <p:cNvPr id="46" name="Rettangolo 45"/>
          <p:cNvSpPr/>
          <p:nvPr/>
        </p:nvSpPr>
        <p:spPr>
          <a:xfrm>
            <a:off x="8171940" y="3333122"/>
            <a:ext cx="723275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59" name="Rettangolo 58"/>
          <p:cNvSpPr/>
          <p:nvPr/>
        </p:nvSpPr>
        <p:spPr>
          <a:xfrm>
            <a:off x="2716494" y="2629161"/>
            <a:ext cx="79380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sp>
        <p:nvSpPr>
          <p:cNvPr id="65" name="Ovale 64"/>
          <p:cNvSpPr/>
          <p:nvPr/>
        </p:nvSpPr>
        <p:spPr>
          <a:xfrm>
            <a:off x="8533578" y="4653004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Determinazione / Recupero CC tipo/reale</a:t>
            </a:r>
          </a:p>
        </p:txBody>
      </p:sp>
      <p:sp>
        <p:nvSpPr>
          <p:cNvPr id="74" name="Rettangolo 73"/>
          <p:cNvSpPr/>
          <p:nvPr/>
        </p:nvSpPr>
        <p:spPr>
          <a:xfrm>
            <a:off x="2950980" y="3611196"/>
            <a:ext cx="79380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sp>
        <p:nvSpPr>
          <p:cNvPr id="92" name="Rettangolo 91"/>
          <p:cNvSpPr/>
          <p:nvPr/>
        </p:nvSpPr>
        <p:spPr>
          <a:xfrm>
            <a:off x="9347370" y="4451006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36" name="Ovale 35"/>
          <p:cNvSpPr/>
          <p:nvPr/>
        </p:nvSpPr>
        <p:spPr>
          <a:xfrm>
            <a:off x="5444670" y="4649981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Generazione dei case</a:t>
            </a:r>
          </a:p>
        </p:txBody>
      </p:sp>
      <p:cxnSp>
        <p:nvCxnSpPr>
          <p:cNvPr id="54" name="Connettore 2 53"/>
          <p:cNvCxnSpPr>
            <a:stCxn id="65" idx="2"/>
            <a:endCxn id="36" idx="6"/>
          </p:cNvCxnSpPr>
          <p:nvPr/>
        </p:nvCxnSpPr>
        <p:spPr>
          <a:xfrm flipH="1" flipV="1">
            <a:off x="6951498" y="4957200"/>
            <a:ext cx="1582080" cy="302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233"/>
          <p:cNvCxnSpPr>
            <a:stCxn id="35" idx="3"/>
            <a:endCxn id="65" idx="0"/>
          </p:cNvCxnSpPr>
          <p:nvPr/>
        </p:nvCxnSpPr>
        <p:spPr>
          <a:xfrm>
            <a:off x="6561922" y="3869587"/>
            <a:ext cx="2725070" cy="78341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tangolo 56"/>
          <p:cNvSpPr/>
          <p:nvPr/>
        </p:nvSpPr>
        <p:spPr>
          <a:xfrm>
            <a:off x="6454210" y="4510452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32" name="Callout 5 31"/>
          <p:cNvSpPr/>
          <p:nvPr/>
        </p:nvSpPr>
        <p:spPr>
          <a:xfrm>
            <a:off x="4340421" y="1366652"/>
            <a:ext cx="5699985" cy="1159044"/>
          </a:xfrm>
          <a:prstGeom prst="accentCallout1">
            <a:avLst>
              <a:gd name="adj1" fmla="val 18750"/>
              <a:gd name="adj2" fmla="val -8333"/>
              <a:gd name="adj3" fmla="val 54077"/>
              <a:gd name="adj4" fmla="val -1282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UO con HC=0 </a:t>
            </a:r>
            <a:r>
              <a:rPr lang="it-IT" sz="1000" b="1" u="sng" dirty="0">
                <a:solidFill>
                  <a:schemeClr val="tx1"/>
                </a:solidFill>
              </a:rPr>
              <a:t>dovranno</a:t>
            </a:r>
            <a:r>
              <a:rPr lang="it-IT" sz="1000" dirty="0">
                <a:solidFill>
                  <a:schemeClr val="tx1"/>
                </a:solidFill>
              </a:rPr>
              <a:t> essere prese in considerazione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Esecuzione/Estrazione report (2/3 volte/mese) per gestione UO </a:t>
            </a:r>
            <a:r>
              <a:rPr lang="it-IT" sz="1000" dirty="0">
                <a:solidFill>
                  <a:schemeClr val="tx1"/>
                </a:solidFill>
                <a:sym typeface="Wingdings" panose="05000000000000000000" pitchFamily="2" charset="2"/>
              </a:rPr>
              <a:t> Servizio e-API (S.NOW)</a:t>
            </a:r>
            <a:endParaRPr lang="it-IT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Data limite per associazione UO-CC: </a:t>
            </a:r>
            <a:r>
              <a:rPr lang="it-IT" sz="1000" b="1" u="sng" dirty="0">
                <a:solidFill>
                  <a:schemeClr val="tx1"/>
                </a:solidFill>
              </a:rPr>
              <a:t>27 del mese</a:t>
            </a:r>
            <a:r>
              <a:rPr lang="it-IT" sz="1000" dirty="0">
                <a:solidFill>
                  <a:schemeClr val="tx1"/>
                </a:solidFill>
              </a:rPr>
              <a:t> (su S.NOW)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Che tipo di UO richiedono un CC? Tutte tranne le gestionali (devono rimanere col </a:t>
            </a:r>
            <a:r>
              <a:rPr lang="it-IT" sz="1000" dirty="0" err="1">
                <a:solidFill>
                  <a:schemeClr val="tx1"/>
                </a:solidFill>
              </a:rPr>
              <a:t>dummy</a:t>
            </a:r>
            <a:r>
              <a:rPr lang="it-IT" sz="1000" dirty="0">
                <a:solidFill>
                  <a:schemeClr val="tx1"/>
                </a:solidFill>
              </a:rPr>
              <a:t> ma non devono essere riproposte)</a:t>
            </a:r>
          </a:p>
        </p:txBody>
      </p:sp>
      <p:cxnSp>
        <p:nvCxnSpPr>
          <p:cNvPr id="31" name="Connettore 2 233"/>
          <p:cNvCxnSpPr>
            <a:stCxn id="13" idx="2"/>
            <a:endCxn id="35" idx="1"/>
          </p:cNvCxnSpPr>
          <p:nvPr/>
        </p:nvCxnSpPr>
        <p:spPr>
          <a:xfrm rot="16200000" flipH="1">
            <a:off x="3672696" y="2487188"/>
            <a:ext cx="437991" cy="2326806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tangolo arrotondato 34"/>
          <p:cNvSpPr/>
          <p:nvPr/>
        </p:nvSpPr>
        <p:spPr>
          <a:xfrm>
            <a:off x="5055094" y="3562368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kern="1200" dirty="0">
                <a:solidFill>
                  <a:schemeClr val="tx1"/>
                </a:solidFill>
              </a:rPr>
              <a:t>BW4Hana che invoca, tramite e-API, la lista delle UO senza CC da SAP</a:t>
            </a:r>
          </a:p>
        </p:txBody>
      </p:sp>
      <p:sp>
        <p:nvSpPr>
          <p:cNvPr id="24" name="Callout 5 23"/>
          <p:cNvSpPr/>
          <p:nvPr/>
        </p:nvSpPr>
        <p:spPr>
          <a:xfrm>
            <a:off x="8707788" y="5557461"/>
            <a:ext cx="2725713" cy="935808"/>
          </a:xfrm>
          <a:prstGeom prst="accentCallout1">
            <a:avLst>
              <a:gd name="adj1" fmla="val 18750"/>
              <a:gd name="adj2" fmla="val -8333"/>
              <a:gd name="adj3" fmla="val -28477"/>
              <a:gd name="adj4" fmla="val 66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dirty="0">
                <a:solidFill>
                  <a:schemeClr val="tx1"/>
                </a:solidFill>
              </a:rPr>
              <a:t>In base al catalogo del perimetro di consolidamento/matrice di compatibilità occorre recuperare i CC esistente e determinare i restanti CC compatibili se sono presenti altre compatibilità</a:t>
            </a:r>
          </a:p>
        </p:txBody>
      </p:sp>
      <p:sp>
        <p:nvSpPr>
          <p:cNvPr id="25" name="Callout 5 24"/>
          <p:cNvSpPr/>
          <p:nvPr/>
        </p:nvSpPr>
        <p:spPr>
          <a:xfrm>
            <a:off x="5119961" y="5696646"/>
            <a:ext cx="2411909" cy="582085"/>
          </a:xfrm>
          <a:prstGeom prst="accentCallout1">
            <a:avLst>
              <a:gd name="adj1" fmla="val 18750"/>
              <a:gd name="adj2" fmla="val -8333"/>
              <a:gd name="adj3" fmla="val -90780"/>
              <a:gd name="adj4" fmla="val 1754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dirty="0">
                <a:solidFill>
                  <a:schemeClr val="tx1"/>
                </a:solidFill>
              </a:rPr>
              <a:t>Per ogni UO è necessario aprire un case/</a:t>
            </a:r>
            <a:r>
              <a:rPr lang="it-IT" sz="1000" dirty="0" err="1">
                <a:solidFill>
                  <a:schemeClr val="tx1"/>
                </a:solidFill>
              </a:rPr>
              <a:t>tk</a:t>
            </a:r>
            <a:r>
              <a:rPr lang="it-IT" sz="1000" dirty="0">
                <a:solidFill>
                  <a:schemeClr val="tx1"/>
                </a:solidFill>
              </a:rPr>
              <a:t> per assegnare la lavorazione al controller </a:t>
            </a:r>
            <a:r>
              <a:rPr lang="it-IT" sz="1000" dirty="0" err="1">
                <a:solidFill>
                  <a:schemeClr val="tx1"/>
                </a:solidFill>
              </a:rPr>
              <a:t>local</a:t>
            </a:r>
            <a:r>
              <a:rPr lang="it-IT" sz="1000" dirty="0">
                <a:solidFill>
                  <a:schemeClr val="tx1"/>
                </a:solidFill>
              </a:rPr>
              <a:t> per l’aggancio UO-CC</a:t>
            </a:r>
          </a:p>
        </p:txBody>
      </p:sp>
      <p:cxnSp>
        <p:nvCxnSpPr>
          <p:cNvPr id="26" name="Connettore 2 25"/>
          <p:cNvCxnSpPr>
            <a:stCxn id="36" idx="2"/>
          </p:cNvCxnSpPr>
          <p:nvPr/>
        </p:nvCxnSpPr>
        <p:spPr>
          <a:xfrm flipH="1">
            <a:off x="4665518" y="4957200"/>
            <a:ext cx="779152" cy="302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llout 5 28"/>
          <p:cNvSpPr/>
          <p:nvPr/>
        </p:nvSpPr>
        <p:spPr>
          <a:xfrm>
            <a:off x="9864656" y="3334375"/>
            <a:ext cx="2196219" cy="956030"/>
          </a:xfrm>
          <a:prstGeom prst="accentCallout1">
            <a:avLst>
              <a:gd name="adj1" fmla="val 18750"/>
              <a:gd name="adj2" fmla="val -8333"/>
              <a:gd name="adj3" fmla="val 128104"/>
              <a:gd name="adj4" fmla="val -2172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dirty="0">
                <a:solidFill>
                  <a:schemeClr val="tx1"/>
                </a:solidFill>
              </a:rPr>
              <a:t>Per le UO su società che non hanno un SAP AFC occorre generare un CC fittizio secondo la compatibilità (recuperata dal perimetro di consolidamento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-15021" y="5780187"/>
            <a:ext cx="8979506" cy="1082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¹Cruscotto permette di visualizzare: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con i relativi attributi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che hanno un CC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Dummy</a:t>
            </a:r>
            <a:endParaRPr lang="it-IT" sz="9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avuto una modifica degli attributi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ricevuto un KO di incompatibilità attività/BSER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bidone collegato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fittizio</a:t>
            </a:r>
          </a:p>
        </p:txBody>
      </p:sp>
      <p:sp>
        <p:nvSpPr>
          <p:cNvPr id="28" name="Rettangolo con angoli ritagliati in diagonale 27"/>
          <p:cNvSpPr/>
          <p:nvPr/>
        </p:nvSpPr>
        <p:spPr>
          <a:xfrm>
            <a:off x="163957" y="1823974"/>
            <a:ext cx="1584747" cy="1212609"/>
          </a:xfrm>
          <a:prstGeom prst="snip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Le UO dell’ex-perimetro Endesa possono essere create solo se presente il CC.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Pertanto all’atto della creazione della UO verrà agganciato un CC di tipo «DUMMY»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34" name="Rettangolo con angoli arrotondati in diagonale 33"/>
          <p:cNvSpPr/>
          <p:nvPr/>
        </p:nvSpPr>
        <p:spPr>
          <a:xfrm>
            <a:off x="10100784" y="4653004"/>
            <a:ext cx="1878792" cy="616414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b="1" dirty="0">
                <a:solidFill>
                  <a:schemeClr val="tx1"/>
                </a:solidFill>
              </a:rPr>
              <a:t>Determinazione giornaliera dei CC</a:t>
            </a:r>
            <a:endParaRPr lang="it-IT" sz="1000" b="1" kern="1200" dirty="0">
              <a:solidFill>
                <a:schemeClr val="tx1"/>
              </a:solidFill>
            </a:endParaRPr>
          </a:p>
        </p:txBody>
      </p:sp>
      <p:sp>
        <p:nvSpPr>
          <p:cNvPr id="40" name="Callout 5 39"/>
          <p:cNvSpPr/>
          <p:nvPr/>
        </p:nvSpPr>
        <p:spPr>
          <a:xfrm rot="5400000">
            <a:off x="413024" y="3556179"/>
            <a:ext cx="1419281" cy="1704418"/>
          </a:xfrm>
          <a:prstGeom prst="accentCallout1">
            <a:avLst>
              <a:gd name="adj1" fmla="val 18750"/>
              <a:gd name="adj2" fmla="val -8333"/>
              <a:gd name="adj3" fmla="val 43235"/>
              <a:gd name="adj4" fmla="val -380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b="1" u="sng" dirty="0">
                <a:solidFill>
                  <a:schemeClr val="tx1"/>
                </a:solidFill>
              </a:rPr>
              <a:t>DUMMY:</a:t>
            </a:r>
          </a:p>
          <a:p>
            <a:pPr marL="171450" indent="-171450">
              <a:buFontTx/>
              <a:buChar char="-"/>
            </a:pPr>
            <a:r>
              <a:rPr lang="it-IT" sz="1000" dirty="0">
                <a:solidFill>
                  <a:schemeClr val="tx1"/>
                </a:solidFill>
              </a:rPr>
              <a:t>Possibilità di legarlo ad un attributo per identificarlo </a:t>
            </a:r>
            <a:r>
              <a:rPr lang="it-IT" sz="1000" dirty="0" err="1">
                <a:solidFill>
                  <a:schemeClr val="tx1"/>
                </a:solidFill>
              </a:rPr>
              <a:t>informaticamente</a:t>
            </a:r>
            <a:r>
              <a:rPr lang="it-IT" sz="1000" dirty="0">
                <a:solidFill>
                  <a:schemeClr val="tx1"/>
                </a:solidFill>
              </a:rPr>
              <a:t> (tabella ZHR Company=?)</a:t>
            </a:r>
          </a:p>
          <a:p>
            <a:pPr marL="171450" indent="-171450">
              <a:buFontTx/>
              <a:buChar char="-"/>
            </a:pPr>
            <a:r>
              <a:rPr lang="it-IT" sz="1000" dirty="0">
                <a:solidFill>
                  <a:schemeClr val="tx1"/>
                </a:solidFill>
              </a:rPr>
              <a:t>Sarà proposto da S.NOW quando arriva «KO» da BW4Hana</a:t>
            </a:r>
          </a:p>
        </p:txBody>
      </p:sp>
    </p:spTree>
    <p:extLst>
      <p:ext uri="{BB962C8B-B14F-4D97-AF65-F5344CB8AC3E}">
        <p14:creationId xmlns:p14="http://schemas.microsoft.com/office/powerpoint/2010/main" val="320906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ggetto 3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28617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34" name="Oggetto 3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Ovale 70"/>
          <p:cNvSpPr/>
          <p:nvPr/>
        </p:nvSpPr>
        <p:spPr>
          <a:xfrm>
            <a:off x="143302" y="1710471"/>
            <a:ext cx="1621446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Determinazione / Recupero CC tipo</a:t>
            </a:r>
          </a:p>
        </p:txBody>
      </p:sp>
      <p:sp>
        <p:nvSpPr>
          <p:cNvPr id="72" name="Rettangolo 71"/>
          <p:cNvSpPr/>
          <p:nvPr/>
        </p:nvSpPr>
        <p:spPr>
          <a:xfrm>
            <a:off x="-56429" y="6536683"/>
            <a:ext cx="11324625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*verifica se si tratta di società in cui ci sono attività sia perimetro Italy che Global. Società ITA/GLO: EGP, Enel Italia, Enel Produzione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** PA=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Activity; NPA=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Activity</a:t>
            </a:r>
          </a:p>
        </p:txBody>
      </p:sp>
      <p:sp>
        <p:nvSpPr>
          <p:cNvPr id="50" name="Rettangolo 49"/>
          <p:cNvSpPr/>
          <p:nvPr/>
        </p:nvSpPr>
        <p:spPr>
          <a:xfrm>
            <a:off x="1047551" y="1543113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138" name="Decisione 137"/>
          <p:cNvSpPr/>
          <p:nvPr/>
        </p:nvSpPr>
        <p:spPr>
          <a:xfrm>
            <a:off x="229601" y="4028929"/>
            <a:ext cx="1448849" cy="98109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Se la società UO è una delle 3 ITA-GLO*</a:t>
            </a:r>
          </a:p>
        </p:txBody>
      </p:sp>
      <p:cxnSp>
        <p:nvCxnSpPr>
          <p:cNvPr id="161" name="Connettore 2 160"/>
          <p:cNvCxnSpPr>
            <a:stCxn id="71" idx="4"/>
            <a:endCxn id="134" idx="0"/>
          </p:cNvCxnSpPr>
          <p:nvPr/>
        </p:nvCxnSpPr>
        <p:spPr>
          <a:xfrm>
            <a:off x="954025" y="2324909"/>
            <a:ext cx="0" cy="47031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ttore 2 190"/>
          <p:cNvCxnSpPr>
            <a:stCxn id="138" idx="2"/>
            <a:endCxn id="56" idx="1"/>
          </p:cNvCxnSpPr>
          <p:nvPr/>
        </p:nvCxnSpPr>
        <p:spPr>
          <a:xfrm rot="16200000" flipH="1">
            <a:off x="3143722" y="2820331"/>
            <a:ext cx="1047582" cy="5426975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ttangolo arrotondato 133"/>
          <p:cNvSpPr/>
          <p:nvPr/>
        </p:nvSpPr>
        <p:spPr>
          <a:xfrm>
            <a:off x="203519" y="2795221"/>
            <a:ext cx="1501012" cy="508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b="1" dirty="0">
                <a:solidFill>
                  <a:schemeClr val="accent1">
                    <a:lumMod val="50000"/>
                  </a:schemeClr>
                </a:solidFill>
              </a:rPr>
              <a:t>Definizione Perimetro/Società CC</a:t>
            </a:r>
          </a:p>
        </p:txBody>
      </p:sp>
      <p:sp>
        <p:nvSpPr>
          <p:cNvPr id="88" name="Titolo 1"/>
          <p:cNvSpPr txBox="1">
            <a:spLocks/>
          </p:cNvSpPr>
          <p:nvPr/>
        </p:nvSpPr>
        <p:spPr>
          <a:xfrm>
            <a:off x="756699" y="216735"/>
            <a:ext cx="1093799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Determinazione / Recupero CC tipo/reale </a:t>
            </a:r>
            <a:r>
              <a:rPr lang="en-US" dirty="0"/>
              <a:t>– </a:t>
            </a:r>
            <a:r>
              <a:rPr lang="en-US" dirty="0" err="1"/>
              <a:t>dettaglio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1/6</a:t>
            </a:r>
          </a:p>
          <a:p>
            <a:r>
              <a:rPr lang="en-US" sz="2000" dirty="0" err="1"/>
              <a:t>Determinazione</a:t>
            </a:r>
            <a:r>
              <a:rPr lang="en-US" sz="2000" dirty="0"/>
              <a:t> </a:t>
            </a:r>
            <a:r>
              <a:rPr lang="en-US" sz="2000" dirty="0" err="1"/>
              <a:t>società</a:t>
            </a:r>
            <a:r>
              <a:rPr lang="en-US" sz="2000" dirty="0"/>
              <a:t> del Centro di </a:t>
            </a:r>
            <a:r>
              <a:rPr lang="en-US" sz="2000" dirty="0" err="1"/>
              <a:t>costo</a:t>
            </a:r>
            <a:endParaRPr lang="en-US" sz="2000" dirty="0"/>
          </a:p>
        </p:txBody>
      </p:sp>
      <p:sp>
        <p:nvSpPr>
          <p:cNvPr id="33" name="Callout 5 32"/>
          <p:cNvSpPr/>
          <p:nvPr/>
        </p:nvSpPr>
        <p:spPr>
          <a:xfrm>
            <a:off x="1393353" y="1022032"/>
            <a:ext cx="1305007" cy="506159"/>
          </a:xfrm>
          <a:prstGeom prst="accentCallout1">
            <a:avLst>
              <a:gd name="adj1" fmla="val 18750"/>
              <a:gd name="adj2" fmla="val -8333"/>
              <a:gd name="adj3" fmla="val 61069"/>
              <a:gd name="adj4" fmla="val -2809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Centri di Costo attivi al momento</a:t>
            </a:r>
          </a:p>
        </p:txBody>
      </p:sp>
      <p:cxnSp>
        <p:nvCxnSpPr>
          <p:cNvPr id="51" name="Connettore 2 50"/>
          <p:cNvCxnSpPr>
            <a:stCxn id="134" idx="2"/>
            <a:endCxn id="138" idx="0"/>
          </p:cNvCxnSpPr>
          <p:nvPr/>
        </p:nvCxnSpPr>
        <p:spPr>
          <a:xfrm>
            <a:off x="954025" y="3303507"/>
            <a:ext cx="1" cy="72542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tangolo arrotondato 55"/>
          <p:cNvSpPr/>
          <p:nvPr/>
        </p:nvSpPr>
        <p:spPr>
          <a:xfrm>
            <a:off x="6381001" y="5874635"/>
            <a:ext cx="1923118" cy="3659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Società = Società UO</a:t>
            </a:r>
          </a:p>
        </p:txBody>
      </p:sp>
      <p:sp>
        <p:nvSpPr>
          <p:cNvPr id="57" name="Rettangolo 56"/>
          <p:cNvSpPr/>
          <p:nvPr/>
        </p:nvSpPr>
        <p:spPr>
          <a:xfrm>
            <a:off x="579725" y="4986099"/>
            <a:ext cx="35779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NO</a:t>
            </a:r>
          </a:p>
        </p:txBody>
      </p:sp>
      <p:sp>
        <p:nvSpPr>
          <p:cNvPr id="63" name="Rettangolo 62"/>
          <p:cNvSpPr/>
          <p:nvPr/>
        </p:nvSpPr>
        <p:spPr>
          <a:xfrm>
            <a:off x="1672343" y="4250301"/>
            <a:ext cx="29367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SI</a:t>
            </a:r>
          </a:p>
        </p:txBody>
      </p:sp>
      <p:sp>
        <p:nvSpPr>
          <p:cNvPr id="65" name="Decisione 64"/>
          <p:cNvSpPr/>
          <p:nvPr/>
        </p:nvSpPr>
        <p:spPr>
          <a:xfrm>
            <a:off x="2714471" y="3975054"/>
            <a:ext cx="2253140" cy="108884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Perimetro UO &lt;&gt; IT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ACT &lt;&gt; GDS</a:t>
            </a:r>
          </a:p>
        </p:txBody>
      </p:sp>
      <p:sp>
        <p:nvSpPr>
          <p:cNvPr id="132" name="Rettangolo 131"/>
          <p:cNvSpPr/>
          <p:nvPr/>
        </p:nvSpPr>
        <p:spPr>
          <a:xfrm>
            <a:off x="3511233" y="3704863"/>
            <a:ext cx="29367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SI</a:t>
            </a:r>
          </a:p>
        </p:txBody>
      </p:sp>
      <p:cxnSp>
        <p:nvCxnSpPr>
          <p:cNvPr id="46" name="Connettore 2 45"/>
          <p:cNvCxnSpPr>
            <a:endCxn id="71" idx="0"/>
          </p:cNvCxnSpPr>
          <p:nvPr/>
        </p:nvCxnSpPr>
        <p:spPr>
          <a:xfrm flipH="1">
            <a:off x="954025" y="1225677"/>
            <a:ext cx="758" cy="484794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Decisione 117"/>
          <p:cNvSpPr/>
          <p:nvPr/>
        </p:nvSpPr>
        <p:spPr>
          <a:xfrm>
            <a:off x="9235454" y="2860539"/>
            <a:ext cx="2247241" cy="139798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kern="1200" dirty="0">
                <a:solidFill>
                  <a:schemeClr val="accent1">
                    <a:lumMod val="50000"/>
                  </a:schemeClr>
                </a:solidFill>
              </a:rPr>
              <a:t>Verificare se UO è:</a:t>
            </a:r>
          </a:p>
          <a:p>
            <a:pPr marL="228600" indent="-228600" defTabSz="666750"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Business Line</a:t>
            </a:r>
          </a:p>
          <a:p>
            <a:pPr marL="228600" indent="-228600" defTabSz="666750"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Staff</a:t>
            </a:r>
          </a:p>
          <a:p>
            <a:pPr marL="228600" indent="-228600" defTabSz="666750"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Services</a:t>
            </a:r>
          </a:p>
        </p:txBody>
      </p:sp>
      <p:sp>
        <p:nvSpPr>
          <p:cNvPr id="119" name="Rettangolo arrotondato 118"/>
          <p:cNvSpPr/>
          <p:nvPr/>
        </p:nvSpPr>
        <p:spPr>
          <a:xfrm>
            <a:off x="9786087" y="1787443"/>
            <a:ext cx="1148400" cy="309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Business Line</a:t>
            </a:r>
          </a:p>
        </p:txBody>
      </p:sp>
      <p:sp>
        <p:nvSpPr>
          <p:cNvPr id="122" name="Rettangolo arrotondato 121"/>
          <p:cNvSpPr/>
          <p:nvPr/>
        </p:nvSpPr>
        <p:spPr>
          <a:xfrm>
            <a:off x="9202427" y="5805140"/>
            <a:ext cx="1148400" cy="309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Staff</a:t>
            </a:r>
          </a:p>
        </p:txBody>
      </p:sp>
      <p:sp>
        <p:nvSpPr>
          <p:cNvPr id="61" name="Decisione 60"/>
          <p:cNvSpPr/>
          <p:nvPr/>
        </p:nvSpPr>
        <p:spPr>
          <a:xfrm>
            <a:off x="2552672" y="2120923"/>
            <a:ext cx="2576739" cy="1000156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Società = Enel Italia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PA/NPA** &lt;&gt; </a:t>
            </a:r>
            <a:r>
              <a:rPr lang="it-IT" sz="900" dirty="0" err="1">
                <a:solidFill>
                  <a:schemeClr val="tx1"/>
                </a:solidFill>
              </a:rPr>
              <a:t>Procurement</a:t>
            </a:r>
            <a:endParaRPr lang="it-IT" sz="900" dirty="0">
              <a:solidFill>
                <a:schemeClr val="tx1"/>
              </a:solidFill>
            </a:endParaRPr>
          </a:p>
        </p:txBody>
      </p:sp>
      <p:cxnSp>
        <p:nvCxnSpPr>
          <p:cNvPr id="75" name="Connettore 2 190"/>
          <p:cNvCxnSpPr>
            <a:stCxn id="61" idx="0"/>
            <a:endCxn id="90" idx="1"/>
          </p:cNvCxnSpPr>
          <p:nvPr/>
        </p:nvCxnSpPr>
        <p:spPr>
          <a:xfrm rot="5400000" flipH="1" flipV="1">
            <a:off x="5196458" y="340325"/>
            <a:ext cx="425183" cy="3136015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ttangolo 75"/>
          <p:cNvSpPr/>
          <p:nvPr/>
        </p:nvSpPr>
        <p:spPr>
          <a:xfrm>
            <a:off x="3479173" y="1854792"/>
            <a:ext cx="35779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NO</a:t>
            </a:r>
          </a:p>
        </p:txBody>
      </p:sp>
      <p:sp>
        <p:nvSpPr>
          <p:cNvPr id="77" name="Rettangolo 76"/>
          <p:cNvSpPr/>
          <p:nvPr/>
        </p:nvSpPr>
        <p:spPr>
          <a:xfrm>
            <a:off x="5087625" y="2401689"/>
            <a:ext cx="29367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SI</a:t>
            </a:r>
          </a:p>
        </p:txBody>
      </p:sp>
      <p:sp>
        <p:nvSpPr>
          <p:cNvPr id="90" name="Rettangolo arrotondato 89"/>
          <p:cNvSpPr/>
          <p:nvPr/>
        </p:nvSpPr>
        <p:spPr>
          <a:xfrm>
            <a:off x="6977057" y="1431505"/>
            <a:ext cx="1327062" cy="5284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Società = </a:t>
            </a:r>
            <a:r>
              <a:rPr lang="it-IT" sz="1000" dirty="0" err="1">
                <a:solidFill>
                  <a:schemeClr val="tx1"/>
                </a:solidFill>
              </a:rPr>
              <a:t>SocietàUO_GLO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Perimetro = Central</a:t>
            </a:r>
          </a:p>
        </p:txBody>
      </p:sp>
      <p:cxnSp>
        <p:nvCxnSpPr>
          <p:cNvPr id="128" name="Connettore 2 190"/>
          <p:cNvCxnSpPr>
            <a:stCxn id="65" idx="3"/>
            <a:endCxn id="146" idx="2"/>
          </p:cNvCxnSpPr>
          <p:nvPr/>
        </p:nvCxnSpPr>
        <p:spPr>
          <a:xfrm flipV="1">
            <a:off x="4967611" y="3823768"/>
            <a:ext cx="2672977" cy="695711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ttangolo 129"/>
          <p:cNvSpPr/>
          <p:nvPr/>
        </p:nvSpPr>
        <p:spPr>
          <a:xfrm>
            <a:off x="4946509" y="4568224"/>
            <a:ext cx="35779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NO</a:t>
            </a:r>
          </a:p>
        </p:txBody>
      </p:sp>
      <p:sp>
        <p:nvSpPr>
          <p:cNvPr id="146" name="Rettangolo arrotondato 145"/>
          <p:cNvSpPr/>
          <p:nvPr/>
        </p:nvSpPr>
        <p:spPr>
          <a:xfrm>
            <a:off x="6977057" y="3295298"/>
            <a:ext cx="1327062" cy="5284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Società = Società UO_ITA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Perimetro = Italy</a:t>
            </a:r>
          </a:p>
        </p:txBody>
      </p:sp>
      <p:cxnSp>
        <p:nvCxnSpPr>
          <p:cNvPr id="167" name="Connettore 2 190"/>
          <p:cNvCxnSpPr>
            <a:stCxn id="118" idx="3"/>
            <a:endCxn id="166" idx="0"/>
          </p:cNvCxnSpPr>
          <p:nvPr/>
        </p:nvCxnSpPr>
        <p:spPr>
          <a:xfrm flipH="1">
            <a:off x="10982889" y="3559534"/>
            <a:ext cx="499806" cy="1658001"/>
          </a:xfrm>
          <a:prstGeom prst="bentConnector4">
            <a:avLst>
              <a:gd name="adj1" fmla="val -45738"/>
              <a:gd name="adj2" fmla="val 71079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190"/>
          <p:cNvCxnSpPr>
            <a:stCxn id="118" idx="0"/>
            <a:endCxn id="119" idx="2"/>
          </p:cNvCxnSpPr>
          <p:nvPr/>
        </p:nvCxnSpPr>
        <p:spPr>
          <a:xfrm rot="5400000" flipH="1" flipV="1">
            <a:off x="9977933" y="2478185"/>
            <a:ext cx="763496" cy="121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2 190"/>
          <p:cNvCxnSpPr>
            <a:stCxn id="118" idx="2"/>
            <a:endCxn id="122" idx="0"/>
          </p:cNvCxnSpPr>
          <p:nvPr/>
        </p:nvCxnSpPr>
        <p:spPr>
          <a:xfrm rot="5400000">
            <a:off x="9294545" y="4740610"/>
            <a:ext cx="1546612" cy="58244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ttore 2 104"/>
          <p:cNvCxnSpPr>
            <a:stCxn id="119" idx="3"/>
          </p:cNvCxnSpPr>
          <p:nvPr/>
        </p:nvCxnSpPr>
        <p:spPr>
          <a:xfrm>
            <a:off x="10934487" y="1942243"/>
            <a:ext cx="722719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ttore 2 107"/>
          <p:cNvCxnSpPr>
            <a:stCxn id="122" idx="3"/>
          </p:cNvCxnSpPr>
          <p:nvPr/>
        </p:nvCxnSpPr>
        <p:spPr>
          <a:xfrm>
            <a:off x="10350827" y="5959940"/>
            <a:ext cx="672048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2 110"/>
          <p:cNvCxnSpPr>
            <a:stCxn id="166" idx="3"/>
          </p:cNvCxnSpPr>
          <p:nvPr/>
        </p:nvCxnSpPr>
        <p:spPr>
          <a:xfrm>
            <a:off x="11556738" y="5372285"/>
            <a:ext cx="608294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90"/>
          <p:cNvCxnSpPr>
            <a:stCxn id="90" idx="3"/>
            <a:endCxn id="118" idx="1"/>
          </p:cNvCxnSpPr>
          <p:nvPr/>
        </p:nvCxnSpPr>
        <p:spPr>
          <a:xfrm>
            <a:off x="8304119" y="1695740"/>
            <a:ext cx="931335" cy="186379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ttangolo arrotondato 165"/>
          <p:cNvSpPr/>
          <p:nvPr/>
        </p:nvSpPr>
        <p:spPr>
          <a:xfrm>
            <a:off x="10409040" y="5217535"/>
            <a:ext cx="1147698" cy="309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57" name="Connettore 2 190"/>
          <p:cNvCxnSpPr>
            <a:stCxn id="56" idx="3"/>
            <a:endCxn id="118" idx="1"/>
          </p:cNvCxnSpPr>
          <p:nvPr/>
        </p:nvCxnSpPr>
        <p:spPr>
          <a:xfrm flipV="1">
            <a:off x="8304119" y="3559534"/>
            <a:ext cx="931335" cy="249807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2 190"/>
          <p:cNvCxnSpPr>
            <a:stCxn id="61" idx="3"/>
            <a:endCxn id="146" idx="0"/>
          </p:cNvCxnSpPr>
          <p:nvPr/>
        </p:nvCxnSpPr>
        <p:spPr>
          <a:xfrm>
            <a:off x="5129411" y="2621001"/>
            <a:ext cx="2511177" cy="67429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2 105"/>
          <p:cNvCxnSpPr>
            <a:stCxn id="65" idx="0"/>
            <a:endCxn id="61" idx="2"/>
          </p:cNvCxnSpPr>
          <p:nvPr/>
        </p:nvCxnSpPr>
        <p:spPr>
          <a:xfrm flipV="1">
            <a:off x="3841041" y="3121079"/>
            <a:ext cx="1" cy="853975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2 108"/>
          <p:cNvCxnSpPr>
            <a:stCxn id="138" idx="3"/>
            <a:endCxn id="65" idx="1"/>
          </p:cNvCxnSpPr>
          <p:nvPr/>
        </p:nvCxnSpPr>
        <p:spPr>
          <a:xfrm>
            <a:off x="1678450" y="4519479"/>
            <a:ext cx="1036021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ttore 2 123"/>
          <p:cNvCxnSpPr>
            <a:stCxn id="146" idx="3"/>
            <a:endCxn id="118" idx="1"/>
          </p:cNvCxnSpPr>
          <p:nvPr/>
        </p:nvCxnSpPr>
        <p:spPr>
          <a:xfrm>
            <a:off x="8304119" y="3559533"/>
            <a:ext cx="931335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18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Decisione 237"/>
          <p:cNvSpPr/>
          <p:nvPr/>
        </p:nvSpPr>
        <p:spPr>
          <a:xfrm>
            <a:off x="269698" y="1601373"/>
            <a:ext cx="1439005" cy="139798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700" b="1" kern="1200" dirty="0">
                <a:solidFill>
                  <a:schemeClr val="accent1">
                    <a:lumMod val="50000"/>
                  </a:schemeClr>
                </a:solidFill>
              </a:rPr>
              <a:t>Verificare se UO è:</a:t>
            </a:r>
          </a:p>
          <a:p>
            <a:pPr marL="228600" indent="-228600" defTabSz="666750"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it-IT" sz="700" b="1" dirty="0">
                <a:solidFill>
                  <a:schemeClr val="accent1">
                    <a:lumMod val="50000"/>
                  </a:schemeClr>
                </a:solidFill>
              </a:rPr>
              <a:t>Business Line</a:t>
            </a:r>
          </a:p>
          <a:p>
            <a:pPr marL="228600" indent="-228600" defTabSz="666750"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it-IT" sz="700" b="1" dirty="0">
                <a:solidFill>
                  <a:schemeClr val="accent1">
                    <a:lumMod val="50000"/>
                  </a:schemeClr>
                </a:solidFill>
              </a:rPr>
              <a:t>Staff</a:t>
            </a:r>
          </a:p>
          <a:p>
            <a:pPr marL="228600" indent="-228600" defTabSz="666750">
              <a:spcBef>
                <a:spcPct val="0"/>
              </a:spcBef>
              <a:spcAft>
                <a:spcPct val="35000"/>
              </a:spcAft>
              <a:buFont typeface="+mj-lt"/>
              <a:buAutoNum type="arabicPeriod"/>
            </a:pPr>
            <a:r>
              <a:rPr lang="it-IT" sz="700" b="1" dirty="0">
                <a:solidFill>
                  <a:schemeClr val="accent1">
                    <a:lumMod val="50000"/>
                  </a:schemeClr>
                </a:solidFill>
              </a:rPr>
              <a:t>Services</a:t>
            </a:r>
          </a:p>
        </p:txBody>
      </p:sp>
      <p:sp>
        <p:nvSpPr>
          <p:cNvPr id="255" name="Rettangolo 254"/>
          <p:cNvSpPr/>
          <p:nvPr/>
        </p:nvSpPr>
        <p:spPr>
          <a:xfrm>
            <a:off x="5102943" y="2107643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OK</a:t>
            </a:r>
          </a:p>
        </p:txBody>
      </p:sp>
      <p:sp>
        <p:nvSpPr>
          <p:cNvPr id="124" name="Rettangolo 123"/>
          <p:cNvSpPr/>
          <p:nvPr/>
        </p:nvSpPr>
        <p:spPr>
          <a:xfrm>
            <a:off x="5099730" y="2337895"/>
            <a:ext cx="1512892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 err="1">
                <a:solidFill>
                  <a:schemeClr val="accent1">
                    <a:lumMod val="50000"/>
                  </a:schemeClr>
                </a:solidFill>
              </a:rPr>
              <a:t>PrevalentUO</a:t>
            </a: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 = GBL</a:t>
            </a:r>
          </a:p>
        </p:txBody>
      </p:sp>
      <p:sp>
        <p:nvSpPr>
          <p:cNvPr id="125" name="Rettangolo arrotondato 124"/>
          <p:cNvSpPr/>
          <p:nvPr/>
        </p:nvSpPr>
        <p:spPr>
          <a:xfrm>
            <a:off x="8901774" y="1938364"/>
            <a:ext cx="2176276" cy="7367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1" name="Decisione 120"/>
          <p:cNvSpPr/>
          <p:nvPr/>
        </p:nvSpPr>
        <p:spPr>
          <a:xfrm>
            <a:off x="3877021" y="1757904"/>
            <a:ext cx="1298076" cy="108492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activity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UO con la società</a:t>
            </a:r>
          </a:p>
        </p:txBody>
      </p:sp>
      <p:sp>
        <p:nvSpPr>
          <p:cNvPr id="274" name="Decisione 273"/>
          <p:cNvSpPr/>
          <p:nvPr/>
        </p:nvSpPr>
        <p:spPr>
          <a:xfrm>
            <a:off x="6841213" y="1818128"/>
            <a:ext cx="1538109" cy="97723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Se </a:t>
            </a:r>
            <a:r>
              <a:rPr lang="it-IT" sz="900" dirty="0" err="1">
                <a:solidFill>
                  <a:schemeClr val="tx1"/>
                </a:solidFill>
              </a:rPr>
              <a:t>Prevalent</a:t>
            </a:r>
            <a:r>
              <a:rPr lang="it-IT" sz="900" dirty="0">
                <a:solidFill>
                  <a:schemeClr val="tx1"/>
                </a:solidFill>
              </a:rPr>
              <a:t> UO = </a:t>
            </a:r>
            <a:r>
              <a:rPr lang="it-IT" sz="900" dirty="0" err="1">
                <a:solidFill>
                  <a:schemeClr val="tx1"/>
                </a:solidFill>
              </a:rPr>
              <a:t>Multibusiness</a:t>
            </a:r>
            <a:r>
              <a:rPr lang="it-IT" sz="900" dirty="0">
                <a:solidFill>
                  <a:schemeClr val="tx1"/>
                </a:solidFill>
              </a:rPr>
              <a:t> line</a:t>
            </a:r>
          </a:p>
        </p:txBody>
      </p:sp>
      <p:sp>
        <p:nvSpPr>
          <p:cNvPr id="281" name="Rettangolo 280"/>
          <p:cNvSpPr/>
          <p:nvPr/>
        </p:nvSpPr>
        <p:spPr>
          <a:xfrm>
            <a:off x="7888139" y="2069642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KO</a:t>
            </a:r>
          </a:p>
        </p:txBody>
      </p:sp>
      <p:cxnSp>
        <p:nvCxnSpPr>
          <p:cNvPr id="283" name="Connettore 2 282"/>
          <p:cNvCxnSpPr>
            <a:stCxn id="274" idx="3"/>
            <a:endCxn id="125" idx="1"/>
          </p:cNvCxnSpPr>
          <p:nvPr/>
        </p:nvCxnSpPr>
        <p:spPr>
          <a:xfrm flipV="1">
            <a:off x="8379322" y="2306747"/>
            <a:ext cx="522452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ttore 2 283"/>
          <p:cNvCxnSpPr>
            <a:stCxn id="274" idx="2"/>
            <a:endCxn id="75" idx="0"/>
          </p:cNvCxnSpPr>
          <p:nvPr/>
        </p:nvCxnSpPr>
        <p:spPr>
          <a:xfrm rot="16200000" flipH="1">
            <a:off x="7183077" y="3222557"/>
            <a:ext cx="857134" cy="275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Rettangolo 288"/>
          <p:cNvSpPr/>
          <p:nvPr/>
        </p:nvSpPr>
        <p:spPr>
          <a:xfrm>
            <a:off x="6752341" y="2891640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OK</a:t>
            </a:r>
          </a:p>
        </p:txBody>
      </p:sp>
      <p:sp>
        <p:nvSpPr>
          <p:cNvPr id="71" name="Rettangolo arrotondato 70"/>
          <p:cNvSpPr/>
          <p:nvPr/>
        </p:nvSpPr>
        <p:spPr>
          <a:xfrm>
            <a:off x="2203936" y="2118782"/>
            <a:ext cx="11212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Business Line</a:t>
            </a:r>
          </a:p>
        </p:txBody>
      </p:sp>
      <p:cxnSp>
        <p:nvCxnSpPr>
          <p:cNvPr id="73" name="Connettore 2 72"/>
          <p:cNvCxnSpPr>
            <a:stCxn id="238" idx="3"/>
            <a:endCxn id="71" idx="1"/>
          </p:cNvCxnSpPr>
          <p:nvPr/>
        </p:nvCxnSpPr>
        <p:spPr>
          <a:xfrm flipV="1">
            <a:off x="1708703" y="2300367"/>
            <a:ext cx="495233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2 94"/>
          <p:cNvCxnSpPr>
            <a:stCxn id="71" idx="3"/>
            <a:endCxn id="121" idx="1"/>
          </p:cNvCxnSpPr>
          <p:nvPr/>
        </p:nvCxnSpPr>
        <p:spPr>
          <a:xfrm>
            <a:off x="3325213" y="2300367"/>
            <a:ext cx="551808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itolo 1"/>
          <p:cNvSpPr txBox="1">
            <a:spLocks/>
          </p:cNvSpPr>
          <p:nvPr/>
        </p:nvSpPr>
        <p:spPr>
          <a:xfrm>
            <a:off x="756698" y="216735"/>
            <a:ext cx="1101018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Determinazione / Recupero CC tipo/reale - </a:t>
            </a:r>
            <a:r>
              <a:rPr lang="en-US" dirty="0" err="1"/>
              <a:t>dettaglio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2/6</a:t>
            </a:r>
          </a:p>
          <a:p>
            <a:r>
              <a:rPr lang="en-US" sz="2000" dirty="0" err="1"/>
              <a:t>Logiche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Business Line</a:t>
            </a:r>
          </a:p>
        </p:txBody>
      </p:sp>
      <p:cxnSp>
        <p:nvCxnSpPr>
          <p:cNvPr id="67" name="Connettore 2 66"/>
          <p:cNvCxnSpPr>
            <a:stCxn id="121" idx="3"/>
            <a:endCxn id="274" idx="1"/>
          </p:cNvCxnSpPr>
          <p:nvPr/>
        </p:nvCxnSpPr>
        <p:spPr>
          <a:xfrm>
            <a:off x="5175097" y="2300368"/>
            <a:ext cx="1666116" cy="638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ttangolo con angoli arrotondati in diagonale 99"/>
          <p:cNvSpPr/>
          <p:nvPr/>
        </p:nvSpPr>
        <p:spPr>
          <a:xfrm>
            <a:off x="4757882" y="1387256"/>
            <a:ext cx="1429570" cy="386974"/>
          </a:xfrm>
          <a:prstGeom prst="round2DiagRect">
            <a:avLst>
              <a:gd name="adj1" fmla="val 0"/>
              <a:gd name="adj2" fmla="val 0"/>
            </a:avLst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Memorizzazione UO con KO incompatibilità</a:t>
            </a:r>
          </a:p>
        </p:txBody>
      </p:sp>
      <p:cxnSp>
        <p:nvCxnSpPr>
          <p:cNvPr id="102" name="Connettore 2 283"/>
          <p:cNvCxnSpPr>
            <a:stCxn id="121" idx="0"/>
            <a:endCxn id="100" idx="2"/>
          </p:cNvCxnSpPr>
          <p:nvPr/>
        </p:nvCxnSpPr>
        <p:spPr>
          <a:xfrm rot="5400000" flipH="1" flipV="1">
            <a:off x="4553390" y="1553413"/>
            <a:ext cx="177161" cy="23182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ttangolo 103"/>
          <p:cNvSpPr/>
          <p:nvPr/>
        </p:nvSpPr>
        <p:spPr>
          <a:xfrm>
            <a:off x="4193248" y="1524047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KO</a:t>
            </a:r>
          </a:p>
        </p:txBody>
      </p:sp>
      <p:cxnSp>
        <p:nvCxnSpPr>
          <p:cNvPr id="68" name="Connettore 2 67"/>
          <p:cNvCxnSpPr>
            <a:endCxn id="238" idx="0"/>
          </p:cNvCxnSpPr>
          <p:nvPr/>
        </p:nvCxnSpPr>
        <p:spPr>
          <a:xfrm>
            <a:off x="989201" y="1226071"/>
            <a:ext cx="0" cy="37530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/>
          <p:cNvCxnSpPr>
            <a:stCxn id="238" idx="2"/>
          </p:cNvCxnSpPr>
          <p:nvPr/>
        </p:nvCxnSpPr>
        <p:spPr>
          <a:xfrm>
            <a:off x="989201" y="2999362"/>
            <a:ext cx="0" cy="59609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tangolo arrotondato 73"/>
          <p:cNvSpPr/>
          <p:nvPr/>
        </p:nvSpPr>
        <p:spPr>
          <a:xfrm>
            <a:off x="6439747" y="5594562"/>
            <a:ext cx="2346547" cy="7110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>
                <a:solidFill>
                  <a:schemeClr val="tx1"/>
                </a:solidFill>
              </a:rPr>
              <a:t>Macro Org 1 = bHOL / bSER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>
                <a:solidFill>
                  <a:schemeClr val="tx1"/>
                </a:solidFill>
              </a:rPr>
              <a:t>Activity = come da catalogo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>
                <a:solidFill>
                  <a:schemeClr val="tx1"/>
                </a:solidFill>
              </a:rPr>
              <a:t>Perimetro = Central / perimetro società AFC (se non definito in prec)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5" name="Decisione 74"/>
          <p:cNvSpPr/>
          <p:nvPr/>
        </p:nvSpPr>
        <p:spPr>
          <a:xfrm>
            <a:off x="6963983" y="3652501"/>
            <a:ext cx="1298076" cy="108492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bHOL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bSER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e società</a:t>
            </a:r>
          </a:p>
        </p:txBody>
      </p:sp>
      <p:sp>
        <p:nvSpPr>
          <p:cNvPr id="77" name="Rettangolo 76"/>
          <p:cNvSpPr/>
          <p:nvPr/>
        </p:nvSpPr>
        <p:spPr>
          <a:xfrm>
            <a:off x="7632775" y="4875081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OK</a:t>
            </a:r>
          </a:p>
        </p:txBody>
      </p:sp>
      <p:cxnSp>
        <p:nvCxnSpPr>
          <p:cNvPr id="81" name="Connettore 2 80"/>
          <p:cNvCxnSpPr>
            <a:stCxn id="75" idx="2"/>
            <a:endCxn id="74" idx="0"/>
          </p:cNvCxnSpPr>
          <p:nvPr/>
        </p:nvCxnSpPr>
        <p:spPr>
          <a:xfrm>
            <a:off x="7613021" y="4737428"/>
            <a:ext cx="0" cy="857134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ttangolo 93"/>
          <p:cNvSpPr/>
          <p:nvPr/>
        </p:nvSpPr>
        <p:spPr>
          <a:xfrm>
            <a:off x="6540698" y="3978157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KO</a:t>
            </a:r>
          </a:p>
        </p:txBody>
      </p:sp>
      <p:cxnSp>
        <p:nvCxnSpPr>
          <p:cNvPr id="99" name="Connettore 2 98"/>
          <p:cNvCxnSpPr>
            <a:stCxn id="75" idx="1"/>
            <a:endCxn id="34" idx="3"/>
          </p:cNvCxnSpPr>
          <p:nvPr/>
        </p:nvCxnSpPr>
        <p:spPr>
          <a:xfrm flipH="1">
            <a:off x="5507598" y="4194965"/>
            <a:ext cx="1456385" cy="7298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tangolo arrotondato 73"/>
          <p:cNvSpPr/>
          <p:nvPr/>
        </p:nvSpPr>
        <p:spPr>
          <a:xfrm>
            <a:off x="3161051" y="3846716"/>
            <a:ext cx="2346547" cy="7110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GBLPrevalent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</p:spTree>
    <p:extLst>
      <p:ext uri="{BB962C8B-B14F-4D97-AF65-F5344CB8AC3E}">
        <p14:creationId xmlns:p14="http://schemas.microsoft.com/office/powerpoint/2010/main" val="302498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olo 1"/>
          <p:cNvSpPr txBox="1">
            <a:spLocks/>
          </p:cNvSpPr>
          <p:nvPr/>
        </p:nvSpPr>
        <p:spPr>
          <a:xfrm>
            <a:off x="756698" y="216735"/>
            <a:ext cx="1101018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Determinazione / Recupero CC tipo/reale - </a:t>
            </a:r>
            <a:r>
              <a:rPr lang="en-US" dirty="0" err="1"/>
              <a:t>dettaglio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3/6</a:t>
            </a:r>
          </a:p>
          <a:p>
            <a:r>
              <a:rPr lang="en-US" sz="2000" dirty="0" err="1"/>
              <a:t>Logiche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Staff</a:t>
            </a:r>
          </a:p>
        </p:txBody>
      </p:sp>
      <p:sp>
        <p:nvSpPr>
          <p:cNvPr id="78" name="Rettangolo arrotondato 77"/>
          <p:cNvSpPr/>
          <p:nvPr/>
        </p:nvSpPr>
        <p:spPr>
          <a:xfrm>
            <a:off x="716590" y="1185868"/>
            <a:ext cx="11212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OU Staff</a:t>
            </a:r>
          </a:p>
        </p:txBody>
      </p:sp>
      <p:sp>
        <p:nvSpPr>
          <p:cNvPr id="85" name="Decisione 84"/>
          <p:cNvSpPr/>
          <p:nvPr/>
        </p:nvSpPr>
        <p:spPr>
          <a:xfrm>
            <a:off x="2417922" y="3854371"/>
            <a:ext cx="1617757" cy="1148979"/>
          </a:xfrm>
          <a:prstGeom prst="flowChartDecisi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NPA*=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NPA1=.……..=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NPAn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*=GBL</a:t>
            </a:r>
            <a:r>
              <a:rPr lang="it-IT" sz="1000" b="1" dirty="0">
                <a:solidFill>
                  <a:srgbClr val="FF0000"/>
                </a:solidFill>
              </a:rPr>
              <a:t>(*)</a:t>
            </a:r>
            <a:endParaRPr lang="it-IT" sz="800" b="1" dirty="0">
              <a:solidFill>
                <a:srgbClr val="FF0000"/>
              </a:solidFill>
            </a:endParaRPr>
          </a:p>
        </p:txBody>
      </p:sp>
      <p:sp>
        <p:nvSpPr>
          <p:cNvPr id="89" name="Rettangolo arrotondato 88"/>
          <p:cNvSpPr/>
          <p:nvPr/>
        </p:nvSpPr>
        <p:spPr>
          <a:xfrm>
            <a:off x="83502" y="5129824"/>
            <a:ext cx="2471388" cy="60694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bSER</a:t>
            </a:r>
            <a:r>
              <a:rPr lang="it-IT" sz="1000" dirty="0">
                <a:solidFill>
                  <a:schemeClr val="tx1"/>
                </a:solidFill>
              </a:rPr>
              <a:t>/</a:t>
            </a:r>
            <a:r>
              <a:rPr lang="it-IT" sz="1000" dirty="0" err="1">
                <a:solidFill>
                  <a:schemeClr val="tx1"/>
                </a:solidFill>
              </a:rPr>
              <a:t>bHOL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7" name="CasellaDiTesto 96"/>
          <p:cNvSpPr txBox="1"/>
          <p:nvPr/>
        </p:nvSpPr>
        <p:spPr>
          <a:xfrm>
            <a:off x="2049226" y="4660998"/>
            <a:ext cx="40215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NO</a:t>
            </a:r>
          </a:p>
        </p:txBody>
      </p:sp>
      <p:sp>
        <p:nvSpPr>
          <p:cNvPr id="107" name="Decisione 106"/>
          <p:cNvSpPr/>
          <p:nvPr/>
        </p:nvSpPr>
        <p:spPr>
          <a:xfrm>
            <a:off x="530782" y="3878683"/>
            <a:ext cx="1560574" cy="97315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Check  </a:t>
            </a:r>
            <a:r>
              <a:rPr lang="it-IT" sz="900" dirty="0" err="1">
                <a:solidFill>
                  <a:schemeClr val="tx1"/>
                </a:solidFill>
              </a:rPr>
              <a:t>Soc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  <a:r>
              <a:rPr lang="it-IT" sz="900" dirty="0" err="1">
                <a:solidFill>
                  <a:schemeClr val="tx1"/>
                </a:solidFill>
              </a:rPr>
              <a:t>bHOL</a:t>
            </a:r>
            <a:r>
              <a:rPr lang="it-IT" sz="900" dirty="0">
                <a:solidFill>
                  <a:schemeClr val="tx1"/>
                </a:solidFill>
              </a:rPr>
              <a:t>/</a:t>
            </a:r>
            <a:r>
              <a:rPr lang="it-IT" sz="900" dirty="0" err="1">
                <a:solidFill>
                  <a:schemeClr val="tx1"/>
                </a:solidFill>
              </a:rPr>
              <a:t>bSER</a:t>
            </a:r>
            <a:endParaRPr lang="it-IT" sz="9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(Tab </a:t>
            </a:r>
            <a:r>
              <a:rPr lang="it-IT" sz="900" dirty="0" err="1">
                <a:solidFill>
                  <a:schemeClr val="tx1"/>
                </a:solidFill>
              </a:rPr>
              <a:t>Entity</a:t>
            </a:r>
            <a:r>
              <a:rPr lang="it-IT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3" name="Decisione 142"/>
          <p:cNvSpPr/>
          <p:nvPr/>
        </p:nvSpPr>
        <p:spPr>
          <a:xfrm>
            <a:off x="5208807" y="3558764"/>
            <a:ext cx="1751551" cy="1143067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NPA OU con la società **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(GCO 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compresa)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8" name="Rettangolo 147"/>
          <p:cNvSpPr/>
          <p:nvPr/>
        </p:nvSpPr>
        <p:spPr>
          <a:xfrm>
            <a:off x="4609318" y="417279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sp>
        <p:nvSpPr>
          <p:cNvPr id="153" name="Decisione 152"/>
          <p:cNvSpPr/>
          <p:nvPr/>
        </p:nvSpPr>
        <p:spPr>
          <a:xfrm>
            <a:off x="7312765" y="4015017"/>
            <a:ext cx="1743231" cy="106487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NPA = </a:t>
            </a:r>
            <a:r>
              <a:rPr lang="it-IT" sz="900" dirty="0" err="1">
                <a:solidFill>
                  <a:schemeClr val="tx1"/>
                </a:solidFill>
              </a:rPr>
              <a:t>Multibsn</a:t>
            </a:r>
            <a:r>
              <a:rPr lang="it-IT" sz="900" dirty="0">
                <a:solidFill>
                  <a:schemeClr val="tx1"/>
                </a:solidFill>
              </a:rPr>
              <a:t>-line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  <a:highlight>
                  <a:srgbClr val="FFFF00"/>
                </a:highlight>
              </a:rPr>
              <a:t>Solo OU </a:t>
            </a:r>
            <a:r>
              <a:rPr lang="it-IT" sz="900" dirty="0" err="1">
                <a:solidFill>
                  <a:schemeClr val="tx1"/>
                </a:solidFill>
                <a:highlight>
                  <a:srgbClr val="FFFF00"/>
                </a:highlight>
              </a:rPr>
              <a:t>Type</a:t>
            </a:r>
            <a:r>
              <a:rPr lang="it-IT" sz="900" dirty="0">
                <a:solidFill>
                  <a:schemeClr val="tx1"/>
                </a:solidFill>
                <a:highlight>
                  <a:srgbClr val="FFFF00"/>
                </a:highlight>
              </a:rPr>
              <a:t> 30 (NO  GCO)</a:t>
            </a:r>
          </a:p>
        </p:txBody>
      </p:sp>
      <p:sp>
        <p:nvSpPr>
          <p:cNvPr id="158" name="Rettangolo 157"/>
          <p:cNvSpPr/>
          <p:nvPr/>
        </p:nvSpPr>
        <p:spPr>
          <a:xfrm>
            <a:off x="7439054" y="362353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sp>
        <p:nvSpPr>
          <p:cNvPr id="160" name="Rettangolo arrotondato 159"/>
          <p:cNvSpPr/>
          <p:nvPr/>
        </p:nvSpPr>
        <p:spPr>
          <a:xfrm>
            <a:off x="9549998" y="3970352"/>
            <a:ext cx="1957469" cy="11478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Per GCO = GBL Customer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0" name="Connettore 2 223"/>
          <p:cNvCxnSpPr>
            <a:cxnSpLocks/>
            <a:stCxn id="143" idx="2"/>
            <a:endCxn id="101" idx="1"/>
          </p:cNvCxnSpPr>
          <p:nvPr/>
        </p:nvCxnSpPr>
        <p:spPr>
          <a:xfrm rot="16200000" flipH="1">
            <a:off x="5992789" y="4793624"/>
            <a:ext cx="795270" cy="61168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ttangolo 170"/>
          <p:cNvSpPr/>
          <p:nvPr/>
        </p:nvSpPr>
        <p:spPr>
          <a:xfrm>
            <a:off x="5966492" y="6017863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191" name="Connettore 2 223"/>
          <p:cNvCxnSpPr>
            <a:cxnSpLocks/>
            <a:stCxn id="153" idx="0"/>
            <a:endCxn id="69" idx="2"/>
          </p:cNvCxnSpPr>
          <p:nvPr/>
        </p:nvCxnSpPr>
        <p:spPr>
          <a:xfrm rot="5400000" flipH="1" flipV="1">
            <a:off x="8012705" y="3842927"/>
            <a:ext cx="343767" cy="41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2 223"/>
          <p:cNvCxnSpPr>
            <a:cxnSpLocks/>
            <a:stCxn id="107" idx="2"/>
            <a:endCxn id="89" idx="0"/>
          </p:cNvCxnSpPr>
          <p:nvPr/>
        </p:nvCxnSpPr>
        <p:spPr>
          <a:xfrm rot="16200000" flipH="1">
            <a:off x="1176137" y="4986765"/>
            <a:ext cx="277990" cy="812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2 81"/>
          <p:cNvCxnSpPr>
            <a:cxnSpLocks/>
            <a:stCxn id="107" idx="3"/>
            <a:endCxn id="85" idx="1"/>
          </p:cNvCxnSpPr>
          <p:nvPr/>
        </p:nvCxnSpPr>
        <p:spPr>
          <a:xfrm>
            <a:off x="2091356" y="4365259"/>
            <a:ext cx="326566" cy="6360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2 223"/>
          <p:cNvCxnSpPr>
            <a:cxnSpLocks/>
            <a:stCxn id="85" idx="0"/>
            <a:endCxn id="50" idx="2"/>
          </p:cNvCxnSpPr>
          <p:nvPr/>
        </p:nvCxnSpPr>
        <p:spPr>
          <a:xfrm rot="16200000" flipV="1">
            <a:off x="3099876" y="3727446"/>
            <a:ext cx="250134" cy="371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ttangolo 112"/>
          <p:cNvSpPr/>
          <p:nvPr/>
        </p:nvSpPr>
        <p:spPr>
          <a:xfrm>
            <a:off x="2762003" y="3477691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NO</a:t>
            </a:r>
          </a:p>
        </p:txBody>
      </p:sp>
      <p:sp>
        <p:nvSpPr>
          <p:cNvPr id="64" name="Rettangolo arrotondato 63"/>
          <p:cNvSpPr/>
          <p:nvPr/>
        </p:nvSpPr>
        <p:spPr>
          <a:xfrm>
            <a:off x="9397408" y="2804029"/>
            <a:ext cx="2402689" cy="63598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bSER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sp>
        <p:nvSpPr>
          <p:cNvPr id="69" name="Decisione 68"/>
          <p:cNvSpPr/>
          <p:nvPr/>
        </p:nvSpPr>
        <p:spPr>
          <a:xfrm>
            <a:off x="7535757" y="2586323"/>
            <a:ext cx="1298076" cy="108492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bSER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e società</a:t>
            </a:r>
          </a:p>
        </p:txBody>
      </p:sp>
      <p:sp>
        <p:nvSpPr>
          <p:cNvPr id="74" name="CasellaDiTesto 73"/>
          <p:cNvSpPr txBox="1"/>
          <p:nvPr/>
        </p:nvSpPr>
        <p:spPr>
          <a:xfrm>
            <a:off x="8911524" y="2743048"/>
            <a:ext cx="35966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OK</a:t>
            </a:r>
          </a:p>
        </p:txBody>
      </p:sp>
      <p:sp>
        <p:nvSpPr>
          <p:cNvPr id="81" name="Rettangolo 80"/>
          <p:cNvSpPr/>
          <p:nvPr/>
        </p:nvSpPr>
        <p:spPr>
          <a:xfrm>
            <a:off x="8530956" y="1861472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83" name="Connettore 2 223"/>
          <p:cNvCxnSpPr>
            <a:cxnSpLocks/>
            <a:stCxn id="69" idx="0"/>
            <a:endCxn id="58" idx="1"/>
          </p:cNvCxnSpPr>
          <p:nvPr/>
        </p:nvCxnSpPr>
        <p:spPr>
          <a:xfrm rot="5400000" flipH="1" flipV="1">
            <a:off x="8513646" y="1817386"/>
            <a:ext cx="440087" cy="1097788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ecisione 49"/>
          <p:cNvSpPr/>
          <p:nvPr/>
        </p:nvSpPr>
        <p:spPr>
          <a:xfrm>
            <a:off x="2590235" y="2659249"/>
            <a:ext cx="1265700" cy="94498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Se NPA =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null</a:t>
            </a:r>
            <a:endParaRPr lang="it-IT" sz="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52" name="Connettore 2 223"/>
          <p:cNvCxnSpPr>
            <a:stCxn id="50" idx="3"/>
            <a:endCxn id="69" idx="1"/>
          </p:cNvCxnSpPr>
          <p:nvPr/>
        </p:nvCxnSpPr>
        <p:spPr>
          <a:xfrm flipV="1">
            <a:off x="3855935" y="3128787"/>
            <a:ext cx="3679822" cy="295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223"/>
          <p:cNvCxnSpPr>
            <a:cxnSpLocks/>
            <a:stCxn id="59" idx="0"/>
            <a:endCxn id="61" idx="1"/>
          </p:cNvCxnSpPr>
          <p:nvPr/>
        </p:nvCxnSpPr>
        <p:spPr>
          <a:xfrm rot="5400000" flipH="1" flipV="1">
            <a:off x="3674527" y="737958"/>
            <a:ext cx="369857" cy="127758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ttangolo 59"/>
          <p:cNvSpPr/>
          <p:nvPr/>
        </p:nvSpPr>
        <p:spPr>
          <a:xfrm>
            <a:off x="3814257" y="901641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sp>
        <p:nvSpPr>
          <p:cNvPr id="61" name="Rettangolo arrotondato 60"/>
          <p:cNvSpPr/>
          <p:nvPr/>
        </p:nvSpPr>
        <p:spPr>
          <a:xfrm>
            <a:off x="4498247" y="873826"/>
            <a:ext cx="2314698" cy="6359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GBLPrevalent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9282583" y="1828242"/>
            <a:ext cx="2402689" cy="63598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solo GBL </a:t>
            </a:r>
            <a:r>
              <a:rPr lang="it-IT" sz="1000" dirty="0" err="1">
                <a:solidFill>
                  <a:schemeClr val="tx1"/>
                </a:solidFill>
              </a:rPr>
              <a:t>Prevalent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cxnSp>
        <p:nvCxnSpPr>
          <p:cNvPr id="67" name="Connettore 2 223">
            <a:extLst>
              <a:ext uri="{FF2B5EF4-FFF2-40B4-BE49-F238E27FC236}">
                <a16:creationId xmlns:a16="http://schemas.microsoft.com/office/drawing/2014/main" id="{14D9790F-9DA8-41BD-BFFB-25239CD8E701}"/>
              </a:ext>
            </a:extLst>
          </p:cNvPr>
          <p:cNvCxnSpPr>
            <a:cxnSpLocks/>
            <a:stCxn id="87" idx="2"/>
            <a:endCxn id="76" idx="1"/>
          </p:cNvCxnSpPr>
          <p:nvPr/>
        </p:nvCxnSpPr>
        <p:spPr>
          <a:xfrm rot="16200000" flipH="1">
            <a:off x="4505055" y="5816709"/>
            <a:ext cx="484610" cy="313091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2 223">
            <a:extLst>
              <a:ext uri="{FF2B5EF4-FFF2-40B4-BE49-F238E27FC236}">
                <a16:creationId xmlns:a16="http://schemas.microsoft.com/office/drawing/2014/main" id="{F5CF3F79-EF67-4A39-9C98-86735DB449B0}"/>
              </a:ext>
            </a:extLst>
          </p:cNvPr>
          <p:cNvCxnSpPr>
            <a:cxnSpLocks/>
            <a:stCxn id="69" idx="3"/>
            <a:endCxn id="64" idx="1"/>
          </p:cNvCxnSpPr>
          <p:nvPr/>
        </p:nvCxnSpPr>
        <p:spPr>
          <a:xfrm flipV="1">
            <a:off x="8833833" y="3122023"/>
            <a:ext cx="563575" cy="676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Decisione 68"/>
          <p:cNvSpPr/>
          <p:nvPr/>
        </p:nvSpPr>
        <p:spPr>
          <a:xfrm>
            <a:off x="2710658" y="1561677"/>
            <a:ext cx="1020011" cy="887459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bSER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e società</a:t>
            </a:r>
          </a:p>
        </p:txBody>
      </p:sp>
      <p:cxnSp>
        <p:nvCxnSpPr>
          <p:cNvPr id="75" name="Connettore 2 223"/>
          <p:cNvCxnSpPr>
            <a:cxnSpLocks/>
            <a:stCxn id="59" idx="3"/>
            <a:endCxn id="77" idx="1"/>
          </p:cNvCxnSpPr>
          <p:nvPr/>
        </p:nvCxnSpPr>
        <p:spPr>
          <a:xfrm flipV="1">
            <a:off x="3730669" y="2002005"/>
            <a:ext cx="697299" cy="34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ttangolo arrotondato 63"/>
          <p:cNvSpPr/>
          <p:nvPr/>
        </p:nvSpPr>
        <p:spPr>
          <a:xfrm>
            <a:off x="4427968" y="1710858"/>
            <a:ext cx="2473925" cy="58229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bSER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</a:t>
            </a:r>
            <a:r>
              <a:rPr lang="it-IT" sz="1000" dirty="0" err="1">
                <a:solidFill>
                  <a:schemeClr val="tx1"/>
                </a:solidFill>
              </a:rPr>
              <a:t>prec</a:t>
            </a:r>
            <a:r>
              <a:rPr lang="it-IT" sz="1000" dirty="0">
                <a:solidFill>
                  <a:schemeClr val="tx1"/>
                </a:solidFill>
              </a:rPr>
              <a:t>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sp>
        <p:nvSpPr>
          <p:cNvPr id="86" name="Rettangolo 59"/>
          <p:cNvSpPr/>
          <p:nvPr/>
        </p:nvSpPr>
        <p:spPr>
          <a:xfrm>
            <a:off x="3846911" y="1665062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cxnSp>
        <p:nvCxnSpPr>
          <p:cNvPr id="23" name="Elbow Connector 22"/>
          <p:cNvCxnSpPr>
            <a:cxnSpLocks/>
            <a:stCxn id="50" idx="0"/>
            <a:endCxn id="59" idx="2"/>
          </p:cNvCxnSpPr>
          <p:nvPr/>
        </p:nvCxnSpPr>
        <p:spPr>
          <a:xfrm rot="16200000" flipV="1">
            <a:off x="3116819" y="2552982"/>
            <a:ext cx="210113" cy="242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ttangolo arrotondato 57">
            <a:extLst>
              <a:ext uri="{FF2B5EF4-FFF2-40B4-BE49-F238E27FC236}">
                <a16:creationId xmlns:a16="http://schemas.microsoft.com/office/drawing/2014/main" id="{1A5FBB5A-C49C-49D1-A179-BD1D5058AE81}"/>
              </a:ext>
            </a:extLst>
          </p:cNvPr>
          <p:cNvSpPr/>
          <p:nvPr/>
        </p:nvSpPr>
        <p:spPr>
          <a:xfrm>
            <a:off x="4903906" y="5879517"/>
            <a:ext cx="1735830" cy="6720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b="1" dirty="0">
                <a:solidFill>
                  <a:schemeClr val="tx1"/>
                </a:solidFill>
              </a:rPr>
              <a:t>MacroOrg1 = MULTI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(BGEN/BREN,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BREL/T BESL/O e BMOB)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7" name="Decisione 86">
            <a:extLst>
              <a:ext uri="{FF2B5EF4-FFF2-40B4-BE49-F238E27FC236}">
                <a16:creationId xmlns:a16="http://schemas.microsoft.com/office/drawing/2014/main" id="{0654A248-EF2A-4562-9359-3F2395B3C2CB}"/>
              </a:ext>
            </a:extLst>
          </p:cNvPr>
          <p:cNvSpPr/>
          <p:nvPr/>
        </p:nvSpPr>
        <p:spPr>
          <a:xfrm>
            <a:off x="3591049" y="4411873"/>
            <a:ext cx="1999531" cy="1319077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MultiGBL</a:t>
            </a:r>
            <a:endParaRPr lang="it-IT" sz="8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dirty="0">
                <a:solidFill>
                  <a:schemeClr val="accent1">
                    <a:lumMod val="50000"/>
                  </a:schemeClr>
                </a:solidFill>
              </a:rPr>
              <a:t>Tab </a:t>
            </a:r>
            <a:r>
              <a:rPr lang="it-IT" sz="800" dirty="0" err="1">
                <a:solidFill>
                  <a:schemeClr val="accent1">
                    <a:lumMod val="50000"/>
                  </a:schemeClr>
                </a:solidFill>
              </a:rPr>
              <a:t>Exceptiontable</a:t>
            </a:r>
            <a:endParaRPr lang="it-IT" sz="800" dirty="0">
              <a:solidFill>
                <a:schemeClr val="accent1">
                  <a:lumMod val="50000"/>
                </a:schemeClr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dirty="0">
                <a:solidFill>
                  <a:schemeClr val="accent1">
                    <a:lumMod val="50000"/>
                  </a:schemeClr>
                </a:solidFill>
              </a:rPr>
              <a:t> (GPG, </a:t>
            </a:r>
            <a:r>
              <a:rPr lang="it-IT" sz="800" dirty="0" err="1">
                <a:solidFill>
                  <a:schemeClr val="accent1">
                    <a:lumMod val="50000"/>
                  </a:schemeClr>
                </a:solidFill>
              </a:rPr>
              <a:t>EnelX</a:t>
            </a:r>
            <a:r>
              <a:rPr lang="it-IT" sz="8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8" name="Rettangolo 87">
            <a:extLst>
              <a:ext uri="{FF2B5EF4-FFF2-40B4-BE49-F238E27FC236}">
                <a16:creationId xmlns:a16="http://schemas.microsoft.com/office/drawing/2014/main" id="{079FF43D-34AB-4752-9AF1-B9B07228314D}"/>
              </a:ext>
            </a:extLst>
          </p:cNvPr>
          <p:cNvSpPr/>
          <p:nvPr/>
        </p:nvSpPr>
        <p:spPr>
          <a:xfrm>
            <a:off x="77904" y="6688476"/>
            <a:ext cx="11953134" cy="21698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** Società con Perimetro = LAM e NPA= Market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Macro Org1 =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bREL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, altrimenti BRET, Società con Perimetro = LAM e NPA= Enel X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Macro Org1 =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bESL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altrimenti BESO</a:t>
            </a:r>
          </a:p>
        </p:txBody>
      </p:sp>
      <p:sp>
        <p:nvSpPr>
          <p:cNvPr id="95" name="Rettangolo 59">
            <a:extLst>
              <a:ext uri="{FF2B5EF4-FFF2-40B4-BE49-F238E27FC236}">
                <a16:creationId xmlns:a16="http://schemas.microsoft.com/office/drawing/2014/main" id="{A071D3C5-7D5F-40B5-81A2-4B8FED8340EE}"/>
              </a:ext>
            </a:extLst>
          </p:cNvPr>
          <p:cNvSpPr/>
          <p:nvPr/>
        </p:nvSpPr>
        <p:spPr>
          <a:xfrm>
            <a:off x="2802467" y="2479433"/>
            <a:ext cx="3595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sp>
        <p:nvSpPr>
          <p:cNvPr id="101" name="Rettangolo arrotondato 60">
            <a:extLst>
              <a:ext uri="{FF2B5EF4-FFF2-40B4-BE49-F238E27FC236}">
                <a16:creationId xmlns:a16="http://schemas.microsoft.com/office/drawing/2014/main" id="{6843A160-3220-4B41-8C53-6D5B15AA257E}"/>
              </a:ext>
            </a:extLst>
          </p:cNvPr>
          <p:cNvSpPr/>
          <p:nvPr/>
        </p:nvSpPr>
        <p:spPr>
          <a:xfrm>
            <a:off x="6696266" y="5196749"/>
            <a:ext cx="1440531" cy="6007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 err="1">
                <a:solidFill>
                  <a:schemeClr val="tx1"/>
                </a:solidFill>
              </a:rPr>
              <a:t>GBLPrevalent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56" name="Rettangolo 141">
            <a:extLst>
              <a:ext uri="{FF2B5EF4-FFF2-40B4-BE49-F238E27FC236}">
                <a16:creationId xmlns:a16="http://schemas.microsoft.com/office/drawing/2014/main" id="{E8A8A23A-85A9-493B-A3A3-BA4876C3C12B}"/>
              </a:ext>
            </a:extLst>
          </p:cNvPr>
          <p:cNvSpPr/>
          <p:nvPr/>
        </p:nvSpPr>
        <p:spPr>
          <a:xfrm>
            <a:off x="908111" y="486873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SI</a:t>
            </a:r>
          </a:p>
        </p:txBody>
      </p:sp>
      <p:sp>
        <p:nvSpPr>
          <p:cNvPr id="90" name="Rettangolo 87">
            <a:extLst>
              <a:ext uri="{FF2B5EF4-FFF2-40B4-BE49-F238E27FC236}">
                <a16:creationId xmlns:a16="http://schemas.microsoft.com/office/drawing/2014/main" id="{E0FB1A72-5B30-4DB3-B7F5-1B40DEFFE4BA}"/>
              </a:ext>
            </a:extLst>
          </p:cNvPr>
          <p:cNvSpPr/>
          <p:nvPr/>
        </p:nvSpPr>
        <p:spPr>
          <a:xfrm rot="10800000" flipV="1">
            <a:off x="8986735" y="6389146"/>
            <a:ext cx="3073721" cy="3416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Dopo NPA = Null nel caso OK e nel caso KO l’algoritmo è identico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F04C086-5968-990A-7CD8-31E4A2593704}"/>
              </a:ext>
            </a:extLst>
          </p:cNvPr>
          <p:cNvCxnSpPr>
            <a:cxnSpLocks/>
            <a:stCxn id="85" idx="2"/>
            <a:endCxn id="87" idx="1"/>
          </p:cNvCxnSpPr>
          <p:nvPr/>
        </p:nvCxnSpPr>
        <p:spPr>
          <a:xfrm rot="16200000" flipH="1">
            <a:off x="3374894" y="4855257"/>
            <a:ext cx="68062" cy="36424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tangolo 147">
            <a:extLst>
              <a:ext uri="{FF2B5EF4-FFF2-40B4-BE49-F238E27FC236}">
                <a16:creationId xmlns:a16="http://schemas.microsoft.com/office/drawing/2014/main" id="{1F7382B6-0339-BD40-3EAC-F1162A973533}"/>
              </a:ext>
            </a:extLst>
          </p:cNvPr>
          <p:cNvSpPr/>
          <p:nvPr/>
        </p:nvSpPr>
        <p:spPr>
          <a:xfrm>
            <a:off x="3197283" y="5125512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sp>
        <p:nvSpPr>
          <p:cNvPr id="92" name="Rettangolo 147">
            <a:extLst>
              <a:ext uri="{FF2B5EF4-FFF2-40B4-BE49-F238E27FC236}">
                <a16:creationId xmlns:a16="http://schemas.microsoft.com/office/drawing/2014/main" id="{12CEE949-E172-A71D-F615-90FE013E01D8}"/>
              </a:ext>
            </a:extLst>
          </p:cNvPr>
          <p:cNvSpPr/>
          <p:nvPr/>
        </p:nvSpPr>
        <p:spPr>
          <a:xfrm>
            <a:off x="4254761" y="591381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6F49901-8CF7-D426-93F0-816D415821C0}"/>
              </a:ext>
            </a:extLst>
          </p:cNvPr>
          <p:cNvCxnSpPr>
            <a:cxnSpLocks/>
            <a:stCxn id="87" idx="0"/>
            <a:endCxn id="143" idx="1"/>
          </p:cNvCxnSpPr>
          <p:nvPr/>
        </p:nvCxnSpPr>
        <p:spPr>
          <a:xfrm rot="5400000" flipH="1" flipV="1">
            <a:off x="4759024" y="3962090"/>
            <a:ext cx="281575" cy="61799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ttangolo 147">
            <a:extLst>
              <a:ext uri="{FF2B5EF4-FFF2-40B4-BE49-F238E27FC236}">
                <a16:creationId xmlns:a16="http://schemas.microsoft.com/office/drawing/2014/main" id="{25DDBC8A-9795-4D73-7C3A-8615EAF6DB8B}"/>
              </a:ext>
            </a:extLst>
          </p:cNvPr>
          <p:cNvSpPr/>
          <p:nvPr/>
        </p:nvSpPr>
        <p:spPr>
          <a:xfrm>
            <a:off x="6110120" y="4894680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E27AE02-097E-B416-A98D-A9F93656DCC8}"/>
              </a:ext>
            </a:extLst>
          </p:cNvPr>
          <p:cNvCxnSpPr>
            <a:cxnSpLocks/>
            <a:stCxn id="143" idx="3"/>
            <a:endCxn id="153" idx="1"/>
          </p:cNvCxnSpPr>
          <p:nvPr/>
        </p:nvCxnSpPr>
        <p:spPr>
          <a:xfrm>
            <a:off x="6960358" y="4130298"/>
            <a:ext cx="352407" cy="417159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asellaDiTesto 73">
            <a:extLst>
              <a:ext uri="{FF2B5EF4-FFF2-40B4-BE49-F238E27FC236}">
                <a16:creationId xmlns:a16="http://schemas.microsoft.com/office/drawing/2014/main" id="{CDBF83DE-FAF7-4554-3EA8-42FAE74B310A}"/>
              </a:ext>
            </a:extLst>
          </p:cNvPr>
          <p:cNvSpPr txBox="1"/>
          <p:nvPr/>
        </p:nvSpPr>
        <p:spPr>
          <a:xfrm>
            <a:off x="6789634" y="4258055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OK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FD4CB1A-3959-AC9E-250E-45E3B7BCCBC1}"/>
              </a:ext>
            </a:extLst>
          </p:cNvPr>
          <p:cNvCxnSpPr>
            <a:cxnSpLocks/>
            <a:stCxn id="153" idx="3"/>
            <a:endCxn id="160" idx="1"/>
          </p:cNvCxnSpPr>
          <p:nvPr/>
        </p:nvCxnSpPr>
        <p:spPr>
          <a:xfrm flipV="1">
            <a:off x="9055996" y="4544273"/>
            <a:ext cx="494002" cy="318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ttangolo 147">
            <a:extLst>
              <a:ext uri="{FF2B5EF4-FFF2-40B4-BE49-F238E27FC236}">
                <a16:creationId xmlns:a16="http://schemas.microsoft.com/office/drawing/2014/main" id="{1ECD7EEA-318A-55AB-31AE-941E36077A4C}"/>
              </a:ext>
            </a:extLst>
          </p:cNvPr>
          <p:cNvSpPr/>
          <p:nvPr/>
        </p:nvSpPr>
        <p:spPr>
          <a:xfrm>
            <a:off x="9080050" y="414263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5BE5CD7-3BED-164E-E78A-40A793EF97BB}"/>
              </a:ext>
            </a:extLst>
          </p:cNvPr>
          <p:cNvCxnSpPr>
            <a:cxnSpLocks/>
            <a:stCxn id="76" idx="0"/>
          </p:cNvCxnSpPr>
          <p:nvPr/>
        </p:nvCxnSpPr>
        <p:spPr>
          <a:xfrm rot="16200000" flipV="1">
            <a:off x="5068733" y="5176429"/>
            <a:ext cx="1271398" cy="134778"/>
          </a:xfrm>
          <a:prstGeom prst="bentConnector3">
            <a:avLst>
              <a:gd name="adj1" fmla="val 50000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ttangolo 147">
            <a:extLst>
              <a:ext uri="{FF2B5EF4-FFF2-40B4-BE49-F238E27FC236}">
                <a16:creationId xmlns:a16="http://schemas.microsoft.com/office/drawing/2014/main" id="{79368A12-197F-6571-4A68-C39A0D9D21DD}"/>
              </a:ext>
            </a:extLst>
          </p:cNvPr>
          <p:cNvSpPr/>
          <p:nvPr/>
        </p:nvSpPr>
        <p:spPr>
          <a:xfrm>
            <a:off x="5492789" y="531858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sp>
        <p:nvSpPr>
          <p:cNvPr id="68" name="Rettangolo 59">
            <a:extLst>
              <a:ext uri="{FF2B5EF4-FFF2-40B4-BE49-F238E27FC236}">
                <a16:creationId xmlns:a16="http://schemas.microsoft.com/office/drawing/2014/main" id="{86BE5811-8DF4-1406-5D1C-473D867304D4}"/>
              </a:ext>
            </a:extLst>
          </p:cNvPr>
          <p:cNvSpPr/>
          <p:nvPr/>
        </p:nvSpPr>
        <p:spPr>
          <a:xfrm>
            <a:off x="4318447" y="2837890"/>
            <a:ext cx="3595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sp>
        <p:nvSpPr>
          <p:cNvPr id="2" name="Rettangolo 87">
            <a:extLst>
              <a:ext uri="{FF2B5EF4-FFF2-40B4-BE49-F238E27FC236}">
                <a16:creationId xmlns:a16="http://schemas.microsoft.com/office/drawing/2014/main" id="{317026A7-D97C-5C4A-F7DF-6677C05BB2C8}"/>
              </a:ext>
            </a:extLst>
          </p:cNvPr>
          <p:cNvSpPr/>
          <p:nvPr/>
        </p:nvSpPr>
        <p:spPr>
          <a:xfrm rot="10800000" flipV="1">
            <a:off x="38973" y="5810986"/>
            <a:ext cx="3996706" cy="86100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200" b="1" dirty="0">
                <a:solidFill>
                  <a:srgbClr val="FF0000"/>
                </a:solidFill>
              </a:rPr>
              <a:t>(*)</a:t>
            </a:r>
            <a:r>
              <a:rPr lang="it-IT" sz="1050" dirty="0">
                <a:solidFill>
                  <a:schemeClr val="accent1">
                    <a:lumMod val="50000"/>
                  </a:schemeClr>
                </a:solidFill>
              </a:rPr>
              <a:t> NPA di Business Line con </a:t>
            </a:r>
            <a:r>
              <a:rPr lang="it-IT" sz="1050" dirty="0" err="1">
                <a:solidFill>
                  <a:schemeClr val="accent1">
                    <a:lumMod val="50000"/>
                  </a:schemeClr>
                </a:solidFill>
              </a:rPr>
              <a:t>Father</a:t>
            </a:r>
            <a:r>
              <a:rPr lang="it-IT" sz="1050" dirty="0">
                <a:solidFill>
                  <a:schemeClr val="accent1">
                    <a:lumMod val="50000"/>
                  </a:schemeClr>
                </a:solidFill>
              </a:rPr>
              <a:t> Code = 30-xx (AFC MacroOrg1) oppure NPA di Service con </a:t>
            </a:r>
            <a:r>
              <a:rPr lang="it-IT" sz="1050" dirty="0" err="1">
                <a:solidFill>
                  <a:schemeClr val="accent1">
                    <a:lumMod val="50000"/>
                  </a:schemeClr>
                </a:solidFill>
              </a:rPr>
              <a:t>Father</a:t>
            </a:r>
            <a:r>
              <a:rPr lang="it-IT" sz="1050" dirty="0">
                <a:solidFill>
                  <a:schemeClr val="accent1">
                    <a:lumMod val="50000"/>
                  </a:schemeClr>
                </a:solidFill>
              </a:rPr>
              <a:t> Code = 31-04 GCO  (GBL Customer</a:t>
            </a:r>
            <a:r>
              <a:rPr lang="it-IT" sz="1100" b="1" dirty="0">
                <a:solidFill>
                  <a:schemeClr val="accent1">
                    <a:lumMod val="50000"/>
                  </a:schemeClr>
                </a:solidFill>
              </a:rPr>
              <a:t>)  oppure  NPA di Service con Object </a:t>
            </a:r>
            <a:r>
              <a:rPr lang="it-IT" sz="1100" b="1" dirty="0" err="1">
                <a:solidFill>
                  <a:schemeClr val="accent1">
                    <a:lumMod val="50000"/>
                  </a:schemeClr>
                </a:solidFill>
              </a:rPr>
              <a:t>Type</a:t>
            </a:r>
            <a:r>
              <a:rPr lang="it-IT" sz="1100" b="1" dirty="0">
                <a:solidFill>
                  <a:schemeClr val="accent1">
                    <a:lumMod val="50000"/>
                  </a:schemeClr>
                </a:solidFill>
              </a:rPr>
              <a:t> = 31 AND Object Abbr che inizia con 0503 ((GBL Customer) </a:t>
            </a:r>
          </a:p>
        </p:txBody>
      </p:sp>
      <p:sp>
        <p:nvSpPr>
          <p:cNvPr id="53" name="Rettangolo arrotondato 77">
            <a:extLst>
              <a:ext uri="{FF2B5EF4-FFF2-40B4-BE49-F238E27FC236}">
                <a16:creationId xmlns:a16="http://schemas.microsoft.com/office/drawing/2014/main" id="{8FA72643-DCC1-1A9F-4758-21F5252A8BD1}"/>
              </a:ext>
            </a:extLst>
          </p:cNvPr>
          <p:cNvSpPr/>
          <p:nvPr/>
        </p:nvSpPr>
        <p:spPr>
          <a:xfrm>
            <a:off x="1342773" y="2641513"/>
            <a:ext cx="11212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Mercato -&gt; bRET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Enel X -&gt; bESO</a:t>
            </a:r>
          </a:p>
        </p:txBody>
      </p:sp>
      <p:cxnSp>
        <p:nvCxnSpPr>
          <p:cNvPr id="54" name="Connettore 2 78">
            <a:extLst>
              <a:ext uri="{FF2B5EF4-FFF2-40B4-BE49-F238E27FC236}">
                <a16:creationId xmlns:a16="http://schemas.microsoft.com/office/drawing/2014/main" id="{99BDDC1E-D9D4-40C9-2CC3-95A0F1BDBE86}"/>
              </a:ext>
            </a:extLst>
          </p:cNvPr>
          <p:cNvCxnSpPr>
            <a:cxnSpLocks/>
            <a:stCxn id="73" idx="1"/>
            <a:endCxn id="63" idx="0"/>
          </p:cNvCxnSpPr>
          <p:nvPr/>
        </p:nvCxnSpPr>
        <p:spPr>
          <a:xfrm>
            <a:off x="652625" y="2262637"/>
            <a:ext cx="2504" cy="365637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D57F5A-AB37-48B7-09C9-17117A4FECF4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1305017" y="3004683"/>
            <a:ext cx="598395" cy="89723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tangolo 59">
            <a:extLst>
              <a:ext uri="{FF2B5EF4-FFF2-40B4-BE49-F238E27FC236}">
                <a16:creationId xmlns:a16="http://schemas.microsoft.com/office/drawing/2014/main" id="{337FF8AF-0FB9-79C3-E8A7-D57CF7F9ED94}"/>
              </a:ext>
            </a:extLst>
          </p:cNvPr>
          <p:cNvSpPr/>
          <p:nvPr/>
        </p:nvSpPr>
        <p:spPr>
          <a:xfrm>
            <a:off x="1605572" y="1929309"/>
            <a:ext cx="3595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NO</a:t>
            </a:r>
          </a:p>
        </p:txBody>
      </p:sp>
      <p:sp>
        <p:nvSpPr>
          <p:cNvPr id="62" name="Rettangolo 59">
            <a:extLst>
              <a:ext uri="{FF2B5EF4-FFF2-40B4-BE49-F238E27FC236}">
                <a16:creationId xmlns:a16="http://schemas.microsoft.com/office/drawing/2014/main" id="{01E0298A-55EB-A412-84DD-F71C2812EE04}"/>
              </a:ext>
            </a:extLst>
          </p:cNvPr>
          <p:cNvSpPr/>
          <p:nvPr/>
        </p:nvSpPr>
        <p:spPr>
          <a:xfrm>
            <a:off x="202539" y="2196641"/>
            <a:ext cx="41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SI</a:t>
            </a:r>
          </a:p>
        </p:txBody>
      </p:sp>
      <p:sp>
        <p:nvSpPr>
          <p:cNvPr id="63" name="Rettangolo arrotondato 77">
            <a:extLst>
              <a:ext uri="{FF2B5EF4-FFF2-40B4-BE49-F238E27FC236}">
                <a16:creationId xmlns:a16="http://schemas.microsoft.com/office/drawing/2014/main" id="{6CB0BEB2-F8E3-A3D0-194E-BB332EB9889C}"/>
              </a:ext>
            </a:extLst>
          </p:cNvPr>
          <p:cNvSpPr/>
          <p:nvPr/>
        </p:nvSpPr>
        <p:spPr>
          <a:xfrm>
            <a:off x="94490" y="2628274"/>
            <a:ext cx="11212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Mercato -&gt; </a:t>
            </a:r>
            <a:r>
              <a:rPr lang="it-IT" sz="1000" dirty="0" err="1">
                <a:solidFill>
                  <a:schemeClr val="tx1"/>
                </a:solidFill>
              </a:rPr>
              <a:t>bREL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Enel X -&gt; </a:t>
            </a:r>
            <a:r>
              <a:rPr lang="it-IT" sz="1000" dirty="0" err="1">
                <a:solidFill>
                  <a:schemeClr val="tx1"/>
                </a:solidFill>
              </a:rPr>
              <a:t>bESL</a:t>
            </a:r>
            <a:endParaRPr lang="it-IT" sz="1000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4CA7C8-7A70-4A40-2898-459634E037BD}"/>
              </a:ext>
            </a:extLst>
          </p:cNvPr>
          <p:cNvCxnSpPr>
            <a:cxnSpLocks/>
            <a:stCxn id="73" idx="3"/>
            <a:endCxn id="53" idx="0"/>
          </p:cNvCxnSpPr>
          <p:nvPr/>
        </p:nvCxnSpPr>
        <p:spPr>
          <a:xfrm flipH="1">
            <a:off x="1903412" y="2262637"/>
            <a:ext cx="6184" cy="3788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95B3CD2-52C1-05EA-0FD6-5528A3F76809}"/>
              </a:ext>
            </a:extLst>
          </p:cNvPr>
          <p:cNvCxnSpPr>
            <a:cxnSpLocks/>
            <a:stCxn id="63" idx="2"/>
            <a:endCxn id="107" idx="0"/>
          </p:cNvCxnSpPr>
          <p:nvPr/>
        </p:nvCxnSpPr>
        <p:spPr>
          <a:xfrm>
            <a:off x="655129" y="2991444"/>
            <a:ext cx="655940" cy="8872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Decisione 106">
            <a:extLst>
              <a:ext uri="{FF2B5EF4-FFF2-40B4-BE49-F238E27FC236}">
                <a16:creationId xmlns:a16="http://schemas.microsoft.com/office/drawing/2014/main" id="{898AF6EB-1479-BE3B-B65C-F65792BAB9CF}"/>
              </a:ext>
            </a:extLst>
          </p:cNvPr>
          <p:cNvSpPr/>
          <p:nvPr/>
        </p:nvSpPr>
        <p:spPr>
          <a:xfrm>
            <a:off x="652625" y="1923200"/>
            <a:ext cx="1256971" cy="678873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 err="1">
                <a:solidFill>
                  <a:schemeClr val="tx1"/>
                </a:solidFill>
              </a:rPr>
              <a:t>Perimeter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  <a:r>
              <a:rPr lang="it-IT" sz="900" dirty="0" err="1">
                <a:solidFill>
                  <a:schemeClr val="tx1"/>
                </a:solidFill>
              </a:rPr>
              <a:t>is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  <a:r>
              <a:rPr lang="it-IT" sz="900" dirty="0" err="1">
                <a:solidFill>
                  <a:schemeClr val="tx1"/>
                </a:solidFill>
              </a:rPr>
              <a:t>Latam</a:t>
            </a:r>
            <a:endParaRPr lang="it-IT" sz="900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63CB135-080D-02CE-68EC-59490A89ACA1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1277229" y="1549038"/>
            <a:ext cx="27788" cy="3844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5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olo 1"/>
          <p:cNvSpPr txBox="1">
            <a:spLocks/>
          </p:cNvSpPr>
          <p:nvPr/>
        </p:nvSpPr>
        <p:spPr>
          <a:xfrm>
            <a:off x="756698" y="216735"/>
            <a:ext cx="1101018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Determinazione / Recupero CC tipo/reale</a:t>
            </a:r>
            <a:r>
              <a:rPr lang="en-US" dirty="0"/>
              <a:t> – </a:t>
            </a:r>
            <a:r>
              <a:rPr lang="en-US" dirty="0" err="1"/>
              <a:t>dettaglio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4/6</a:t>
            </a:r>
          </a:p>
          <a:p>
            <a:r>
              <a:rPr lang="en-US" sz="2000" dirty="0" err="1"/>
              <a:t>Logiche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Service 1/2: </a:t>
            </a:r>
            <a:r>
              <a:rPr lang="en-US" sz="2000" dirty="0" err="1"/>
              <a:t>determinazione</a:t>
            </a:r>
            <a:r>
              <a:rPr lang="en-US" sz="2000" dirty="0"/>
              <a:t> Macro Org 1</a:t>
            </a:r>
          </a:p>
        </p:txBody>
      </p:sp>
      <p:sp>
        <p:nvSpPr>
          <p:cNvPr id="107" name="Decisione 106"/>
          <p:cNvSpPr/>
          <p:nvPr/>
        </p:nvSpPr>
        <p:spPr>
          <a:xfrm>
            <a:off x="3447504" y="1114462"/>
            <a:ext cx="1560574" cy="873283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Check società </a:t>
            </a:r>
            <a:r>
              <a:rPr lang="it-IT" sz="900" dirty="0" err="1">
                <a:solidFill>
                  <a:schemeClr val="tx1"/>
                </a:solidFill>
              </a:rPr>
              <a:t>bHOL</a:t>
            </a:r>
            <a:r>
              <a:rPr lang="it-IT" sz="900" dirty="0">
                <a:solidFill>
                  <a:schemeClr val="tx1"/>
                </a:solidFill>
              </a:rPr>
              <a:t>/</a:t>
            </a:r>
            <a:r>
              <a:rPr lang="it-IT" sz="900" dirty="0" err="1">
                <a:solidFill>
                  <a:schemeClr val="tx1"/>
                </a:solidFill>
              </a:rPr>
              <a:t>bSER</a:t>
            </a:r>
            <a:endParaRPr lang="it-IT" sz="9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(Tab </a:t>
            </a:r>
            <a:r>
              <a:rPr lang="it-IT" sz="900" dirty="0" err="1">
                <a:solidFill>
                  <a:schemeClr val="tx1"/>
                </a:solidFill>
              </a:rPr>
              <a:t>Entity</a:t>
            </a:r>
            <a:r>
              <a:rPr lang="it-IT" sz="9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0" name="Connettore 2 223"/>
          <p:cNvCxnSpPr>
            <a:cxnSpLocks/>
            <a:stCxn id="107" idx="3"/>
            <a:endCxn id="165" idx="1"/>
          </p:cNvCxnSpPr>
          <p:nvPr/>
        </p:nvCxnSpPr>
        <p:spPr>
          <a:xfrm>
            <a:off x="5008078" y="1551104"/>
            <a:ext cx="788062" cy="5989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Decisione 95"/>
          <p:cNvSpPr/>
          <p:nvPr/>
        </p:nvSpPr>
        <p:spPr>
          <a:xfrm>
            <a:off x="2880562" y="2639564"/>
            <a:ext cx="1813522" cy="1138532"/>
          </a:xfrm>
          <a:prstGeom prst="flowChartDecisi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NPA* =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NPA1=….…..=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NPAn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*= GBL</a:t>
            </a:r>
            <a:r>
              <a:rPr lang="it-IT" sz="800" b="1" dirty="0">
                <a:solidFill>
                  <a:srgbClr val="FF0000"/>
                </a:solidFill>
              </a:rPr>
              <a:t> (*)</a:t>
            </a:r>
            <a:endParaRPr lang="it-IT" sz="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6" name="Decisione 65"/>
          <p:cNvSpPr/>
          <p:nvPr/>
        </p:nvSpPr>
        <p:spPr>
          <a:xfrm>
            <a:off x="6807786" y="3491876"/>
            <a:ext cx="1609039" cy="128892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NPA UO con la società **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(GCO COMPRESA)</a:t>
            </a:r>
          </a:p>
        </p:txBody>
      </p:sp>
      <p:cxnSp>
        <p:nvCxnSpPr>
          <p:cNvPr id="110" name="Connettore 2 223"/>
          <p:cNvCxnSpPr>
            <a:cxnSpLocks/>
            <a:stCxn id="96" idx="3"/>
            <a:endCxn id="67" idx="1"/>
          </p:cNvCxnSpPr>
          <p:nvPr/>
        </p:nvCxnSpPr>
        <p:spPr>
          <a:xfrm>
            <a:off x="4694084" y="3208830"/>
            <a:ext cx="415508" cy="553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asellaDiTesto 112"/>
          <p:cNvSpPr txBox="1"/>
          <p:nvPr/>
        </p:nvSpPr>
        <p:spPr>
          <a:xfrm>
            <a:off x="4503720" y="2840553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OK</a:t>
            </a:r>
          </a:p>
        </p:txBody>
      </p:sp>
      <p:sp>
        <p:nvSpPr>
          <p:cNvPr id="120" name="CasellaDiTesto 119"/>
          <p:cNvSpPr txBox="1"/>
          <p:nvPr/>
        </p:nvSpPr>
        <p:spPr>
          <a:xfrm>
            <a:off x="3442959" y="4341752"/>
            <a:ext cx="43326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KO</a:t>
            </a:r>
          </a:p>
        </p:txBody>
      </p:sp>
      <p:sp>
        <p:nvSpPr>
          <p:cNvPr id="70" name="Rettangolo 69"/>
          <p:cNvSpPr/>
          <p:nvPr/>
        </p:nvSpPr>
        <p:spPr>
          <a:xfrm>
            <a:off x="5886707" y="3833734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sp>
        <p:nvSpPr>
          <p:cNvPr id="81" name="Decisione 80"/>
          <p:cNvSpPr/>
          <p:nvPr/>
        </p:nvSpPr>
        <p:spPr>
          <a:xfrm>
            <a:off x="8957341" y="3388645"/>
            <a:ext cx="1743231" cy="149847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Se NPA GBL = </a:t>
            </a:r>
            <a:r>
              <a:rPr lang="it-IT" sz="900" dirty="0" err="1">
                <a:solidFill>
                  <a:schemeClr val="tx1"/>
                </a:solidFill>
              </a:rPr>
              <a:t>Multibsn</a:t>
            </a:r>
            <a:r>
              <a:rPr lang="it-IT" sz="900" dirty="0">
                <a:solidFill>
                  <a:schemeClr val="tx1"/>
                </a:solidFill>
              </a:rPr>
              <a:t>-line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  <a:highlight>
                  <a:srgbClr val="FFFF00"/>
                </a:highlight>
              </a:rPr>
              <a:t>Solo OU </a:t>
            </a:r>
            <a:r>
              <a:rPr lang="it-IT" sz="900" dirty="0" err="1">
                <a:solidFill>
                  <a:schemeClr val="tx1"/>
                </a:solidFill>
                <a:highlight>
                  <a:srgbClr val="FFFF00"/>
                </a:highlight>
              </a:rPr>
              <a:t>Type</a:t>
            </a:r>
            <a:r>
              <a:rPr lang="it-IT" sz="900" dirty="0">
                <a:solidFill>
                  <a:schemeClr val="tx1"/>
                </a:solidFill>
                <a:highlight>
                  <a:srgbClr val="FFFF00"/>
                </a:highlight>
              </a:rPr>
              <a:t> 30 (NO GCO)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dirty="0">
              <a:solidFill>
                <a:schemeClr val="tx1"/>
              </a:solidFill>
            </a:endParaRPr>
          </a:p>
        </p:txBody>
      </p:sp>
      <p:sp>
        <p:nvSpPr>
          <p:cNvPr id="88" name="Rettangolo arrotondato 87"/>
          <p:cNvSpPr/>
          <p:nvPr/>
        </p:nvSpPr>
        <p:spPr>
          <a:xfrm>
            <a:off x="9885808" y="1649121"/>
            <a:ext cx="2069815" cy="14255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Per GCO = GBL Customer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prec)</a:t>
            </a:r>
          </a:p>
        </p:txBody>
      </p:sp>
      <p:cxnSp>
        <p:nvCxnSpPr>
          <p:cNvPr id="94" name="Connettore 2 223"/>
          <p:cNvCxnSpPr>
            <a:cxnSpLocks/>
            <a:stCxn id="81" idx="3"/>
            <a:endCxn id="88" idx="2"/>
          </p:cNvCxnSpPr>
          <p:nvPr/>
        </p:nvCxnSpPr>
        <p:spPr>
          <a:xfrm flipV="1">
            <a:off x="10700572" y="3074634"/>
            <a:ext cx="220144" cy="106324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arrotondato 101"/>
          <p:cNvSpPr/>
          <p:nvPr/>
        </p:nvSpPr>
        <p:spPr>
          <a:xfrm>
            <a:off x="5570096" y="5958381"/>
            <a:ext cx="2226022" cy="50775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bSER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</a:t>
            </a:r>
          </a:p>
        </p:txBody>
      </p:sp>
      <p:sp>
        <p:nvSpPr>
          <p:cNvPr id="103" name="Decisione 102"/>
          <p:cNvSpPr/>
          <p:nvPr/>
        </p:nvSpPr>
        <p:spPr>
          <a:xfrm>
            <a:off x="6036198" y="4658664"/>
            <a:ext cx="1298076" cy="108492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bSER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e società</a:t>
            </a:r>
          </a:p>
        </p:txBody>
      </p:sp>
      <p:sp>
        <p:nvSpPr>
          <p:cNvPr id="105" name="CasellaDiTesto 104"/>
          <p:cNvSpPr txBox="1"/>
          <p:nvPr/>
        </p:nvSpPr>
        <p:spPr>
          <a:xfrm>
            <a:off x="6368727" y="5758680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OK</a:t>
            </a:r>
          </a:p>
        </p:txBody>
      </p:sp>
      <p:sp>
        <p:nvSpPr>
          <p:cNvPr id="116" name="Rettangolo 115"/>
          <p:cNvSpPr/>
          <p:nvPr/>
        </p:nvSpPr>
        <p:spPr>
          <a:xfrm>
            <a:off x="5904556" y="2479573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cxnSp>
        <p:nvCxnSpPr>
          <p:cNvPr id="122" name="Connettore 2 223"/>
          <p:cNvCxnSpPr>
            <a:cxnSpLocks/>
            <a:stCxn id="103" idx="2"/>
            <a:endCxn id="102" idx="0"/>
          </p:cNvCxnSpPr>
          <p:nvPr/>
        </p:nvCxnSpPr>
        <p:spPr>
          <a:xfrm rot="5400000">
            <a:off x="6576777" y="5849922"/>
            <a:ext cx="214790" cy="212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ttore 2 223"/>
          <p:cNvCxnSpPr>
            <a:cxnSpLocks/>
            <a:stCxn id="103" idx="1"/>
            <a:endCxn id="60" idx="3"/>
          </p:cNvCxnSpPr>
          <p:nvPr/>
        </p:nvCxnSpPr>
        <p:spPr>
          <a:xfrm rot="10800000" flipV="1">
            <a:off x="5137836" y="5201128"/>
            <a:ext cx="898363" cy="42897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ttangolo 127"/>
          <p:cNvSpPr/>
          <p:nvPr/>
        </p:nvSpPr>
        <p:spPr>
          <a:xfrm>
            <a:off x="5191303" y="5359188"/>
            <a:ext cx="44198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143" name="Connettore 2 142"/>
          <p:cNvCxnSpPr>
            <a:cxnSpLocks/>
          </p:cNvCxnSpPr>
          <p:nvPr/>
        </p:nvCxnSpPr>
        <p:spPr>
          <a:xfrm>
            <a:off x="11937039" y="2204205"/>
            <a:ext cx="297781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/>
          <p:cNvCxnSpPr>
            <a:stCxn id="102" idx="3"/>
          </p:cNvCxnSpPr>
          <p:nvPr/>
        </p:nvCxnSpPr>
        <p:spPr>
          <a:xfrm>
            <a:off x="7796118" y="6212260"/>
            <a:ext cx="272926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ttangolo arrotondato 164"/>
          <p:cNvSpPr/>
          <p:nvPr/>
        </p:nvSpPr>
        <p:spPr>
          <a:xfrm>
            <a:off x="5796140" y="1267051"/>
            <a:ext cx="1560574" cy="6878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bSER</a:t>
            </a:r>
            <a:r>
              <a:rPr lang="it-IT" sz="1000" dirty="0">
                <a:solidFill>
                  <a:schemeClr val="tx1"/>
                </a:solidFill>
              </a:rPr>
              <a:t>/</a:t>
            </a:r>
            <a:r>
              <a:rPr lang="it-IT" sz="1000" dirty="0" err="1">
                <a:solidFill>
                  <a:schemeClr val="tx1"/>
                </a:solidFill>
              </a:rPr>
              <a:t>bHOL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</a:t>
            </a:r>
          </a:p>
        </p:txBody>
      </p:sp>
      <p:sp>
        <p:nvSpPr>
          <p:cNvPr id="56" name="Decisione 55"/>
          <p:cNvSpPr/>
          <p:nvPr/>
        </p:nvSpPr>
        <p:spPr>
          <a:xfrm>
            <a:off x="3811516" y="4136336"/>
            <a:ext cx="1298076" cy="75829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 = null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247776" y="5188056"/>
            <a:ext cx="2314698" cy="6359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GBL </a:t>
            </a:r>
            <a:r>
              <a:rPr lang="it-IT" sz="1000" dirty="0" err="1">
                <a:solidFill>
                  <a:schemeClr val="tx1"/>
                </a:solidFill>
              </a:rPr>
              <a:t>Prevalent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prec)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cxnSp>
        <p:nvCxnSpPr>
          <p:cNvPr id="77" name="Connettore 2 223"/>
          <p:cNvCxnSpPr>
            <a:cxnSpLocks/>
            <a:stCxn id="56" idx="3"/>
            <a:endCxn id="103" idx="0"/>
          </p:cNvCxnSpPr>
          <p:nvPr/>
        </p:nvCxnSpPr>
        <p:spPr>
          <a:xfrm>
            <a:off x="5109592" y="4515483"/>
            <a:ext cx="1575644" cy="143181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ttangolo arrotondato 59"/>
          <p:cNvSpPr/>
          <p:nvPr/>
        </p:nvSpPr>
        <p:spPr>
          <a:xfrm>
            <a:off x="3222917" y="5376225"/>
            <a:ext cx="1914918" cy="50775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Gbl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prevalent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</a:t>
            </a:r>
          </a:p>
        </p:txBody>
      </p:sp>
      <p:sp>
        <p:nvSpPr>
          <p:cNvPr id="62" name="Rettangolo arrotondato 57">
            <a:extLst>
              <a:ext uri="{FF2B5EF4-FFF2-40B4-BE49-F238E27FC236}">
                <a16:creationId xmlns:a16="http://schemas.microsoft.com/office/drawing/2014/main" id="{AAD71F45-8F79-4EFC-8BD4-E66E08F9EE27}"/>
              </a:ext>
            </a:extLst>
          </p:cNvPr>
          <p:cNvSpPr/>
          <p:nvPr/>
        </p:nvSpPr>
        <p:spPr>
          <a:xfrm>
            <a:off x="6854557" y="2114684"/>
            <a:ext cx="1644028" cy="56226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b="1" dirty="0">
                <a:solidFill>
                  <a:schemeClr val="tx1"/>
                </a:solidFill>
              </a:rPr>
              <a:t>MacroOrg1 = MULTI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(BGEN/BREN,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BREL/T BESL/O e BMOB)</a:t>
            </a:r>
          </a:p>
        </p:txBody>
      </p:sp>
      <p:sp>
        <p:nvSpPr>
          <p:cNvPr id="67" name="Decisione 66">
            <a:extLst>
              <a:ext uri="{FF2B5EF4-FFF2-40B4-BE49-F238E27FC236}">
                <a16:creationId xmlns:a16="http://schemas.microsoft.com/office/drawing/2014/main" id="{408E8F1A-AA4D-487C-B0EB-F810E2988750}"/>
              </a:ext>
            </a:extLst>
          </p:cNvPr>
          <p:cNvSpPr/>
          <p:nvPr/>
        </p:nvSpPr>
        <p:spPr>
          <a:xfrm>
            <a:off x="5109592" y="2621929"/>
            <a:ext cx="1611058" cy="1184865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MultiGBL</a:t>
            </a:r>
            <a:endParaRPr lang="it-IT" sz="8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dirty="0">
                <a:solidFill>
                  <a:schemeClr val="accent1">
                    <a:lumMod val="50000"/>
                  </a:schemeClr>
                </a:solidFill>
              </a:rPr>
              <a:t>Tab </a:t>
            </a:r>
            <a:r>
              <a:rPr lang="it-IT" sz="800" dirty="0" err="1">
                <a:solidFill>
                  <a:schemeClr val="accent1">
                    <a:lumMod val="50000"/>
                  </a:schemeClr>
                </a:solidFill>
              </a:rPr>
              <a:t>Exceptiontable</a:t>
            </a:r>
            <a:endParaRPr lang="it-IT" sz="800" dirty="0">
              <a:solidFill>
                <a:schemeClr val="accent1">
                  <a:lumMod val="50000"/>
                </a:schemeClr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dirty="0">
                <a:solidFill>
                  <a:schemeClr val="accent1">
                    <a:lumMod val="50000"/>
                  </a:schemeClr>
                </a:solidFill>
              </a:rPr>
              <a:t> (GPG, </a:t>
            </a:r>
            <a:r>
              <a:rPr lang="it-IT" sz="800" dirty="0" err="1">
                <a:solidFill>
                  <a:schemeClr val="accent1">
                    <a:lumMod val="50000"/>
                  </a:schemeClr>
                </a:solidFill>
              </a:rPr>
              <a:t>EnelX</a:t>
            </a:r>
            <a:r>
              <a:rPr lang="it-IT" sz="8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85" name="Connettore 2 223">
            <a:extLst>
              <a:ext uri="{FF2B5EF4-FFF2-40B4-BE49-F238E27FC236}">
                <a16:creationId xmlns:a16="http://schemas.microsoft.com/office/drawing/2014/main" id="{47EECFA5-A6F2-457C-9EEF-7E840BC19D3A}"/>
              </a:ext>
            </a:extLst>
          </p:cNvPr>
          <p:cNvCxnSpPr>
            <a:cxnSpLocks/>
            <a:stCxn id="67" idx="2"/>
            <a:endCxn id="66" idx="1"/>
          </p:cNvCxnSpPr>
          <p:nvPr/>
        </p:nvCxnSpPr>
        <p:spPr>
          <a:xfrm rot="16200000" flipH="1">
            <a:off x="6196682" y="3525232"/>
            <a:ext cx="329542" cy="892665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2 223">
            <a:extLst>
              <a:ext uri="{FF2B5EF4-FFF2-40B4-BE49-F238E27FC236}">
                <a16:creationId xmlns:a16="http://schemas.microsoft.com/office/drawing/2014/main" id="{AC6DBE40-029A-4608-A678-D39C1220BADA}"/>
              </a:ext>
            </a:extLst>
          </p:cNvPr>
          <p:cNvCxnSpPr>
            <a:cxnSpLocks/>
            <a:stCxn id="67" idx="0"/>
            <a:endCxn id="62" idx="1"/>
          </p:cNvCxnSpPr>
          <p:nvPr/>
        </p:nvCxnSpPr>
        <p:spPr>
          <a:xfrm rot="5400000" flipH="1" flipV="1">
            <a:off x="6271782" y="2039154"/>
            <a:ext cx="226114" cy="939436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223">
            <a:extLst>
              <a:ext uri="{FF2B5EF4-FFF2-40B4-BE49-F238E27FC236}">
                <a16:creationId xmlns:a16="http://schemas.microsoft.com/office/drawing/2014/main" id="{C931D885-686B-4845-9AC3-1D8578566E74}"/>
              </a:ext>
            </a:extLst>
          </p:cNvPr>
          <p:cNvCxnSpPr>
            <a:cxnSpLocks/>
            <a:stCxn id="66" idx="3"/>
            <a:endCxn id="81" idx="1"/>
          </p:cNvCxnSpPr>
          <p:nvPr/>
        </p:nvCxnSpPr>
        <p:spPr>
          <a:xfrm>
            <a:off x="8416825" y="4136336"/>
            <a:ext cx="540516" cy="15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00966420-5DB4-458B-98D6-7CF74C01EB9C}"/>
              </a:ext>
            </a:extLst>
          </p:cNvPr>
          <p:cNvSpPr txBox="1"/>
          <p:nvPr/>
        </p:nvSpPr>
        <p:spPr>
          <a:xfrm>
            <a:off x="5062468" y="4268992"/>
            <a:ext cx="2576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OK</a:t>
            </a:r>
          </a:p>
        </p:txBody>
      </p:sp>
      <p:sp>
        <p:nvSpPr>
          <p:cNvPr id="68" name="Decisione 102"/>
          <p:cNvSpPr/>
          <p:nvPr/>
        </p:nvSpPr>
        <p:spPr>
          <a:xfrm>
            <a:off x="2149420" y="3997668"/>
            <a:ext cx="1298076" cy="1084927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tra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bSER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 e società</a:t>
            </a:r>
          </a:p>
        </p:txBody>
      </p:sp>
      <p:sp>
        <p:nvSpPr>
          <p:cNvPr id="71" name="Rettangolo 127"/>
          <p:cNvSpPr/>
          <p:nvPr/>
        </p:nvSpPr>
        <p:spPr>
          <a:xfrm>
            <a:off x="2805743" y="5376763"/>
            <a:ext cx="44198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8" name="Elbow Connector 7"/>
          <p:cNvCxnSpPr>
            <a:cxnSpLocks/>
            <a:stCxn id="68" idx="2"/>
            <a:endCxn id="58" idx="3"/>
          </p:cNvCxnSpPr>
          <p:nvPr/>
        </p:nvCxnSpPr>
        <p:spPr>
          <a:xfrm rot="5400000">
            <a:off x="2468739" y="5176330"/>
            <a:ext cx="423455" cy="23598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tangolo arrotondato 101"/>
          <p:cNvSpPr/>
          <p:nvPr/>
        </p:nvSpPr>
        <p:spPr>
          <a:xfrm>
            <a:off x="273166" y="4095603"/>
            <a:ext cx="1436597" cy="8858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  <a:r>
              <a:rPr lang="it-IT" sz="1000" dirty="0" err="1">
                <a:solidFill>
                  <a:schemeClr val="tx1"/>
                </a:solidFill>
              </a:rPr>
              <a:t>bSER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Perimetro = perimetro società AFC (se non definito in prec)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cxnSp>
        <p:nvCxnSpPr>
          <p:cNvPr id="13" name="Elbow Connector 12"/>
          <p:cNvCxnSpPr>
            <a:cxnSpLocks/>
            <a:stCxn id="56" idx="1"/>
            <a:endCxn id="68" idx="3"/>
          </p:cNvCxnSpPr>
          <p:nvPr/>
        </p:nvCxnSpPr>
        <p:spPr>
          <a:xfrm rot="10800000" flipV="1">
            <a:off x="3447496" y="4515482"/>
            <a:ext cx="364020" cy="2464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cxnSpLocks/>
            <a:stCxn id="68" idx="1"/>
            <a:endCxn id="75" idx="3"/>
          </p:cNvCxnSpPr>
          <p:nvPr/>
        </p:nvCxnSpPr>
        <p:spPr>
          <a:xfrm rot="10800000">
            <a:off x="1709764" y="4538516"/>
            <a:ext cx="439657" cy="161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sellaDiTesto 104"/>
          <p:cNvSpPr txBox="1"/>
          <p:nvPr/>
        </p:nvSpPr>
        <p:spPr>
          <a:xfrm>
            <a:off x="1674440" y="4340007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OK</a:t>
            </a:r>
          </a:p>
        </p:txBody>
      </p:sp>
      <p:cxnSp>
        <p:nvCxnSpPr>
          <p:cNvPr id="89" name="Connettore 2 63"/>
          <p:cNvCxnSpPr>
            <a:stCxn id="58" idx="1"/>
          </p:cNvCxnSpPr>
          <p:nvPr/>
        </p:nvCxnSpPr>
        <p:spPr>
          <a:xfrm flipH="1">
            <a:off x="-21665" y="5506050"/>
            <a:ext cx="269441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63"/>
          <p:cNvCxnSpPr/>
          <p:nvPr/>
        </p:nvCxnSpPr>
        <p:spPr>
          <a:xfrm flipH="1">
            <a:off x="0" y="4609826"/>
            <a:ext cx="269441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cxnSpLocks/>
            <a:stCxn id="96" idx="2"/>
            <a:endCxn id="56" idx="0"/>
          </p:cNvCxnSpPr>
          <p:nvPr/>
        </p:nvCxnSpPr>
        <p:spPr>
          <a:xfrm rot="16200000" flipH="1">
            <a:off x="3944818" y="3620600"/>
            <a:ext cx="358240" cy="673231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tangolo 81">
            <a:extLst>
              <a:ext uri="{FF2B5EF4-FFF2-40B4-BE49-F238E27FC236}">
                <a16:creationId xmlns:a16="http://schemas.microsoft.com/office/drawing/2014/main" id="{B93CF81C-7D28-418C-ABF8-ECDF75B4547A}"/>
              </a:ext>
            </a:extLst>
          </p:cNvPr>
          <p:cNvSpPr/>
          <p:nvPr/>
        </p:nvSpPr>
        <p:spPr>
          <a:xfrm>
            <a:off x="99168" y="6560307"/>
            <a:ext cx="12191969" cy="21698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** Società con Perimetro = LAM e NPA= Market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Macro Org1 =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bREL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, altrimenti BRET, Società con Perimetro = LAM e NPA= Enel X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Macro Org1 =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bESL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altrimenti BESO</a:t>
            </a:r>
          </a:p>
        </p:txBody>
      </p:sp>
      <p:cxnSp>
        <p:nvCxnSpPr>
          <p:cNvPr id="84" name="Connettore a gomito 83">
            <a:extLst>
              <a:ext uri="{FF2B5EF4-FFF2-40B4-BE49-F238E27FC236}">
                <a16:creationId xmlns:a16="http://schemas.microsoft.com/office/drawing/2014/main" id="{57DCE94F-F4C2-4009-8723-1CD4EC66FF1D}"/>
              </a:ext>
            </a:extLst>
          </p:cNvPr>
          <p:cNvCxnSpPr>
            <a:cxnSpLocks/>
            <a:stCxn id="107" idx="2"/>
            <a:endCxn id="96" idx="0"/>
          </p:cNvCxnSpPr>
          <p:nvPr/>
        </p:nvCxnSpPr>
        <p:spPr>
          <a:xfrm rot="5400000">
            <a:off x="3681648" y="2093420"/>
            <a:ext cx="651819" cy="44046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ttangolo arrotondato 57">
            <a:extLst>
              <a:ext uri="{FF2B5EF4-FFF2-40B4-BE49-F238E27FC236}">
                <a16:creationId xmlns:a16="http://schemas.microsoft.com/office/drawing/2014/main" id="{3362D64B-4405-45E0-9E48-3A166FA2A1BA}"/>
              </a:ext>
            </a:extLst>
          </p:cNvPr>
          <p:cNvSpPr/>
          <p:nvPr/>
        </p:nvSpPr>
        <p:spPr>
          <a:xfrm>
            <a:off x="8027276" y="2955054"/>
            <a:ext cx="1071692" cy="48599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GBL </a:t>
            </a:r>
            <a:r>
              <a:rPr lang="it-IT" sz="1000" dirty="0" err="1">
                <a:solidFill>
                  <a:schemeClr val="tx1"/>
                </a:solidFill>
              </a:rPr>
              <a:t>Prevalent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11" name="Rettangolo 87">
            <a:extLst>
              <a:ext uri="{FF2B5EF4-FFF2-40B4-BE49-F238E27FC236}">
                <a16:creationId xmlns:a16="http://schemas.microsoft.com/office/drawing/2014/main" id="{C6C5900F-5432-477D-BBD2-AC0F99AE310C}"/>
              </a:ext>
            </a:extLst>
          </p:cNvPr>
          <p:cNvSpPr/>
          <p:nvPr/>
        </p:nvSpPr>
        <p:spPr>
          <a:xfrm rot="10800000" flipV="1">
            <a:off x="132757" y="5891415"/>
            <a:ext cx="4929710" cy="65325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rgbClr val="FF0000"/>
                </a:solidFill>
              </a:rPr>
              <a:t>(*)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NPA di Business Line con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Father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Code = 30-xx (AFC MacroOrg1) oppure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NPA di Service con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Father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Code = 31-04 GCO  (GBL Customer</a:t>
            </a:r>
            <a:r>
              <a:rPr lang="it-IT" sz="1000" b="1" dirty="0">
                <a:solidFill>
                  <a:schemeClr val="accent1">
                    <a:lumMod val="50000"/>
                  </a:schemeClr>
                </a:solidFill>
              </a:rPr>
              <a:t>)  oppure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00" b="1" dirty="0">
                <a:solidFill>
                  <a:schemeClr val="accent1">
                    <a:lumMod val="50000"/>
                  </a:schemeClr>
                </a:solidFill>
              </a:rPr>
              <a:t>NPA di Service con Object </a:t>
            </a:r>
            <a:r>
              <a:rPr lang="it-IT" sz="1000" b="1" dirty="0" err="1">
                <a:solidFill>
                  <a:schemeClr val="accent1">
                    <a:lumMod val="50000"/>
                  </a:schemeClr>
                </a:solidFill>
              </a:rPr>
              <a:t>Type</a:t>
            </a:r>
            <a:r>
              <a:rPr lang="it-IT" sz="1000" b="1" dirty="0">
                <a:solidFill>
                  <a:schemeClr val="accent1">
                    <a:lumMod val="50000"/>
                  </a:schemeClr>
                </a:solidFill>
              </a:rPr>
              <a:t> = 31 AND Object Abbr che inizia con 0503 ((GBL Customer) </a:t>
            </a:r>
          </a:p>
        </p:txBody>
      </p:sp>
      <p:cxnSp>
        <p:nvCxnSpPr>
          <p:cNvPr id="134" name="Connettore 2 63">
            <a:extLst>
              <a:ext uri="{FF2B5EF4-FFF2-40B4-BE49-F238E27FC236}">
                <a16:creationId xmlns:a16="http://schemas.microsoft.com/office/drawing/2014/main" id="{4FAFAD1F-0594-4785-8435-AAD1D79FABE0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2562474" y="5630104"/>
            <a:ext cx="660443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ttangolo 87">
            <a:extLst>
              <a:ext uri="{FF2B5EF4-FFF2-40B4-BE49-F238E27FC236}">
                <a16:creationId xmlns:a16="http://schemas.microsoft.com/office/drawing/2014/main" id="{7427F5B4-B43A-4B5C-83BB-EF02FF0C2985}"/>
              </a:ext>
            </a:extLst>
          </p:cNvPr>
          <p:cNvSpPr/>
          <p:nvPr/>
        </p:nvSpPr>
        <p:spPr>
          <a:xfrm rot="10800000" flipV="1">
            <a:off x="8938413" y="6071438"/>
            <a:ext cx="3073721" cy="3416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Dopo NPA = Null nel caso OK e nel caso KO l’algoritmo è identico</a:t>
            </a:r>
          </a:p>
        </p:txBody>
      </p:sp>
      <p:sp>
        <p:nvSpPr>
          <p:cNvPr id="109" name="CasellaDiTesto 96">
            <a:extLst>
              <a:ext uri="{FF2B5EF4-FFF2-40B4-BE49-F238E27FC236}">
                <a16:creationId xmlns:a16="http://schemas.microsoft.com/office/drawing/2014/main" id="{9AFAF240-747D-3974-4398-DA0F91BF9DCC}"/>
              </a:ext>
            </a:extLst>
          </p:cNvPr>
          <p:cNvSpPr txBox="1"/>
          <p:nvPr/>
        </p:nvSpPr>
        <p:spPr>
          <a:xfrm>
            <a:off x="3986444" y="3705541"/>
            <a:ext cx="4100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KO</a:t>
            </a:r>
          </a:p>
        </p:txBody>
      </p:sp>
      <p:sp>
        <p:nvSpPr>
          <p:cNvPr id="141" name="CasellaDiTesto 104">
            <a:extLst>
              <a:ext uri="{FF2B5EF4-FFF2-40B4-BE49-F238E27FC236}">
                <a16:creationId xmlns:a16="http://schemas.microsoft.com/office/drawing/2014/main" id="{4F5C94F7-BBFB-FB43-282A-90095073BCA6}"/>
              </a:ext>
            </a:extLst>
          </p:cNvPr>
          <p:cNvSpPr txBox="1"/>
          <p:nvPr/>
        </p:nvSpPr>
        <p:spPr>
          <a:xfrm>
            <a:off x="8528342" y="3691987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OK</a:t>
            </a:r>
          </a:p>
        </p:txBody>
      </p:sp>
      <p:sp>
        <p:nvSpPr>
          <p:cNvPr id="142" name="Rettangolo 115">
            <a:extLst>
              <a:ext uri="{FF2B5EF4-FFF2-40B4-BE49-F238E27FC236}">
                <a16:creationId xmlns:a16="http://schemas.microsoft.com/office/drawing/2014/main" id="{620D61B0-7331-F2BA-BB2B-AF2731692E83}"/>
              </a:ext>
            </a:extLst>
          </p:cNvPr>
          <p:cNvSpPr/>
          <p:nvPr/>
        </p:nvSpPr>
        <p:spPr>
          <a:xfrm>
            <a:off x="5263364" y="1306170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sp>
        <p:nvSpPr>
          <p:cNvPr id="144" name="Rettangolo 69">
            <a:extLst>
              <a:ext uri="{FF2B5EF4-FFF2-40B4-BE49-F238E27FC236}">
                <a16:creationId xmlns:a16="http://schemas.microsoft.com/office/drawing/2014/main" id="{406001EC-373D-4F27-1EC3-20BE9F71D061}"/>
              </a:ext>
            </a:extLst>
          </p:cNvPr>
          <p:cNvSpPr/>
          <p:nvPr/>
        </p:nvSpPr>
        <p:spPr>
          <a:xfrm>
            <a:off x="3749966" y="2088789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sp>
        <p:nvSpPr>
          <p:cNvPr id="147" name="Rettangolo 69">
            <a:extLst>
              <a:ext uri="{FF2B5EF4-FFF2-40B4-BE49-F238E27FC236}">
                <a16:creationId xmlns:a16="http://schemas.microsoft.com/office/drawing/2014/main" id="{E407C70C-2E44-798E-6FDD-C3B40BEA656D}"/>
              </a:ext>
            </a:extLst>
          </p:cNvPr>
          <p:cNvSpPr/>
          <p:nvPr/>
        </p:nvSpPr>
        <p:spPr>
          <a:xfrm>
            <a:off x="10520503" y="3625582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981CA49C-50DE-BECB-4B06-D822FC0E82E4}"/>
              </a:ext>
            </a:extLst>
          </p:cNvPr>
          <p:cNvCxnSpPr>
            <a:stCxn id="81" idx="2"/>
            <a:endCxn id="103" idx="3"/>
          </p:cNvCxnSpPr>
          <p:nvPr/>
        </p:nvCxnSpPr>
        <p:spPr>
          <a:xfrm rot="5400000">
            <a:off x="8424611" y="3796781"/>
            <a:ext cx="314011" cy="249468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ttangolo 69">
            <a:extLst>
              <a:ext uri="{FF2B5EF4-FFF2-40B4-BE49-F238E27FC236}">
                <a16:creationId xmlns:a16="http://schemas.microsoft.com/office/drawing/2014/main" id="{860C3493-4623-3358-8FFA-D0E989CB7B6B}"/>
              </a:ext>
            </a:extLst>
          </p:cNvPr>
          <p:cNvSpPr/>
          <p:nvPr/>
        </p:nvSpPr>
        <p:spPr>
          <a:xfrm>
            <a:off x="9462524" y="4833745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OK</a:t>
            </a:r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0ED935B5-FD93-B2D5-029D-327CFC3D7C0E}"/>
              </a:ext>
            </a:extLst>
          </p:cNvPr>
          <p:cNvCxnSpPr>
            <a:stCxn id="66" idx="0"/>
            <a:endCxn id="92" idx="1"/>
          </p:cNvCxnSpPr>
          <p:nvPr/>
        </p:nvCxnSpPr>
        <p:spPr>
          <a:xfrm rot="5400000" flipH="1" flipV="1">
            <a:off x="7672879" y="3137479"/>
            <a:ext cx="293824" cy="41497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ttangolo 69">
            <a:extLst>
              <a:ext uri="{FF2B5EF4-FFF2-40B4-BE49-F238E27FC236}">
                <a16:creationId xmlns:a16="http://schemas.microsoft.com/office/drawing/2014/main" id="{0051020D-B364-5AB4-9639-5964E99D1DCE}"/>
              </a:ext>
            </a:extLst>
          </p:cNvPr>
          <p:cNvSpPr/>
          <p:nvPr/>
        </p:nvSpPr>
        <p:spPr>
          <a:xfrm>
            <a:off x="7577973" y="3217206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87DBC8AF-A15A-395F-332E-4137DEDDF1A2}"/>
              </a:ext>
            </a:extLst>
          </p:cNvPr>
          <p:cNvCxnSpPr>
            <a:cxnSpLocks/>
          </p:cNvCxnSpPr>
          <p:nvPr/>
        </p:nvCxnSpPr>
        <p:spPr>
          <a:xfrm rot="5400000">
            <a:off x="6991934" y="3030498"/>
            <a:ext cx="1003829" cy="319148"/>
          </a:xfrm>
          <a:prstGeom prst="bentConnector3">
            <a:avLst>
              <a:gd name="adj1" fmla="val 30004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arrotondato 77">
            <a:extLst>
              <a:ext uri="{FF2B5EF4-FFF2-40B4-BE49-F238E27FC236}">
                <a16:creationId xmlns:a16="http://schemas.microsoft.com/office/drawing/2014/main" id="{0252DB17-B0AB-14FE-7013-BAAD71F540F7}"/>
              </a:ext>
            </a:extLst>
          </p:cNvPr>
          <p:cNvSpPr/>
          <p:nvPr/>
        </p:nvSpPr>
        <p:spPr>
          <a:xfrm>
            <a:off x="105024" y="1596468"/>
            <a:ext cx="14828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00" name="Connettore 2 223">
            <a:extLst>
              <a:ext uri="{FF2B5EF4-FFF2-40B4-BE49-F238E27FC236}">
                <a16:creationId xmlns:a16="http://schemas.microsoft.com/office/drawing/2014/main" id="{28E0ACF3-632A-9A7E-6683-1CE999E5DA97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rot="5400000">
            <a:off x="713025" y="2091954"/>
            <a:ext cx="265755" cy="112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ecisione 106">
            <a:extLst>
              <a:ext uri="{FF2B5EF4-FFF2-40B4-BE49-F238E27FC236}">
                <a16:creationId xmlns:a16="http://schemas.microsoft.com/office/drawing/2014/main" id="{E052B884-2895-7F67-DE77-A872CC7D300E}"/>
              </a:ext>
            </a:extLst>
          </p:cNvPr>
          <p:cNvSpPr/>
          <p:nvPr/>
        </p:nvSpPr>
        <p:spPr>
          <a:xfrm>
            <a:off x="216855" y="2225393"/>
            <a:ext cx="1256971" cy="678873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 err="1">
                <a:solidFill>
                  <a:schemeClr val="tx1"/>
                </a:solidFill>
              </a:rPr>
              <a:t>Perimetr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  <a:r>
              <a:rPr lang="it-IT" sz="900" dirty="0" err="1">
                <a:solidFill>
                  <a:schemeClr val="tx1"/>
                </a:solidFill>
              </a:rPr>
              <a:t>is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  <a:r>
              <a:rPr lang="it-IT" sz="900" dirty="0" err="1">
                <a:solidFill>
                  <a:schemeClr val="tx1"/>
                </a:solidFill>
              </a:rPr>
              <a:t>Latam</a:t>
            </a:r>
            <a:endParaRPr lang="it-IT" sz="900" dirty="0">
              <a:solidFill>
                <a:schemeClr val="tx1"/>
              </a:solidFill>
            </a:endParaRPr>
          </a:p>
        </p:txBody>
      </p:sp>
      <p:sp>
        <p:nvSpPr>
          <p:cNvPr id="104" name="Rettangolo arrotondato 77">
            <a:extLst>
              <a:ext uri="{FF2B5EF4-FFF2-40B4-BE49-F238E27FC236}">
                <a16:creationId xmlns:a16="http://schemas.microsoft.com/office/drawing/2014/main" id="{67A24221-C831-8625-27C5-C5BCB6289ADD}"/>
              </a:ext>
            </a:extLst>
          </p:cNvPr>
          <p:cNvSpPr/>
          <p:nvPr/>
        </p:nvSpPr>
        <p:spPr>
          <a:xfrm>
            <a:off x="1698735" y="2028766"/>
            <a:ext cx="11212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Mercato -&gt; bRET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Enel X -&gt; bESO</a:t>
            </a:r>
          </a:p>
        </p:txBody>
      </p:sp>
      <p:cxnSp>
        <p:nvCxnSpPr>
          <p:cNvPr id="106" name="Connettore 2 78">
            <a:extLst>
              <a:ext uri="{FF2B5EF4-FFF2-40B4-BE49-F238E27FC236}">
                <a16:creationId xmlns:a16="http://schemas.microsoft.com/office/drawing/2014/main" id="{A1381DEB-DC4F-8BC1-8676-F5C8E1E3E840}"/>
              </a:ext>
            </a:extLst>
          </p:cNvPr>
          <p:cNvCxnSpPr>
            <a:cxnSpLocks/>
            <a:stCxn id="101" idx="3"/>
            <a:endCxn id="117" idx="1"/>
          </p:cNvCxnSpPr>
          <p:nvPr/>
        </p:nvCxnSpPr>
        <p:spPr>
          <a:xfrm>
            <a:off x="1473826" y="2564830"/>
            <a:ext cx="192108" cy="43517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ttangolo 59">
            <a:extLst>
              <a:ext uri="{FF2B5EF4-FFF2-40B4-BE49-F238E27FC236}">
                <a16:creationId xmlns:a16="http://schemas.microsoft.com/office/drawing/2014/main" id="{C17BACE4-B3F4-B604-555F-C81CC0183D34}"/>
              </a:ext>
            </a:extLst>
          </p:cNvPr>
          <p:cNvSpPr/>
          <p:nvPr/>
        </p:nvSpPr>
        <p:spPr>
          <a:xfrm>
            <a:off x="1137829" y="2040394"/>
            <a:ext cx="3595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NO</a:t>
            </a:r>
          </a:p>
        </p:txBody>
      </p:sp>
      <p:sp>
        <p:nvSpPr>
          <p:cNvPr id="115" name="Rettangolo 59">
            <a:extLst>
              <a:ext uri="{FF2B5EF4-FFF2-40B4-BE49-F238E27FC236}">
                <a16:creationId xmlns:a16="http://schemas.microsoft.com/office/drawing/2014/main" id="{B4A712D6-C433-7918-59CC-05EB9AF743F9}"/>
              </a:ext>
            </a:extLst>
          </p:cNvPr>
          <p:cNvSpPr/>
          <p:nvPr/>
        </p:nvSpPr>
        <p:spPr>
          <a:xfrm>
            <a:off x="1161515" y="2888056"/>
            <a:ext cx="41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/>
              <a:t>SI</a:t>
            </a:r>
          </a:p>
        </p:txBody>
      </p:sp>
      <p:sp>
        <p:nvSpPr>
          <p:cNvPr id="117" name="Rettangolo arrotondato 77">
            <a:extLst>
              <a:ext uri="{FF2B5EF4-FFF2-40B4-BE49-F238E27FC236}">
                <a16:creationId xmlns:a16="http://schemas.microsoft.com/office/drawing/2014/main" id="{733AE870-6C68-18A2-47D4-0AB6972C70BD}"/>
              </a:ext>
            </a:extLst>
          </p:cNvPr>
          <p:cNvSpPr/>
          <p:nvPr/>
        </p:nvSpPr>
        <p:spPr>
          <a:xfrm>
            <a:off x="1665934" y="2818418"/>
            <a:ext cx="1121277" cy="36317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Mercato -&gt; </a:t>
            </a:r>
            <a:r>
              <a:rPr lang="it-IT" sz="1000" dirty="0" err="1">
                <a:solidFill>
                  <a:schemeClr val="tx1"/>
                </a:solidFill>
              </a:rPr>
              <a:t>bREL</a:t>
            </a:r>
            <a:endParaRPr lang="it-IT" sz="10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Enel X -&gt; </a:t>
            </a:r>
            <a:r>
              <a:rPr lang="it-IT" sz="1000" dirty="0" err="1">
                <a:solidFill>
                  <a:schemeClr val="tx1"/>
                </a:solidFill>
              </a:rPr>
              <a:t>bESL</a:t>
            </a:r>
            <a:endParaRPr lang="it-IT" sz="1000" dirty="0">
              <a:solidFill>
                <a:schemeClr val="tx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D274611-0AB3-52BB-DF38-9EF3017946E7}"/>
              </a:ext>
            </a:extLst>
          </p:cNvPr>
          <p:cNvCxnSpPr>
            <a:cxnSpLocks/>
            <a:stCxn id="101" idx="3"/>
            <a:endCxn id="104" idx="1"/>
          </p:cNvCxnSpPr>
          <p:nvPr/>
        </p:nvCxnSpPr>
        <p:spPr>
          <a:xfrm flipV="1">
            <a:off x="1473826" y="2210351"/>
            <a:ext cx="224909" cy="35447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B9D2D70B-0C98-1716-1DF9-BF9BFF5A9A92}"/>
              </a:ext>
            </a:extLst>
          </p:cNvPr>
          <p:cNvCxnSpPr>
            <a:cxnSpLocks/>
            <a:stCxn id="104" idx="0"/>
            <a:endCxn id="107" idx="1"/>
          </p:cNvCxnSpPr>
          <p:nvPr/>
        </p:nvCxnSpPr>
        <p:spPr>
          <a:xfrm rot="5400000" flipH="1" flipV="1">
            <a:off x="2614608" y="1195870"/>
            <a:ext cx="477662" cy="118813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0A7FC7E-329C-8FBD-C426-AE7118FB1DBE}"/>
              </a:ext>
            </a:extLst>
          </p:cNvPr>
          <p:cNvCxnSpPr>
            <a:cxnSpLocks/>
            <a:endCxn id="107" idx="1"/>
          </p:cNvCxnSpPr>
          <p:nvPr/>
        </p:nvCxnSpPr>
        <p:spPr>
          <a:xfrm flipV="1">
            <a:off x="2798459" y="1551104"/>
            <a:ext cx="649045" cy="14566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4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olo 1"/>
          <p:cNvSpPr txBox="1">
            <a:spLocks/>
          </p:cNvSpPr>
          <p:nvPr/>
        </p:nvSpPr>
        <p:spPr>
          <a:xfrm>
            <a:off x="838221" y="154864"/>
            <a:ext cx="1101018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Determinazione / Recupero CC tipo/reale</a:t>
            </a:r>
            <a:r>
              <a:rPr lang="en-US" dirty="0"/>
              <a:t> – </a:t>
            </a:r>
            <a:r>
              <a:rPr lang="en-US" dirty="0" err="1"/>
              <a:t>dettaglio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5/6</a:t>
            </a:r>
          </a:p>
          <a:p>
            <a:r>
              <a:rPr lang="en-US" sz="2000" dirty="0" err="1"/>
              <a:t>Logiche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Service 2/2: </a:t>
            </a:r>
            <a:r>
              <a:rPr lang="en-US" sz="2000" dirty="0" err="1"/>
              <a:t>determinazione</a:t>
            </a:r>
            <a:r>
              <a:rPr lang="en-US" sz="2000" dirty="0"/>
              <a:t> Macro Org 2 e VCS</a:t>
            </a:r>
          </a:p>
        </p:txBody>
      </p:sp>
      <p:sp>
        <p:nvSpPr>
          <p:cNvPr id="67" name="Rettangolo 66"/>
          <p:cNvSpPr/>
          <p:nvPr/>
        </p:nvSpPr>
        <p:spPr>
          <a:xfrm>
            <a:off x="-17792" y="6652594"/>
            <a:ext cx="11324625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* PA=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Activity; NPA= Not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Activity.</a:t>
            </a:r>
          </a:p>
        </p:txBody>
      </p:sp>
      <p:cxnSp>
        <p:nvCxnSpPr>
          <p:cNvPr id="68" name="Connettore 2 67"/>
          <p:cNvCxnSpPr>
            <a:cxnSpLocks/>
            <a:endCxn id="44" idx="0"/>
          </p:cNvCxnSpPr>
          <p:nvPr/>
        </p:nvCxnSpPr>
        <p:spPr>
          <a:xfrm>
            <a:off x="1815731" y="1472297"/>
            <a:ext cx="0" cy="22143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ttangolo arrotondato 107"/>
          <p:cNvSpPr/>
          <p:nvPr/>
        </p:nvSpPr>
        <p:spPr>
          <a:xfrm>
            <a:off x="2921242" y="5883837"/>
            <a:ext cx="2165481" cy="4801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e VCS = come da catalogo</a:t>
            </a:r>
          </a:p>
        </p:txBody>
      </p:sp>
      <p:sp>
        <p:nvSpPr>
          <p:cNvPr id="118" name="CasellaDiTesto 117"/>
          <p:cNvSpPr txBox="1"/>
          <p:nvPr/>
        </p:nvSpPr>
        <p:spPr>
          <a:xfrm>
            <a:off x="3593912" y="2423874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SI</a:t>
            </a:r>
          </a:p>
        </p:txBody>
      </p:sp>
      <p:sp>
        <p:nvSpPr>
          <p:cNvPr id="215" name="Rettangolo arrotondato 214"/>
          <p:cNvSpPr/>
          <p:nvPr/>
        </p:nvSpPr>
        <p:spPr>
          <a:xfrm>
            <a:off x="9195828" y="3427984"/>
            <a:ext cx="2470532" cy="5488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e VCS = come da catalogo</a:t>
            </a:r>
          </a:p>
        </p:txBody>
      </p:sp>
      <p:cxnSp>
        <p:nvCxnSpPr>
          <p:cNvPr id="229" name="Connettore 2 223"/>
          <p:cNvCxnSpPr>
            <a:cxnSpLocks/>
            <a:stCxn id="293" idx="3"/>
            <a:endCxn id="215" idx="0"/>
          </p:cNvCxnSpPr>
          <p:nvPr/>
        </p:nvCxnSpPr>
        <p:spPr>
          <a:xfrm>
            <a:off x="8035134" y="2596057"/>
            <a:ext cx="2395960" cy="83192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Decisione 292"/>
          <p:cNvSpPr/>
          <p:nvPr/>
        </p:nvSpPr>
        <p:spPr>
          <a:xfrm>
            <a:off x="5454953" y="1839147"/>
            <a:ext cx="2580181" cy="151381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BPC Code NPA=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PRO, P&amp;O, AFC, CCO,SSE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100" b="1" dirty="0">
                <a:solidFill>
                  <a:schemeClr val="accent5"/>
                </a:solidFill>
              </a:rPr>
              <a:t>GPR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50" b="1" dirty="0">
                <a:solidFill>
                  <a:schemeClr val="accent5"/>
                </a:solidFill>
              </a:rPr>
              <a:t>(GBL Customer)</a:t>
            </a:r>
            <a:endParaRPr lang="it-IT" sz="800" b="1" dirty="0">
              <a:solidFill>
                <a:schemeClr val="accent5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(Tab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constantvalue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7936002" y="5411406"/>
            <a:ext cx="3912405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it-IT" sz="1300" i="1" dirty="0"/>
              <a:t>La GBL Customer è identificata in base al BPC Code della NPA </a:t>
            </a:r>
          </a:p>
          <a:p>
            <a:r>
              <a:rPr lang="it-IT" sz="1300" i="1" dirty="0"/>
              <a:t>Questi codici BPC delle NPA devono essere presenti sulla tabella </a:t>
            </a:r>
            <a:r>
              <a:rPr lang="it-IT" sz="1300" i="1" dirty="0" err="1"/>
              <a:t>Constantvalue</a:t>
            </a:r>
            <a:r>
              <a:rPr lang="it-IT" sz="1300" i="1" dirty="0"/>
              <a:t>.</a:t>
            </a:r>
          </a:p>
          <a:p>
            <a:r>
              <a:rPr lang="it-IT" sz="1300" i="1" dirty="0"/>
              <a:t>Nel catalogo attività deve esserci una riga con il codice BPC della NPA nel campo GBL Customer.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095C7D8-3B4B-416B-FCCF-B054BF034322}"/>
              </a:ext>
            </a:extLst>
          </p:cNvPr>
          <p:cNvCxnSpPr>
            <a:cxnSpLocks/>
            <a:stCxn id="44" idx="3"/>
            <a:endCxn id="293" idx="1"/>
          </p:cNvCxnSpPr>
          <p:nvPr/>
        </p:nvCxnSpPr>
        <p:spPr>
          <a:xfrm flipV="1">
            <a:off x="3105822" y="2596057"/>
            <a:ext cx="2349131" cy="108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Decisione 253">
            <a:extLst>
              <a:ext uri="{FF2B5EF4-FFF2-40B4-BE49-F238E27FC236}">
                <a16:creationId xmlns:a16="http://schemas.microsoft.com/office/drawing/2014/main" id="{5E8BD6EA-D321-442C-5217-7CB6C2D610ED}"/>
              </a:ext>
            </a:extLst>
          </p:cNvPr>
          <p:cNvSpPr/>
          <p:nvPr/>
        </p:nvSpPr>
        <p:spPr>
          <a:xfrm>
            <a:off x="525640" y="1693736"/>
            <a:ext cx="2580182" cy="180682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BPC Code della PA=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GDS, </a:t>
            </a:r>
            <a:endParaRPr lang="it-IT" sz="1050" b="1" dirty="0">
              <a:solidFill>
                <a:schemeClr val="accent5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100" b="1" dirty="0">
                <a:solidFill>
                  <a:schemeClr val="accent5"/>
                </a:solidFill>
              </a:rPr>
              <a:t>DSG,PCI,</a:t>
            </a:r>
            <a:endParaRPr lang="it-IT" sz="1400" b="1" dirty="0">
              <a:solidFill>
                <a:schemeClr val="accent5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DGH, </a:t>
            </a:r>
            <a:r>
              <a:rPr lang="it-IT" sz="1050" b="1" dirty="0">
                <a:solidFill>
                  <a:schemeClr val="accent5"/>
                </a:solidFill>
              </a:rPr>
              <a:t>DEI,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CHP ,</a:t>
            </a:r>
            <a:r>
              <a:rPr lang="it-IT" sz="1050" b="1" dirty="0">
                <a:solidFill>
                  <a:schemeClr val="accent5"/>
                </a:solidFill>
              </a:rPr>
              <a:t>DER,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DGF, </a:t>
            </a:r>
            <a:r>
              <a:rPr lang="it-IT" sz="1050" b="1" dirty="0">
                <a:solidFill>
                  <a:schemeClr val="accent5"/>
                </a:solidFill>
              </a:rPr>
              <a:t>DEA. </a:t>
            </a:r>
          </a:p>
        </p:txBody>
      </p:sp>
      <p:sp>
        <p:nvSpPr>
          <p:cNvPr id="49" name="Decisione 253">
            <a:extLst>
              <a:ext uri="{FF2B5EF4-FFF2-40B4-BE49-F238E27FC236}">
                <a16:creationId xmlns:a16="http://schemas.microsoft.com/office/drawing/2014/main" id="{379253DC-A2EC-D692-D3CD-2F923BD0F8C1}"/>
              </a:ext>
            </a:extLst>
          </p:cNvPr>
          <p:cNvSpPr/>
          <p:nvPr/>
        </p:nvSpPr>
        <p:spPr>
          <a:xfrm>
            <a:off x="849573" y="3977499"/>
            <a:ext cx="1931229" cy="1346007"/>
          </a:xfrm>
          <a:prstGeom prst="flowChartDecision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BPC Code della PA=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PRO, SMD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50" b="1" dirty="0">
                <a:solidFill>
                  <a:schemeClr val="accent5"/>
                </a:solidFill>
              </a:rPr>
              <a:t>GPR</a:t>
            </a:r>
          </a:p>
        </p:txBody>
      </p:sp>
      <p:sp>
        <p:nvSpPr>
          <p:cNvPr id="50" name="Decisione 292">
            <a:extLst>
              <a:ext uri="{FF2B5EF4-FFF2-40B4-BE49-F238E27FC236}">
                <a16:creationId xmlns:a16="http://schemas.microsoft.com/office/drawing/2014/main" id="{8E670B6C-F210-FC30-2B2C-CE3DC9A30B9E}"/>
              </a:ext>
            </a:extLst>
          </p:cNvPr>
          <p:cNvSpPr/>
          <p:nvPr/>
        </p:nvSpPr>
        <p:spPr>
          <a:xfrm>
            <a:off x="5320045" y="3654271"/>
            <a:ext cx="2913950" cy="1995641"/>
          </a:xfrm>
          <a:prstGeom prst="flowChartDecision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BPC Code NPA=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GAT, GBI, GCC, GCH, GCR, GCS, GFR, GOI, GPQ, GCO, GDS,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100" b="1" dirty="0">
                <a:solidFill>
                  <a:schemeClr val="accent5"/>
                </a:solidFill>
              </a:rPr>
              <a:t>GCP, ITH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b="1" dirty="0">
                <a:solidFill>
                  <a:schemeClr val="accent5"/>
                </a:solidFill>
              </a:rPr>
              <a:t>(GBL Customer)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(Tab 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constantvalue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3A24727-934E-C5BC-BE23-8E51CE747631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2780802" y="4650503"/>
            <a:ext cx="2539243" cy="1589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223">
            <a:extLst>
              <a:ext uri="{FF2B5EF4-FFF2-40B4-BE49-F238E27FC236}">
                <a16:creationId xmlns:a16="http://schemas.microsoft.com/office/drawing/2014/main" id="{ECEBBED8-07B7-19D3-928C-2500A697392E}"/>
              </a:ext>
            </a:extLst>
          </p:cNvPr>
          <p:cNvCxnSpPr>
            <a:cxnSpLocks/>
            <a:stCxn id="50" idx="3"/>
            <a:endCxn id="215" idx="2"/>
          </p:cNvCxnSpPr>
          <p:nvPr/>
        </p:nvCxnSpPr>
        <p:spPr>
          <a:xfrm flipV="1">
            <a:off x="8233995" y="3976810"/>
            <a:ext cx="2197099" cy="675282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F2AAF86-5284-DBB3-4BB1-E7D731BE2857}"/>
              </a:ext>
            </a:extLst>
          </p:cNvPr>
          <p:cNvCxnSpPr>
            <a:cxnSpLocks/>
            <a:stCxn id="44" idx="2"/>
            <a:endCxn id="49" idx="0"/>
          </p:cNvCxnSpPr>
          <p:nvPr/>
        </p:nvCxnSpPr>
        <p:spPr>
          <a:xfrm rot="5400000">
            <a:off x="1576989" y="3738756"/>
            <a:ext cx="476943" cy="54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sellaDiTesto 117">
            <a:extLst>
              <a:ext uri="{FF2B5EF4-FFF2-40B4-BE49-F238E27FC236}">
                <a16:creationId xmlns:a16="http://schemas.microsoft.com/office/drawing/2014/main" id="{57C74A6C-7A2A-1D8C-5CAA-360C5E9DD890}"/>
              </a:ext>
            </a:extLst>
          </p:cNvPr>
          <p:cNvSpPr txBox="1"/>
          <p:nvPr/>
        </p:nvSpPr>
        <p:spPr>
          <a:xfrm>
            <a:off x="3556743" y="4371617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SI</a:t>
            </a:r>
          </a:p>
        </p:txBody>
      </p:sp>
      <p:sp>
        <p:nvSpPr>
          <p:cNvPr id="84" name="CasellaDiTesto 117">
            <a:extLst>
              <a:ext uri="{FF2B5EF4-FFF2-40B4-BE49-F238E27FC236}">
                <a16:creationId xmlns:a16="http://schemas.microsoft.com/office/drawing/2014/main" id="{36BC7BAF-16FB-37D0-C73C-9E6FF28B6266}"/>
              </a:ext>
            </a:extLst>
          </p:cNvPr>
          <p:cNvSpPr txBox="1"/>
          <p:nvPr/>
        </p:nvSpPr>
        <p:spPr>
          <a:xfrm>
            <a:off x="8348045" y="4356750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SI</a:t>
            </a:r>
          </a:p>
        </p:txBody>
      </p:sp>
      <p:sp>
        <p:nvSpPr>
          <p:cNvPr id="85" name="CasellaDiTesto 117">
            <a:extLst>
              <a:ext uri="{FF2B5EF4-FFF2-40B4-BE49-F238E27FC236}">
                <a16:creationId xmlns:a16="http://schemas.microsoft.com/office/drawing/2014/main" id="{9FCD599F-B8BA-C2AF-813F-278FE0224FB3}"/>
              </a:ext>
            </a:extLst>
          </p:cNvPr>
          <p:cNvSpPr txBox="1"/>
          <p:nvPr/>
        </p:nvSpPr>
        <p:spPr>
          <a:xfrm>
            <a:off x="8348044" y="2357455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SI</a:t>
            </a:r>
          </a:p>
        </p:txBody>
      </p:sp>
      <p:sp>
        <p:nvSpPr>
          <p:cNvPr id="86" name="CasellaDiTesto 117">
            <a:extLst>
              <a:ext uri="{FF2B5EF4-FFF2-40B4-BE49-F238E27FC236}">
                <a16:creationId xmlns:a16="http://schemas.microsoft.com/office/drawing/2014/main" id="{E2946AEB-6F52-5CB4-0377-A17B9C602AB5}"/>
              </a:ext>
            </a:extLst>
          </p:cNvPr>
          <p:cNvSpPr txBox="1"/>
          <p:nvPr/>
        </p:nvSpPr>
        <p:spPr>
          <a:xfrm>
            <a:off x="1337656" y="3635639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NO</a:t>
            </a:r>
          </a:p>
        </p:txBody>
      </p:sp>
      <p:sp>
        <p:nvSpPr>
          <p:cNvPr id="87" name="CasellaDiTesto 117">
            <a:extLst>
              <a:ext uri="{FF2B5EF4-FFF2-40B4-BE49-F238E27FC236}">
                <a16:creationId xmlns:a16="http://schemas.microsoft.com/office/drawing/2014/main" id="{72BE74D3-F105-0CBF-8465-8CD450CAB2AE}"/>
              </a:ext>
            </a:extLst>
          </p:cNvPr>
          <p:cNvSpPr txBox="1"/>
          <p:nvPr/>
        </p:nvSpPr>
        <p:spPr>
          <a:xfrm>
            <a:off x="1337655" y="5782927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NO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3070A0F1-AF91-36F0-C310-98802D4DB978}"/>
              </a:ext>
            </a:extLst>
          </p:cNvPr>
          <p:cNvCxnSpPr>
            <a:cxnSpLocks/>
            <a:stCxn id="49" idx="2"/>
            <a:endCxn id="108" idx="1"/>
          </p:cNvCxnSpPr>
          <p:nvPr/>
        </p:nvCxnSpPr>
        <p:spPr>
          <a:xfrm rot="16200000" flipH="1">
            <a:off x="1968007" y="5170687"/>
            <a:ext cx="800417" cy="110605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A8DA249-5904-EA2C-8A17-7E819F85D2CA}"/>
              </a:ext>
            </a:extLst>
          </p:cNvPr>
          <p:cNvCxnSpPr>
            <a:cxnSpLocks/>
            <a:stCxn id="50" idx="2"/>
            <a:endCxn id="108" idx="3"/>
          </p:cNvCxnSpPr>
          <p:nvPr/>
        </p:nvCxnSpPr>
        <p:spPr>
          <a:xfrm rot="5400000">
            <a:off x="5694867" y="5041769"/>
            <a:ext cx="474011" cy="169029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sellaDiTesto 117">
            <a:extLst>
              <a:ext uri="{FF2B5EF4-FFF2-40B4-BE49-F238E27FC236}">
                <a16:creationId xmlns:a16="http://schemas.microsoft.com/office/drawing/2014/main" id="{A89681E4-F432-E291-93CC-3B1DE9FE1AEF}"/>
              </a:ext>
            </a:extLst>
          </p:cNvPr>
          <p:cNvSpPr txBox="1"/>
          <p:nvPr/>
        </p:nvSpPr>
        <p:spPr>
          <a:xfrm>
            <a:off x="6343314" y="5787799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NO</a:t>
            </a:r>
          </a:p>
        </p:txBody>
      </p:sp>
      <p:sp>
        <p:nvSpPr>
          <p:cNvPr id="96" name="Rettangolo arrotondato 107">
            <a:extLst>
              <a:ext uri="{FF2B5EF4-FFF2-40B4-BE49-F238E27FC236}">
                <a16:creationId xmlns:a16="http://schemas.microsoft.com/office/drawing/2014/main" id="{68539FD9-5819-BD1B-B994-7BFA0934DA8F}"/>
              </a:ext>
            </a:extLst>
          </p:cNvPr>
          <p:cNvSpPr/>
          <p:nvPr/>
        </p:nvSpPr>
        <p:spPr>
          <a:xfrm>
            <a:off x="7265304" y="1213564"/>
            <a:ext cx="2165481" cy="4801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000" dirty="0">
                <a:solidFill>
                  <a:schemeClr val="tx1"/>
                </a:solidFill>
              </a:rPr>
              <a:t>Activity e VCS = come da catalogo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881BAE1E-F424-516B-79B0-1B1CAA66FFBF}"/>
              </a:ext>
            </a:extLst>
          </p:cNvPr>
          <p:cNvCxnSpPr>
            <a:cxnSpLocks/>
            <a:stCxn id="293" idx="0"/>
            <a:endCxn id="96" idx="1"/>
          </p:cNvCxnSpPr>
          <p:nvPr/>
        </p:nvCxnSpPr>
        <p:spPr>
          <a:xfrm rot="5400000" flipH="1" flipV="1">
            <a:off x="6812426" y="1386269"/>
            <a:ext cx="385497" cy="52026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asellaDiTesto 117">
            <a:extLst>
              <a:ext uri="{FF2B5EF4-FFF2-40B4-BE49-F238E27FC236}">
                <a16:creationId xmlns:a16="http://schemas.microsoft.com/office/drawing/2014/main" id="{DC7FDBCD-7C7F-DD29-A2F9-D86862F9471D}"/>
              </a:ext>
            </a:extLst>
          </p:cNvPr>
          <p:cNvSpPr txBox="1"/>
          <p:nvPr/>
        </p:nvSpPr>
        <p:spPr>
          <a:xfrm>
            <a:off x="6366950" y="1572272"/>
            <a:ext cx="410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NO</a:t>
            </a:r>
          </a:p>
        </p:txBody>
      </p:sp>
      <p:sp>
        <p:nvSpPr>
          <p:cNvPr id="3" name="Rettangolo arrotondato 107">
            <a:extLst>
              <a:ext uri="{FF2B5EF4-FFF2-40B4-BE49-F238E27FC236}">
                <a16:creationId xmlns:a16="http://schemas.microsoft.com/office/drawing/2014/main" id="{48112A9D-22F3-C855-3D6B-21EE1EC98FC6}"/>
              </a:ext>
            </a:extLst>
          </p:cNvPr>
          <p:cNvSpPr/>
          <p:nvPr/>
        </p:nvSpPr>
        <p:spPr>
          <a:xfrm>
            <a:off x="3091909" y="1225409"/>
            <a:ext cx="2165481" cy="480171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100" b="1" dirty="0">
                <a:solidFill>
                  <a:schemeClr val="accent5"/>
                </a:solidFill>
              </a:rPr>
              <a:t>NEW CODE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1100" b="1" dirty="0">
                <a:solidFill>
                  <a:schemeClr val="accent5"/>
                </a:solidFill>
              </a:rPr>
              <a:t>2024 </a:t>
            </a:r>
          </a:p>
        </p:txBody>
      </p:sp>
    </p:spTree>
    <p:extLst>
      <p:ext uri="{BB962C8B-B14F-4D97-AF65-F5344CB8AC3E}">
        <p14:creationId xmlns:p14="http://schemas.microsoft.com/office/powerpoint/2010/main" val="141994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Connettore 2 223"/>
          <p:cNvCxnSpPr>
            <a:stCxn id="60" idx="2"/>
            <a:endCxn id="290" idx="1"/>
          </p:cNvCxnSpPr>
          <p:nvPr/>
        </p:nvCxnSpPr>
        <p:spPr>
          <a:xfrm rot="16200000" flipH="1">
            <a:off x="2788744" y="3497164"/>
            <a:ext cx="103997" cy="82844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Rettangolo 269"/>
          <p:cNvSpPr/>
          <p:nvPr/>
        </p:nvSpPr>
        <p:spPr>
          <a:xfrm>
            <a:off x="2592727" y="3773289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NO</a:t>
            </a:r>
          </a:p>
        </p:txBody>
      </p:sp>
      <p:sp>
        <p:nvSpPr>
          <p:cNvPr id="290" name="Rettangolo arrotondato 289"/>
          <p:cNvSpPr/>
          <p:nvPr/>
        </p:nvSpPr>
        <p:spPr>
          <a:xfrm>
            <a:off x="3254966" y="3742687"/>
            <a:ext cx="1792738" cy="44139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BSER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sp>
        <p:nvSpPr>
          <p:cNvPr id="293" name="Rettangolo 292"/>
          <p:cNvSpPr/>
          <p:nvPr/>
        </p:nvSpPr>
        <p:spPr>
          <a:xfrm>
            <a:off x="4259993" y="3555569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83" name="Rettangolo con angoli arrotondati in diagonale 82"/>
          <p:cNvSpPr/>
          <p:nvPr/>
        </p:nvSpPr>
        <p:spPr>
          <a:xfrm>
            <a:off x="6789937" y="5225218"/>
            <a:ext cx="1213455" cy="374557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Si tratta di BSER non aperti sulla società</a:t>
            </a:r>
          </a:p>
        </p:txBody>
      </p:sp>
      <p:cxnSp>
        <p:nvCxnSpPr>
          <p:cNvPr id="85" name="Connettore 2 223"/>
          <p:cNvCxnSpPr>
            <a:stCxn id="290" idx="3"/>
            <a:endCxn id="89" idx="1"/>
          </p:cNvCxnSpPr>
          <p:nvPr/>
        </p:nvCxnSpPr>
        <p:spPr>
          <a:xfrm>
            <a:off x="5047704" y="3963387"/>
            <a:ext cx="994824" cy="5536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Decisione 88"/>
          <p:cNvSpPr/>
          <p:nvPr/>
        </p:nvSpPr>
        <p:spPr>
          <a:xfrm>
            <a:off x="6042528" y="3638097"/>
            <a:ext cx="1200510" cy="66165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Verifica coerenza BSER con la società</a:t>
            </a:r>
          </a:p>
        </p:txBody>
      </p:sp>
      <p:cxnSp>
        <p:nvCxnSpPr>
          <p:cNvPr id="94" name="Connettore 2 223"/>
          <p:cNvCxnSpPr>
            <a:stCxn id="89" idx="3"/>
            <a:endCxn id="98" idx="1"/>
          </p:cNvCxnSpPr>
          <p:nvPr/>
        </p:nvCxnSpPr>
        <p:spPr>
          <a:xfrm flipV="1">
            <a:off x="7243038" y="2962153"/>
            <a:ext cx="698795" cy="100677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ttangolo 96"/>
          <p:cNvSpPr/>
          <p:nvPr/>
        </p:nvSpPr>
        <p:spPr>
          <a:xfrm>
            <a:off x="7048354" y="3719107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OK</a:t>
            </a:r>
          </a:p>
        </p:txBody>
      </p:sp>
      <p:sp>
        <p:nvSpPr>
          <p:cNvPr id="98" name="Rettangolo arrotondato 97"/>
          <p:cNvSpPr/>
          <p:nvPr/>
        </p:nvSpPr>
        <p:spPr>
          <a:xfrm>
            <a:off x="7941833" y="2741453"/>
            <a:ext cx="1684564" cy="44139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Macro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1 = BSER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Activity = come da catalogo</a:t>
            </a:r>
          </a:p>
        </p:txBody>
      </p:sp>
      <p:cxnSp>
        <p:nvCxnSpPr>
          <p:cNvPr id="100" name="Connettore 2 223"/>
          <p:cNvCxnSpPr>
            <a:stCxn id="89" idx="2"/>
            <a:endCxn id="37" idx="0"/>
          </p:cNvCxnSpPr>
          <p:nvPr/>
        </p:nvCxnSpPr>
        <p:spPr>
          <a:xfrm rot="5400000">
            <a:off x="5362139" y="3819194"/>
            <a:ext cx="800090" cy="176119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ttangolo 103"/>
          <p:cNvSpPr/>
          <p:nvPr/>
        </p:nvSpPr>
        <p:spPr>
          <a:xfrm>
            <a:off x="6707011" y="4407876"/>
            <a:ext cx="42328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KO</a:t>
            </a:r>
          </a:p>
        </p:txBody>
      </p:sp>
      <p:sp>
        <p:nvSpPr>
          <p:cNvPr id="110" name="Rettangolo 109"/>
          <p:cNvSpPr/>
          <p:nvPr/>
        </p:nvSpPr>
        <p:spPr>
          <a:xfrm>
            <a:off x="5433494" y="4287964"/>
            <a:ext cx="1558688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113" name="Rettangolo 112"/>
          <p:cNvSpPr/>
          <p:nvPr/>
        </p:nvSpPr>
        <p:spPr>
          <a:xfrm>
            <a:off x="6794369" y="6600546"/>
            <a:ext cx="5397631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*** Il monitoraggio in HR/AFC devono visualizzare tutte le UO che hanno un’incompatibilità BL/Società</a:t>
            </a:r>
          </a:p>
        </p:txBody>
      </p:sp>
      <p:sp>
        <p:nvSpPr>
          <p:cNvPr id="58" name="Rettangolo 57"/>
          <p:cNvSpPr/>
          <p:nvPr/>
        </p:nvSpPr>
        <p:spPr>
          <a:xfrm>
            <a:off x="8661167" y="2524471"/>
            <a:ext cx="1558688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59" name="Titolo 1"/>
          <p:cNvSpPr txBox="1">
            <a:spLocks/>
          </p:cNvSpPr>
          <p:nvPr/>
        </p:nvSpPr>
        <p:spPr>
          <a:xfrm>
            <a:off x="756699" y="216735"/>
            <a:ext cx="1116659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Determinazione / Recupero CC tipo/reale - </a:t>
            </a:r>
            <a:r>
              <a:rPr lang="en-US" dirty="0" err="1"/>
              <a:t>dettaglio</a:t>
            </a:r>
            <a:r>
              <a:rPr lang="en-US" dirty="0"/>
              <a:t> </a:t>
            </a:r>
            <a:r>
              <a:rPr lang="en-US" dirty="0" err="1"/>
              <a:t>regole</a:t>
            </a:r>
            <a:r>
              <a:rPr lang="en-US" dirty="0"/>
              <a:t> 6/6</a:t>
            </a:r>
          </a:p>
          <a:p>
            <a:r>
              <a:rPr lang="en-US" sz="2000" dirty="0"/>
              <a:t>Country Specific e/o </a:t>
            </a:r>
            <a:r>
              <a:rPr lang="en-US" sz="2000" dirty="0" err="1"/>
              <a:t>altri</a:t>
            </a:r>
            <a:r>
              <a:rPr lang="en-US" sz="2000" dirty="0"/>
              <a:t> in </a:t>
            </a:r>
            <a:r>
              <a:rPr lang="en-US" sz="2000" dirty="0" err="1"/>
              <a:t>bSER</a:t>
            </a:r>
            <a:endParaRPr lang="en-US" sz="2000" dirty="0"/>
          </a:p>
        </p:txBody>
      </p:sp>
      <p:sp>
        <p:nvSpPr>
          <p:cNvPr id="60" name="Decisione 59"/>
          <p:cNvSpPr/>
          <p:nvPr/>
        </p:nvSpPr>
        <p:spPr>
          <a:xfrm>
            <a:off x="1291840" y="2741453"/>
            <a:ext cx="2269358" cy="1117937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Se NPA*= GBL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o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NPA1=..=</a:t>
            </a:r>
            <a:r>
              <a:rPr lang="it-IT" sz="800" b="1" dirty="0" err="1">
                <a:solidFill>
                  <a:schemeClr val="accent1">
                    <a:lumMod val="50000"/>
                  </a:schemeClr>
                </a:solidFill>
              </a:rPr>
              <a:t>NPAn</a:t>
            </a:r>
            <a:r>
              <a:rPr lang="it-IT" sz="800" b="1" dirty="0">
                <a:solidFill>
                  <a:schemeClr val="accent1">
                    <a:lumMod val="50000"/>
                  </a:schemeClr>
                </a:solidFill>
              </a:rPr>
              <a:t>*=GBL</a:t>
            </a:r>
          </a:p>
        </p:txBody>
      </p:sp>
      <p:sp>
        <p:nvSpPr>
          <p:cNvPr id="62" name="Rettangolo 61"/>
          <p:cNvSpPr/>
          <p:nvPr/>
        </p:nvSpPr>
        <p:spPr>
          <a:xfrm>
            <a:off x="1447263" y="2637960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cxnSp>
        <p:nvCxnSpPr>
          <p:cNvPr id="34" name="Connettore 2 223"/>
          <p:cNvCxnSpPr/>
          <p:nvPr/>
        </p:nvCxnSpPr>
        <p:spPr>
          <a:xfrm flipH="1">
            <a:off x="2426519" y="1944939"/>
            <a:ext cx="6350" cy="8205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tangolo arrotondato 36"/>
          <p:cNvSpPr/>
          <p:nvPr/>
        </p:nvSpPr>
        <p:spPr>
          <a:xfrm>
            <a:off x="4218054" y="5099838"/>
            <a:ext cx="1327062" cy="52847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Memorizzazione KO su BW4Hana</a:t>
            </a:r>
          </a:p>
        </p:txBody>
      </p:sp>
      <p:sp>
        <p:nvSpPr>
          <p:cNvPr id="38" name="Rettangolo 37"/>
          <p:cNvSpPr/>
          <p:nvPr/>
        </p:nvSpPr>
        <p:spPr>
          <a:xfrm>
            <a:off x="3561198" y="4875685"/>
            <a:ext cx="1558688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23" name="Rettangolo 22"/>
          <p:cNvSpPr/>
          <p:nvPr/>
        </p:nvSpPr>
        <p:spPr>
          <a:xfrm>
            <a:off x="2433801" y="1643551"/>
            <a:ext cx="44114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/>
              <a:t>Staff</a:t>
            </a:r>
          </a:p>
        </p:txBody>
      </p:sp>
    </p:spTree>
    <p:extLst>
      <p:ext uri="{BB962C8B-B14F-4D97-AF65-F5344CB8AC3E}">
        <p14:creationId xmlns:p14="http://schemas.microsoft.com/office/powerpoint/2010/main" val="2558858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41063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270" imgH="270" progId="TCLayout.ActiveDocument.1">
                  <p:embed/>
                </p:oleObj>
              </mc:Choice>
              <mc:Fallback>
                <p:oleObj name="Diapositiva think-cell" r:id="rId4" imgW="270" imgH="270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ttangolo arrotondato 48"/>
          <p:cNvSpPr/>
          <p:nvPr/>
        </p:nvSpPr>
        <p:spPr>
          <a:xfrm>
            <a:off x="5465097" y="1680263"/>
            <a:ext cx="1991889" cy="48114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kern="1200" dirty="0">
                <a:solidFill>
                  <a:schemeClr val="accent1">
                    <a:lumMod val="50000"/>
                  </a:schemeClr>
                </a:solidFill>
              </a:rPr>
              <a:t>Invia notifica </a:t>
            </a:r>
            <a:r>
              <a:rPr lang="it-IT" sz="900" b="1" i="1" dirty="0">
                <a:solidFill>
                  <a:schemeClr val="accent1">
                    <a:lumMod val="50000"/>
                  </a:schemeClr>
                </a:solidFill>
              </a:rPr>
              <a:t>aggancio da fare </a:t>
            </a:r>
            <a:r>
              <a:rPr lang="it-IT" sz="900" b="1" kern="1200" dirty="0">
                <a:solidFill>
                  <a:schemeClr val="accent1">
                    <a:lumMod val="50000"/>
                  </a:schemeClr>
                </a:solidFill>
              </a:rPr>
              <a:t>al controller</a:t>
            </a:r>
            <a:endParaRPr lang="it-IT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5" name="Ovale 64"/>
          <p:cNvSpPr/>
          <p:nvPr/>
        </p:nvSpPr>
        <p:spPr>
          <a:xfrm>
            <a:off x="252504" y="1882537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Determinazione / Recupero CC tipo/reale</a:t>
            </a:r>
          </a:p>
        </p:txBody>
      </p:sp>
      <p:sp>
        <p:nvSpPr>
          <p:cNvPr id="43" name="Rettangolo 42"/>
          <p:cNvSpPr/>
          <p:nvPr/>
        </p:nvSpPr>
        <p:spPr>
          <a:xfrm>
            <a:off x="5922916" y="1446922"/>
            <a:ext cx="607859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  <p:cxnSp>
        <p:nvCxnSpPr>
          <p:cNvPr id="26" name="Connettore 2 223"/>
          <p:cNvCxnSpPr>
            <a:cxnSpLocks/>
            <a:stCxn id="280" idx="0"/>
            <a:endCxn id="152" idx="1"/>
          </p:cNvCxnSpPr>
          <p:nvPr/>
        </p:nvCxnSpPr>
        <p:spPr>
          <a:xfrm rot="5400000" flipH="1" flipV="1">
            <a:off x="3517465" y="2332591"/>
            <a:ext cx="166686" cy="112766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tangolo 45"/>
          <p:cNvSpPr/>
          <p:nvPr/>
        </p:nvSpPr>
        <p:spPr>
          <a:xfrm>
            <a:off x="2699262" y="2792544"/>
            <a:ext cx="4232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OK</a:t>
            </a:r>
          </a:p>
        </p:txBody>
      </p:sp>
      <p:sp>
        <p:nvSpPr>
          <p:cNvPr id="47" name="Rettangolo 46"/>
          <p:cNvSpPr/>
          <p:nvPr/>
        </p:nvSpPr>
        <p:spPr>
          <a:xfrm>
            <a:off x="3000674" y="3770597"/>
            <a:ext cx="1464723" cy="417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KO: Incompatibilità</a:t>
            </a:r>
          </a:p>
          <a:p>
            <a:pPr defTabSz="666750"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GBL o Company</a:t>
            </a:r>
          </a:p>
        </p:txBody>
      </p:sp>
      <p:sp>
        <p:nvSpPr>
          <p:cNvPr id="70" name="Rettangolo arrotondato 69"/>
          <p:cNvSpPr/>
          <p:nvPr/>
        </p:nvSpPr>
        <p:spPr>
          <a:xfrm>
            <a:off x="6375587" y="2504965"/>
            <a:ext cx="1828120" cy="614438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controller dovrà </a:t>
            </a:r>
            <a:r>
              <a:rPr lang="it-IT" sz="900" dirty="0" err="1">
                <a:solidFill>
                  <a:schemeClr val="tx1"/>
                </a:solidFill>
              </a:rPr>
              <a:t>associiare</a:t>
            </a:r>
            <a:r>
              <a:rPr lang="it-IT" sz="900" dirty="0">
                <a:solidFill>
                  <a:schemeClr val="tx1"/>
                </a:solidFill>
              </a:rPr>
              <a:t> CC esistenti oppure creare CC sul sistema locale o in MDG e poi  aggiornare il task </a:t>
            </a:r>
          </a:p>
        </p:txBody>
      </p:sp>
      <p:grpSp>
        <p:nvGrpSpPr>
          <p:cNvPr id="77" name="Gruppo 76"/>
          <p:cNvGrpSpPr/>
          <p:nvPr/>
        </p:nvGrpSpPr>
        <p:grpSpPr>
          <a:xfrm>
            <a:off x="6436908" y="2065696"/>
            <a:ext cx="723276" cy="409348"/>
            <a:chOff x="9920960" y="2264975"/>
            <a:chExt cx="1032560" cy="647861"/>
          </a:xfrm>
        </p:grpSpPr>
        <p:sp>
          <p:nvSpPr>
            <p:cNvPr id="78" name="Rettangolo 77"/>
            <p:cNvSpPr/>
            <p:nvPr/>
          </p:nvSpPr>
          <p:spPr>
            <a:xfrm>
              <a:off x="9920960" y="2569426"/>
              <a:ext cx="1032560" cy="3434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80" name="Immagine 79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03815" y="2264975"/>
              <a:ext cx="266850" cy="320715"/>
            </a:xfrm>
            <a:prstGeom prst="rect">
              <a:avLst/>
            </a:prstGeom>
          </p:spPr>
        </p:pic>
      </p:grpSp>
      <p:sp>
        <p:nvSpPr>
          <p:cNvPr id="92" name="Rettangolo arrotondato 91"/>
          <p:cNvSpPr/>
          <p:nvPr/>
        </p:nvSpPr>
        <p:spPr>
          <a:xfrm>
            <a:off x="2359161" y="4575060"/>
            <a:ext cx="1327062" cy="52847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Apertura case lavorazione scarto incompatibilità</a:t>
            </a:r>
          </a:p>
        </p:txBody>
      </p:sp>
      <p:sp>
        <p:nvSpPr>
          <p:cNvPr id="93" name="Rettangolo 92"/>
          <p:cNvSpPr/>
          <p:nvPr/>
        </p:nvSpPr>
        <p:spPr>
          <a:xfrm>
            <a:off x="2360145" y="4008854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grpSp>
        <p:nvGrpSpPr>
          <p:cNvPr id="94" name="Gruppo 93"/>
          <p:cNvGrpSpPr/>
          <p:nvPr/>
        </p:nvGrpSpPr>
        <p:grpSpPr>
          <a:xfrm>
            <a:off x="1808513" y="5439837"/>
            <a:ext cx="697627" cy="405814"/>
            <a:chOff x="4236153" y="1886651"/>
            <a:chExt cx="711775" cy="386813"/>
          </a:xfrm>
        </p:grpSpPr>
        <p:sp>
          <p:nvSpPr>
            <p:cNvPr id="95" name="Rettangolo 94"/>
            <p:cNvSpPr/>
            <p:nvPr/>
          </p:nvSpPr>
          <p:spPr>
            <a:xfrm>
              <a:off x="4236153" y="2053440"/>
              <a:ext cx="711775" cy="2200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66750">
                <a:spcBef>
                  <a:spcPct val="0"/>
                </a:spcBef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96" name="Immagine 95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561" y="1886651"/>
              <a:ext cx="160511" cy="221906"/>
            </a:xfrm>
            <a:prstGeom prst="rect">
              <a:avLst/>
            </a:prstGeom>
          </p:spPr>
        </p:pic>
      </p:grpSp>
      <p:cxnSp>
        <p:nvCxnSpPr>
          <p:cNvPr id="97" name="Connettore 2 96"/>
          <p:cNvCxnSpPr>
            <a:stCxn id="92" idx="2"/>
            <a:endCxn id="99" idx="0"/>
          </p:cNvCxnSpPr>
          <p:nvPr/>
        </p:nvCxnSpPr>
        <p:spPr>
          <a:xfrm>
            <a:off x="3022692" y="5103530"/>
            <a:ext cx="437" cy="435094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arrotondato 97"/>
          <p:cNvSpPr/>
          <p:nvPr/>
        </p:nvSpPr>
        <p:spPr>
          <a:xfrm>
            <a:off x="7250891" y="5903102"/>
            <a:ext cx="2726115" cy="6538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controllo holding gira il </a:t>
            </a:r>
            <a:r>
              <a:rPr lang="it-IT" sz="900" dirty="0" err="1">
                <a:solidFill>
                  <a:schemeClr val="tx1"/>
                </a:solidFill>
              </a:rPr>
              <a:t>tk</a:t>
            </a:r>
            <a:r>
              <a:rPr lang="it-IT" sz="900" dirty="0">
                <a:solidFill>
                  <a:schemeClr val="tx1"/>
                </a:solidFill>
              </a:rPr>
              <a:t> al controller locale che avrà la possibilità di agganciare UO </a:t>
            </a:r>
            <a:r>
              <a:rPr lang="it-IT" sz="900" u="sng" dirty="0">
                <a:solidFill>
                  <a:schemeClr val="tx1"/>
                </a:solidFill>
              </a:rPr>
              <a:t>solo ed unicamente al cc bidone**</a:t>
            </a:r>
            <a:r>
              <a:rPr lang="it-IT" sz="900" dirty="0">
                <a:solidFill>
                  <a:schemeClr val="tx1"/>
                </a:solidFill>
              </a:rPr>
              <a:t>. Il controller holding indicherà sul case la motivazione.</a:t>
            </a:r>
          </a:p>
        </p:txBody>
      </p:sp>
      <p:sp>
        <p:nvSpPr>
          <p:cNvPr id="99" name="Rettangolo arrotondato 98"/>
          <p:cNvSpPr/>
          <p:nvPr/>
        </p:nvSpPr>
        <p:spPr>
          <a:xfrm>
            <a:off x="2462307" y="5538624"/>
            <a:ext cx="1121643" cy="70806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</a:t>
            </a:r>
            <a:r>
              <a:rPr lang="it-IT" sz="900" dirty="0" err="1">
                <a:solidFill>
                  <a:schemeClr val="tx1"/>
                </a:solidFill>
              </a:rPr>
              <a:t>tk</a:t>
            </a:r>
            <a:r>
              <a:rPr lang="it-IT" sz="900" dirty="0">
                <a:solidFill>
                  <a:schemeClr val="tx1"/>
                </a:solidFill>
              </a:rPr>
              <a:t> viene assegnato a controller holding con in copia organizzazione</a:t>
            </a:r>
          </a:p>
        </p:txBody>
      </p:sp>
      <p:sp>
        <p:nvSpPr>
          <p:cNvPr id="102" name="Decisione 101"/>
          <p:cNvSpPr/>
          <p:nvPr/>
        </p:nvSpPr>
        <p:spPr>
          <a:xfrm>
            <a:off x="4232803" y="4985474"/>
            <a:ext cx="1033104" cy="791947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Vuole Aprire BL su Società</a:t>
            </a:r>
          </a:p>
        </p:txBody>
      </p:sp>
      <p:grpSp>
        <p:nvGrpSpPr>
          <p:cNvPr id="103" name="Gruppo 102"/>
          <p:cNvGrpSpPr/>
          <p:nvPr/>
        </p:nvGrpSpPr>
        <p:grpSpPr>
          <a:xfrm>
            <a:off x="3992998" y="4788789"/>
            <a:ext cx="697627" cy="405814"/>
            <a:chOff x="4236153" y="1886651"/>
            <a:chExt cx="711775" cy="386813"/>
          </a:xfrm>
        </p:grpSpPr>
        <p:sp>
          <p:nvSpPr>
            <p:cNvPr id="104" name="Rettangolo 103"/>
            <p:cNvSpPr/>
            <p:nvPr/>
          </p:nvSpPr>
          <p:spPr>
            <a:xfrm>
              <a:off x="4236153" y="2053440"/>
              <a:ext cx="711775" cy="2200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66750">
                <a:spcBef>
                  <a:spcPct val="0"/>
                </a:spcBef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106" name="Immagine 105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561" y="1886651"/>
              <a:ext cx="160511" cy="221906"/>
            </a:xfrm>
            <a:prstGeom prst="rect">
              <a:avLst/>
            </a:prstGeom>
          </p:spPr>
        </p:pic>
      </p:grpSp>
      <p:sp>
        <p:nvSpPr>
          <p:cNvPr id="109" name="CasellaDiTesto 108"/>
          <p:cNvSpPr txBox="1"/>
          <p:nvPr/>
        </p:nvSpPr>
        <p:spPr>
          <a:xfrm>
            <a:off x="4794026" y="4821638"/>
            <a:ext cx="52486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900" dirty="0"/>
              <a:t>SI</a:t>
            </a:r>
          </a:p>
        </p:txBody>
      </p:sp>
      <p:cxnSp>
        <p:nvCxnSpPr>
          <p:cNvPr id="110" name="Connettore 2 299"/>
          <p:cNvCxnSpPr>
            <a:stCxn id="102" idx="2"/>
            <a:endCxn id="98" idx="1"/>
          </p:cNvCxnSpPr>
          <p:nvPr/>
        </p:nvCxnSpPr>
        <p:spPr>
          <a:xfrm rot="16200000" flipH="1">
            <a:off x="5773809" y="4752967"/>
            <a:ext cx="452629" cy="2501536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asellaDiTesto 110"/>
          <p:cNvSpPr txBox="1"/>
          <p:nvPr/>
        </p:nvSpPr>
        <p:spPr>
          <a:xfrm>
            <a:off x="4789841" y="5845651"/>
            <a:ext cx="52486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900" dirty="0"/>
              <a:t>NO</a:t>
            </a:r>
          </a:p>
        </p:txBody>
      </p:sp>
      <p:sp>
        <p:nvSpPr>
          <p:cNvPr id="112" name="Rettangolo arrotondato 111"/>
          <p:cNvSpPr/>
          <p:nvPr/>
        </p:nvSpPr>
        <p:spPr>
          <a:xfrm>
            <a:off x="10031278" y="4456667"/>
            <a:ext cx="1789066" cy="6559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controllo holding </a:t>
            </a:r>
            <a:r>
              <a:rPr lang="it-IT" sz="900">
                <a:solidFill>
                  <a:schemeClr val="tx1"/>
                </a:solidFill>
              </a:rPr>
              <a:t>attende  </a:t>
            </a:r>
            <a:r>
              <a:rPr lang="it-IT" sz="900" dirty="0">
                <a:solidFill>
                  <a:schemeClr val="tx1"/>
                </a:solidFill>
              </a:rPr>
              <a:t>l’aggiornamento </a:t>
            </a:r>
            <a:r>
              <a:rPr lang="it-IT" sz="900">
                <a:solidFill>
                  <a:schemeClr val="tx1"/>
                </a:solidFill>
              </a:rPr>
              <a:t>dei CC</a:t>
            </a:r>
            <a:endParaRPr lang="it-IT" sz="900" dirty="0">
              <a:solidFill>
                <a:schemeClr val="tx1"/>
              </a:solidFill>
            </a:endParaRPr>
          </a:p>
        </p:txBody>
      </p:sp>
      <p:grpSp>
        <p:nvGrpSpPr>
          <p:cNvPr id="120" name="Gruppo 119"/>
          <p:cNvGrpSpPr/>
          <p:nvPr/>
        </p:nvGrpSpPr>
        <p:grpSpPr>
          <a:xfrm>
            <a:off x="7247506" y="5559702"/>
            <a:ext cx="761747" cy="405814"/>
            <a:chOff x="4236153" y="1886651"/>
            <a:chExt cx="777195" cy="386813"/>
          </a:xfrm>
        </p:grpSpPr>
        <p:sp>
          <p:nvSpPr>
            <p:cNvPr id="121" name="Rettangolo 120"/>
            <p:cNvSpPr/>
            <p:nvPr/>
          </p:nvSpPr>
          <p:spPr>
            <a:xfrm>
              <a:off x="4236153" y="2053440"/>
              <a:ext cx="777195" cy="2200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66750">
                <a:spcBef>
                  <a:spcPct val="0"/>
                </a:spcBef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Local</a:t>
              </a:r>
            </a:p>
          </p:txBody>
        </p:sp>
        <p:pic>
          <p:nvPicPr>
            <p:cNvPr id="122" name="Immagine 121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561" y="1886651"/>
              <a:ext cx="160511" cy="221906"/>
            </a:xfrm>
            <a:prstGeom prst="rect">
              <a:avLst/>
            </a:prstGeom>
          </p:spPr>
        </p:pic>
      </p:grpSp>
      <p:cxnSp>
        <p:nvCxnSpPr>
          <p:cNvPr id="142" name="Connettore 2 223"/>
          <p:cNvCxnSpPr>
            <a:stCxn id="205" idx="0"/>
            <a:endCxn id="79" idx="2"/>
          </p:cNvCxnSpPr>
          <p:nvPr/>
        </p:nvCxnSpPr>
        <p:spPr>
          <a:xfrm rot="5400000" flipH="1" flipV="1">
            <a:off x="9101385" y="3381137"/>
            <a:ext cx="581480" cy="155635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ttangolo arrotondato 249"/>
          <p:cNvSpPr/>
          <p:nvPr/>
        </p:nvSpPr>
        <p:spPr>
          <a:xfrm>
            <a:off x="6017154" y="4546800"/>
            <a:ext cx="1297721" cy="41393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Ticket verso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«Gestione Primo»</a:t>
            </a:r>
          </a:p>
        </p:txBody>
      </p:sp>
      <p:grpSp>
        <p:nvGrpSpPr>
          <p:cNvPr id="251" name="Gruppo 250"/>
          <p:cNvGrpSpPr/>
          <p:nvPr/>
        </p:nvGrpSpPr>
        <p:grpSpPr>
          <a:xfrm>
            <a:off x="11080555" y="3243813"/>
            <a:ext cx="697627" cy="405814"/>
            <a:chOff x="4236153" y="1886651"/>
            <a:chExt cx="711775" cy="386813"/>
          </a:xfrm>
        </p:grpSpPr>
        <p:sp>
          <p:nvSpPr>
            <p:cNvPr id="252" name="Rettangolo 251"/>
            <p:cNvSpPr/>
            <p:nvPr/>
          </p:nvSpPr>
          <p:spPr>
            <a:xfrm>
              <a:off x="4236153" y="2053440"/>
              <a:ext cx="711775" cy="2200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66750">
                <a:spcBef>
                  <a:spcPct val="0"/>
                </a:spcBef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253" name="Immagine 252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561" y="1886651"/>
              <a:ext cx="160511" cy="221906"/>
            </a:xfrm>
            <a:prstGeom prst="rect">
              <a:avLst/>
            </a:prstGeom>
          </p:spPr>
        </p:pic>
      </p:grpSp>
      <p:sp>
        <p:nvSpPr>
          <p:cNvPr id="254" name="CasellaDiTesto 253"/>
          <p:cNvSpPr txBox="1"/>
          <p:nvPr/>
        </p:nvSpPr>
        <p:spPr>
          <a:xfrm>
            <a:off x="30875" y="6438783"/>
            <a:ext cx="52350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/>
              <a:t>*Perimetro Consolidamento e Transcodifica attività</a:t>
            </a:r>
          </a:p>
          <a:p>
            <a:r>
              <a:rPr lang="it-IT" sz="800" dirty="0"/>
              <a:t>**BW4Hana e SNOW ha lista di tutti i CC bidone delle varie BL</a:t>
            </a:r>
          </a:p>
          <a:p>
            <a:r>
              <a:rPr lang="it-IT" sz="800" dirty="0"/>
              <a:t>***</a:t>
            </a:r>
            <a:r>
              <a:rPr lang="it-IT" sz="800" dirty="0" err="1"/>
              <a:t>Deadline</a:t>
            </a:r>
            <a:r>
              <a:rPr lang="it-IT" sz="800" dirty="0"/>
              <a:t> definita sulla base del timing di consuntivazione mensile; post </a:t>
            </a:r>
            <a:r>
              <a:rPr lang="it-IT" sz="800" dirty="0" err="1"/>
              <a:t>deadline</a:t>
            </a:r>
            <a:r>
              <a:rPr lang="it-IT" sz="800" dirty="0"/>
              <a:t>= 1° del mese n+1</a:t>
            </a:r>
          </a:p>
        </p:txBody>
      </p:sp>
      <p:sp>
        <p:nvSpPr>
          <p:cNvPr id="266" name="Rettangolo arrotondato 265"/>
          <p:cNvSpPr/>
          <p:nvPr/>
        </p:nvSpPr>
        <p:spPr>
          <a:xfrm>
            <a:off x="191390" y="2963148"/>
            <a:ext cx="1623697" cy="82805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tx1"/>
                </a:solidFill>
              </a:rPr>
              <a:t>Generazione dei case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S.NOW invoca BW4Hana con e-API che risponde con le UO in stato ok / ko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(FULL)</a:t>
            </a:r>
          </a:p>
        </p:txBody>
      </p:sp>
      <p:sp>
        <p:nvSpPr>
          <p:cNvPr id="271" name="Titolo 1"/>
          <p:cNvSpPr txBox="1">
            <a:spLocks/>
          </p:cNvSpPr>
          <p:nvPr/>
        </p:nvSpPr>
        <p:spPr>
          <a:xfrm>
            <a:off x="756699" y="94234"/>
            <a:ext cx="11166596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Generazione</a:t>
            </a:r>
            <a:r>
              <a:rPr lang="en-US" dirty="0"/>
              <a:t> Case per la </a:t>
            </a:r>
            <a:r>
              <a:rPr lang="en-US" dirty="0" err="1"/>
              <a:t>lavorazione</a:t>
            </a:r>
            <a:r>
              <a:rPr lang="en-US" dirty="0"/>
              <a:t> </a:t>
            </a:r>
            <a:r>
              <a:rPr lang="en-US" dirty="0" err="1"/>
              <a:t>dell’aggancio</a:t>
            </a:r>
            <a:endParaRPr lang="en-US" sz="2000" dirty="0"/>
          </a:p>
        </p:txBody>
      </p:sp>
      <p:sp>
        <p:nvSpPr>
          <p:cNvPr id="280" name="Decisione 279"/>
          <p:cNvSpPr/>
          <p:nvPr/>
        </p:nvSpPr>
        <p:spPr>
          <a:xfrm>
            <a:off x="2520425" y="2979765"/>
            <a:ext cx="1033104" cy="791947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Stato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UO</a:t>
            </a:r>
          </a:p>
        </p:txBody>
      </p:sp>
      <p:sp>
        <p:nvSpPr>
          <p:cNvPr id="284" name="Rettangolo 283"/>
          <p:cNvSpPr/>
          <p:nvPr/>
        </p:nvSpPr>
        <p:spPr>
          <a:xfrm>
            <a:off x="1794860" y="3174002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  <p:cxnSp>
        <p:nvCxnSpPr>
          <p:cNvPr id="320" name="Connettore 2 302"/>
          <p:cNvCxnSpPr>
            <a:stCxn id="79" idx="4"/>
            <a:endCxn id="112" idx="0"/>
          </p:cNvCxnSpPr>
          <p:nvPr/>
        </p:nvCxnSpPr>
        <p:spPr>
          <a:xfrm>
            <a:off x="10923716" y="4175792"/>
            <a:ext cx="2095" cy="280875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CasellaDiTesto 332"/>
          <p:cNvSpPr txBox="1"/>
          <p:nvPr/>
        </p:nvSpPr>
        <p:spPr>
          <a:xfrm>
            <a:off x="8395925" y="4306128"/>
            <a:ext cx="16671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it-IT" sz="900" dirty="0"/>
              <a:t>OK</a:t>
            </a:r>
          </a:p>
        </p:txBody>
      </p:sp>
      <p:cxnSp>
        <p:nvCxnSpPr>
          <p:cNvPr id="139" name="Connettore 2 138"/>
          <p:cNvCxnSpPr>
            <a:stCxn id="280" idx="2"/>
            <a:endCxn id="92" idx="0"/>
          </p:cNvCxnSpPr>
          <p:nvPr/>
        </p:nvCxnSpPr>
        <p:spPr>
          <a:xfrm flipH="1">
            <a:off x="3022692" y="3771712"/>
            <a:ext cx="14285" cy="803348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ttore 2 223"/>
          <p:cNvCxnSpPr>
            <a:stCxn id="99" idx="3"/>
            <a:endCxn id="102" idx="1"/>
          </p:cNvCxnSpPr>
          <p:nvPr/>
        </p:nvCxnSpPr>
        <p:spPr>
          <a:xfrm flipV="1">
            <a:off x="3583950" y="5381448"/>
            <a:ext cx="648853" cy="51120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ttore 2 223"/>
          <p:cNvCxnSpPr>
            <a:stCxn id="102" idx="0"/>
            <a:endCxn id="250" idx="1"/>
          </p:cNvCxnSpPr>
          <p:nvPr/>
        </p:nvCxnSpPr>
        <p:spPr>
          <a:xfrm rot="5400000" flipH="1" flipV="1">
            <a:off x="5267402" y="4235723"/>
            <a:ext cx="231705" cy="1267799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ttore 2 201"/>
          <p:cNvCxnSpPr>
            <a:stCxn id="250" idx="3"/>
            <a:endCxn id="205" idx="1"/>
          </p:cNvCxnSpPr>
          <p:nvPr/>
        </p:nvCxnSpPr>
        <p:spPr>
          <a:xfrm>
            <a:off x="7314875" y="4753769"/>
            <a:ext cx="562812" cy="423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Decisione 204"/>
          <p:cNvSpPr/>
          <p:nvPr/>
        </p:nvSpPr>
        <p:spPr>
          <a:xfrm>
            <a:off x="7877687" y="4450053"/>
            <a:ext cx="1472524" cy="615897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Timing «</a:t>
            </a:r>
            <a:r>
              <a:rPr lang="it-IT" sz="900" i="1" dirty="0">
                <a:solidFill>
                  <a:schemeClr val="tx1"/>
                </a:solidFill>
              </a:rPr>
              <a:t>in </a:t>
            </a:r>
            <a:r>
              <a:rPr lang="it-IT" sz="900" i="1" dirty="0" err="1">
                <a:solidFill>
                  <a:schemeClr val="tx1"/>
                </a:solidFill>
              </a:rPr>
              <a:t>deadline</a:t>
            </a:r>
            <a:r>
              <a:rPr lang="it-IT" sz="900" i="1" dirty="0">
                <a:solidFill>
                  <a:schemeClr val="tx1"/>
                </a:solidFill>
              </a:rPr>
              <a:t>»***</a:t>
            </a:r>
            <a:endParaRPr lang="it-IT" sz="900" dirty="0">
              <a:solidFill>
                <a:schemeClr val="tx1"/>
              </a:solidFill>
            </a:endParaRPr>
          </a:p>
        </p:txBody>
      </p:sp>
      <p:cxnSp>
        <p:nvCxnSpPr>
          <p:cNvPr id="212" name="Connettore 2 302"/>
          <p:cNvCxnSpPr>
            <a:stCxn id="205" idx="2"/>
            <a:endCxn id="98" idx="0"/>
          </p:cNvCxnSpPr>
          <p:nvPr/>
        </p:nvCxnSpPr>
        <p:spPr>
          <a:xfrm>
            <a:off x="8613949" y="5065950"/>
            <a:ext cx="0" cy="83715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sellaDiTesto 218"/>
          <p:cNvSpPr txBox="1"/>
          <p:nvPr/>
        </p:nvSpPr>
        <p:spPr>
          <a:xfrm>
            <a:off x="8667895" y="5141525"/>
            <a:ext cx="128240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it-IT" sz="900" dirty="0"/>
              <a:t>KO / OK post </a:t>
            </a:r>
            <a:r>
              <a:rPr lang="it-IT" sz="900" dirty="0" err="1"/>
              <a:t>deadline</a:t>
            </a:r>
            <a:r>
              <a:rPr lang="it-IT" sz="900" dirty="0"/>
              <a:t>***</a:t>
            </a:r>
          </a:p>
        </p:txBody>
      </p:sp>
      <p:sp>
        <p:nvSpPr>
          <p:cNvPr id="67" name="Rettangolo 66"/>
          <p:cNvSpPr/>
          <p:nvPr/>
        </p:nvSpPr>
        <p:spPr>
          <a:xfrm rot="1356687">
            <a:off x="8720426" y="4423817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69" name="Rettangolo 68"/>
          <p:cNvSpPr/>
          <p:nvPr/>
        </p:nvSpPr>
        <p:spPr>
          <a:xfrm>
            <a:off x="3216947" y="4420560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71" name="Rettangolo 70"/>
          <p:cNvSpPr/>
          <p:nvPr/>
        </p:nvSpPr>
        <p:spPr>
          <a:xfrm>
            <a:off x="6783251" y="4394025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87" name="Rettangolo 86"/>
          <p:cNvSpPr/>
          <p:nvPr/>
        </p:nvSpPr>
        <p:spPr>
          <a:xfrm>
            <a:off x="307976" y="2644641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3" name="Callout 5 2"/>
          <p:cNvSpPr/>
          <p:nvPr/>
        </p:nvSpPr>
        <p:spPr>
          <a:xfrm>
            <a:off x="8727493" y="1435589"/>
            <a:ext cx="2152211" cy="689716"/>
          </a:xfrm>
          <a:prstGeom prst="accentCallout1">
            <a:avLst>
              <a:gd name="adj1" fmla="val 18750"/>
              <a:gd name="adj2" fmla="val -8333"/>
              <a:gd name="adj3" fmla="val 95001"/>
              <a:gd name="adj4" fmla="val -802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I CC nuovi dovranno essere creati secondo gli attributi minimi indicati sui CC compatibili proposti</a:t>
            </a:r>
          </a:p>
        </p:txBody>
      </p:sp>
      <p:sp>
        <p:nvSpPr>
          <p:cNvPr id="79" name="Ovale 78"/>
          <p:cNvSpPr/>
          <p:nvPr/>
        </p:nvSpPr>
        <p:spPr>
          <a:xfrm>
            <a:off x="10170302" y="3561354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Cataloghi*</a:t>
            </a:r>
          </a:p>
        </p:txBody>
      </p:sp>
      <p:sp>
        <p:nvSpPr>
          <p:cNvPr id="82" name="Callout 5 81"/>
          <p:cNvSpPr/>
          <p:nvPr/>
        </p:nvSpPr>
        <p:spPr>
          <a:xfrm>
            <a:off x="2319797" y="709549"/>
            <a:ext cx="2356644" cy="1138120"/>
          </a:xfrm>
          <a:prstGeom prst="accentCallout1">
            <a:avLst>
              <a:gd name="adj1" fmla="val 10895"/>
              <a:gd name="adj2" fmla="val 103861"/>
              <a:gd name="adj3" fmla="val 81447"/>
              <a:gd name="adj4" fmla="val 104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case indica al controller che la UO: 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it-IT" sz="900" dirty="0">
                <a:solidFill>
                  <a:schemeClr val="tx1"/>
                </a:solidFill>
              </a:rPr>
              <a:t>Non ha CC reale (CC - </a:t>
            </a:r>
            <a:r>
              <a:rPr lang="it-IT" sz="900" dirty="0" err="1">
                <a:solidFill>
                  <a:schemeClr val="tx1"/>
                </a:solidFill>
              </a:rPr>
              <a:t>Type</a:t>
            </a:r>
            <a:r>
              <a:rPr lang="it-IT" sz="900" dirty="0">
                <a:solidFill>
                  <a:schemeClr val="tx1"/>
                </a:solidFill>
              </a:rPr>
              <a:t>)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it-IT" sz="900" dirty="0">
                <a:solidFill>
                  <a:schemeClr val="tx1"/>
                </a:solidFill>
              </a:rPr>
              <a:t>E’ associata al CC Dummy 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E2E2E"/>
                </a:solidFill>
                <a:effectLst/>
                <a:latin typeface="SourceSansPro"/>
              </a:rPr>
              <a:t>OU - Actual Cost Center e </a:t>
            </a:r>
            <a:r>
              <a:rPr lang="en-US" sz="900" b="0" i="0" dirty="0">
                <a:solidFill>
                  <a:srgbClr val="2E2E2E"/>
                </a:solidFill>
                <a:effectLst/>
                <a:latin typeface="SourceSansPro"/>
              </a:rPr>
              <a:t>REL – Typology = Dummy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2E2E2E"/>
                </a:solidFill>
                <a:effectLst/>
                <a:latin typeface="SourceSansPro"/>
              </a:rPr>
              <a:t>)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it-IT" sz="900" dirty="0">
                <a:solidFill>
                  <a:schemeClr val="tx1"/>
                </a:solidFill>
              </a:rPr>
              <a:t>ha subito una modifica degli attributi </a:t>
            </a:r>
            <a:r>
              <a:rPr lang="it-IT" sz="900" dirty="0" err="1">
                <a:solidFill>
                  <a:schemeClr val="tx1"/>
                </a:solidFill>
              </a:rPr>
              <a:t>org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  <a:r>
              <a:rPr lang="it-IT" sz="900" dirty="0">
                <a:solidFill>
                  <a:srgbClr val="FF0000"/>
                </a:solidFill>
              </a:rPr>
              <a:t>(</a:t>
            </a:r>
            <a:r>
              <a:rPr lang="en-US" sz="900" b="0" i="0" dirty="0">
                <a:solidFill>
                  <a:srgbClr val="2E2E2E"/>
                </a:solidFill>
                <a:effectLst/>
                <a:latin typeface="SourceSansPro"/>
              </a:rPr>
              <a:t>REL – Typology = Modify)</a:t>
            </a:r>
            <a:r>
              <a:rPr lang="it-IT" sz="900" dirty="0">
                <a:solidFill>
                  <a:srgbClr val="FF0000"/>
                </a:solidFill>
              </a:rPr>
              <a:t>.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it-IT" sz="900" dirty="0">
                <a:solidFill>
                  <a:schemeClr val="tx1"/>
                </a:solidFill>
              </a:rPr>
              <a:t>che ha solo CC fittizi (CC – </a:t>
            </a:r>
            <a:r>
              <a:rPr lang="it-IT" sz="900" dirty="0" err="1">
                <a:solidFill>
                  <a:schemeClr val="tx1"/>
                </a:solidFill>
              </a:rPr>
              <a:t>Type</a:t>
            </a:r>
            <a:r>
              <a:rPr lang="it-IT" sz="9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89" name="Connettore 2 88"/>
          <p:cNvCxnSpPr>
            <a:endCxn id="65" idx="0"/>
          </p:cNvCxnSpPr>
          <p:nvPr/>
        </p:nvCxnSpPr>
        <p:spPr>
          <a:xfrm>
            <a:off x="1005918" y="1246461"/>
            <a:ext cx="0" cy="636076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llout 5 106"/>
          <p:cNvSpPr/>
          <p:nvPr/>
        </p:nvSpPr>
        <p:spPr>
          <a:xfrm>
            <a:off x="942451" y="970551"/>
            <a:ext cx="1110080" cy="515051"/>
          </a:xfrm>
          <a:prstGeom prst="accentCallout1">
            <a:avLst>
              <a:gd name="adj1" fmla="val 68290"/>
              <a:gd name="adj2" fmla="val 113056"/>
              <a:gd name="adj3" fmla="val 144755"/>
              <a:gd name="adj4" fmla="val 872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900" dirty="0">
                <a:solidFill>
                  <a:schemeClr val="tx1"/>
                </a:solidFill>
              </a:rPr>
              <a:t>OK - Determinati:</a:t>
            </a:r>
          </a:p>
          <a:p>
            <a:r>
              <a:rPr lang="it-IT" sz="900" dirty="0">
                <a:solidFill>
                  <a:schemeClr val="tx1"/>
                </a:solidFill>
              </a:rPr>
              <a:t>1 o + CC esistenti</a:t>
            </a:r>
          </a:p>
          <a:p>
            <a:r>
              <a:rPr lang="it-IT" sz="900" dirty="0">
                <a:solidFill>
                  <a:schemeClr val="tx1"/>
                </a:solidFill>
              </a:rPr>
              <a:t>1 o + CC compatibili </a:t>
            </a:r>
          </a:p>
        </p:txBody>
      </p:sp>
      <p:sp>
        <p:nvSpPr>
          <p:cNvPr id="123" name="Callout 5 122"/>
          <p:cNvSpPr/>
          <p:nvPr/>
        </p:nvSpPr>
        <p:spPr>
          <a:xfrm>
            <a:off x="5509679" y="875188"/>
            <a:ext cx="1854457" cy="506159"/>
          </a:xfrm>
          <a:prstGeom prst="accentCallout1">
            <a:avLst>
              <a:gd name="adj1" fmla="val 8277"/>
              <a:gd name="adj2" fmla="val -3331"/>
              <a:gd name="adj3" fmla="val 101962"/>
              <a:gd name="adj4" fmla="val -2778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Una notifica con evidenza di più ticket lavorabili singolarmente</a:t>
            </a:r>
          </a:p>
        </p:txBody>
      </p:sp>
      <p:sp>
        <p:nvSpPr>
          <p:cNvPr id="124" name="Rettangolo con angoli arrotondati in diagonale 123"/>
          <p:cNvSpPr/>
          <p:nvPr/>
        </p:nvSpPr>
        <p:spPr>
          <a:xfrm>
            <a:off x="9417166" y="35419"/>
            <a:ext cx="1116774" cy="671911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Produrre un catalogo profili per assegnare i case ai controller di competenza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cxnSp>
        <p:nvCxnSpPr>
          <p:cNvPr id="125" name="Connettore 2 124"/>
          <p:cNvCxnSpPr>
            <a:stCxn id="49" idx="3"/>
          </p:cNvCxnSpPr>
          <p:nvPr/>
        </p:nvCxnSpPr>
        <p:spPr>
          <a:xfrm>
            <a:off x="7456986" y="1920836"/>
            <a:ext cx="645117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allout 5 125"/>
          <p:cNvSpPr/>
          <p:nvPr/>
        </p:nvSpPr>
        <p:spPr>
          <a:xfrm>
            <a:off x="442104" y="5611172"/>
            <a:ext cx="1275431" cy="495946"/>
          </a:xfrm>
          <a:prstGeom prst="accentCallout1">
            <a:avLst>
              <a:gd name="adj1" fmla="val 62348"/>
              <a:gd name="adj2" fmla="val 103861"/>
              <a:gd name="adj3" fmla="val 53334"/>
              <a:gd name="adj4" fmla="val 15586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Verifica congiunta con organizzazione per analizzare il caso</a:t>
            </a:r>
          </a:p>
        </p:txBody>
      </p:sp>
      <p:grpSp>
        <p:nvGrpSpPr>
          <p:cNvPr id="134" name="Gruppo 133"/>
          <p:cNvGrpSpPr/>
          <p:nvPr/>
        </p:nvGrpSpPr>
        <p:grpSpPr>
          <a:xfrm>
            <a:off x="11378843" y="4076710"/>
            <a:ext cx="697627" cy="405814"/>
            <a:chOff x="4236153" y="1886651"/>
            <a:chExt cx="711775" cy="386813"/>
          </a:xfrm>
        </p:grpSpPr>
        <p:sp>
          <p:nvSpPr>
            <p:cNvPr id="135" name="Rettangolo 134"/>
            <p:cNvSpPr/>
            <p:nvPr/>
          </p:nvSpPr>
          <p:spPr>
            <a:xfrm>
              <a:off x="4236153" y="2053440"/>
              <a:ext cx="711775" cy="2200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66750">
                <a:spcBef>
                  <a:spcPct val="0"/>
                </a:spcBef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136" name="Immagine 135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561" y="1886651"/>
              <a:ext cx="160511" cy="221906"/>
            </a:xfrm>
            <a:prstGeom prst="rect">
              <a:avLst/>
            </a:prstGeom>
          </p:spPr>
        </p:pic>
      </p:grpSp>
      <p:sp>
        <p:nvSpPr>
          <p:cNvPr id="140" name="Callout 5 139"/>
          <p:cNvSpPr/>
          <p:nvPr/>
        </p:nvSpPr>
        <p:spPr>
          <a:xfrm>
            <a:off x="10297059" y="5202707"/>
            <a:ext cx="1746569" cy="754281"/>
          </a:xfrm>
          <a:prstGeom prst="accentCallout1">
            <a:avLst>
              <a:gd name="adj1" fmla="val 18750"/>
              <a:gd name="adj2" fmla="val -8333"/>
              <a:gd name="adj3" fmla="val 85487"/>
              <a:gd name="adj4" fmla="val -46368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Da capire se i CC bidone sono già presenti su service </a:t>
            </a:r>
            <a:r>
              <a:rPr lang="it-IT" sz="1000" dirty="0" err="1">
                <a:solidFill>
                  <a:schemeClr val="tx1"/>
                </a:solidFill>
              </a:rPr>
              <a:t>now</a:t>
            </a:r>
            <a:r>
              <a:rPr lang="it-IT" sz="1000" dirty="0">
                <a:solidFill>
                  <a:schemeClr val="tx1"/>
                </a:solidFill>
              </a:rPr>
              <a:t> o se è necessario un recupero da BW4HANA</a:t>
            </a:r>
          </a:p>
        </p:txBody>
      </p:sp>
      <p:cxnSp>
        <p:nvCxnSpPr>
          <p:cNvPr id="146" name="Connettore 2 223"/>
          <p:cNvCxnSpPr>
            <a:stCxn id="98" idx="3"/>
          </p:cNvCxnSpPr>
          <p:nvPr/>
        </p:nvCxnSpPr>
        <p:spPr>
          <a:xfrm flipV="1">
            <a:off x="9977006" y="6230049"/>
            <a:ext cx="804887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ttangolo arrotondato 151"/>
          <p:cNvSpPr/>
          <p:nvPr/>
        </p:nvSpPr>
        <p:spPr>
          <a:xfrm>
            <a:off x="4164640" y="2432378"/>
            <a:ext cx="1692951" cy="76140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Si genera un case assegnato al controller indicando le UO con CC esistenti e/o compatibili da agganciare</a:t>
            </a:r>
          </a:p>
        </p:txBody>
      </p:sp>
      <p:cxnSp>
        <p:nvCxnSpPr>
          <p:cNvPr id="154" name="Connettore 2 153"/>
          <p:cNvCxnSpPr>
            <a:stCxn id="152" idx="3"/>
            <a:endCxn id="70" idx="1"/>
          </p:cNvCxnSpPr>
          <p:nvPr/>
        </p:nvCxnSpPr>
        <p:spPr>
          <a:xfrm flipV="1">
            <a:off x="5857591" y="2812184"/>
            <a:ext cx="517996" cy="895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2 87"/>
          <p:cNvCxnSpPr>
            <a:cxnSpLocks/>
            <a:stCxn id="70" idx="3"/>
          </p:cNvCxnSpPr>
          <p:nvPr/>
        </p:nvCxnSpPr>
        <p:spPr>
          <a:xfrm>
            <a:off x="8203707" y="2812184"/>
            <a:ext cx="1464870" cy="102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223"/>
          <p:cNvCxnSpPr>
            <a:stCxn id="65" idx="4"/>
            <a:endCxn id="266" idx="0"/>
          </p:cNvCxnSpPr>
          <p:nvPr/>
        </p:nvCxnSpPr>
        <p:spPr>
          <a:xfrm rot="5400000">
            <a:off x="771493" y="2728722"/>
            <a:ext cx="466173" cy="267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ttore 2 223"/>
          <p:cNvCxnSpPr>
            <a:stCxn id="266" idx="3"/>
            <a:endCxn id="280" idx="1"/>
          </p:cNvCxnSpPr>
          <p:nvPr/>
        </p:nvCxnSpPr>
        <p:spPr>
          <a:xfrm flipV="1">
            <a:off x="1815087" y="3375739"/>
            <a:ext cx="705338" cy="14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ttangolo con angoli arrotondati in diagonale 113"/>
          <p:cNvSpPr/>
          <p:nvPr/>
        </p:nvSpPr>
        <p:spPr>
          <a:xfrm>
            <a:off x="10533940" y="35420"/>
            <a:ext cx="1564621" cy="667538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Per ogni UO dovrà esserci un solo ticket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144BF49-5305-2FC5-8473-1B3C984C0AA4}"/>
              </a:ext>
            </a:extLst>
          </p:cNvPr>
          <p:cNvCxnSpPr>
            <a:stCxn id="152" idx="0"/>
            <a:endCxn id="49" idx="1"/>
          </p:cNvCxnSpPr>
          <p:nvPr/>
        </p:nvCxnSpPr>
        <p:spPr>
          <a:xfrm rot="5400000" flipH="1" flipV="1">
            <a:off x="4982335" y="1949617"/>
            <a:ext cx="511542" cy="45398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8EE0987-9453-393D-9E9A-C95BAD5F2EA4}"/>
              </a:ext>
            </a:extLst>
          </p:cNvPr>
          <p:cNvCxnSpPr>
            <a:stCxn id="123" idx="1"/>
            <a:endCxn id="49" idx="0"/>
          </p:cNvCxnSpPr>
          <p:nvPr/>
        </p:nvCxnSpPr>
        <p:spPr>
          <a:xfrm rot="16200000" flipH="1">
            <a:off x="6299517" y="1518738"/>
            <a:ext cx="298916" cy="2413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9FE6C61-E231-0973-406E-8FF343F69AEC}"/>
              </a:ext>
            </a:extLst>
          </p:cNvPr>
          <p:cNvCxnSpPr>
            <a:stCxn id="3" idx="1"/>
            <a:endCxn id="70" idx="0"/>
          </p:cNvCxnSpPr>
          <p:nvPr/>
        </p:nvCxnSpPr>
        <p:spPr>
          <a:xfrm rot="5400000">
            <a:off x="8356793" y="1058159"/>
            <a:ext cx="379660" cy="251395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75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85145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Cruscotto</a:t>
            </a:r>
            <a:r>
              <a:rPr lang="en-US" dirty="0"/>
              <a:t> </a:t>
            </a:r>
            <a:r>
              <a:rPr lang="en-US" dirty="0" err="1"/>
              <a:t>Aggancio</a:t>
            </a:r>
            <a:r>
              <a:rPr lang="en-US" dirty="0"/>
              <a:t> UO-CC</a:t>
            </a:r>
          </a:p>
        </p:txBody>
      </p:sp>
      <p:sp>
        <p:nvSpPr>
          <p:cNvPr id="48" name="Rettangolo arrotondato 47"/>
          <p:cNvSpPr/>
          <p:nvPr/>
        </p:nvSpPr>
        <p:spPr>
          <a:xfrm>
            <a:off x="2660195" y="3943736"/>
            <a:ext cx="2103573" cy="73499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</a:pPr>
            <a:r>
              <a:rPr lang="it-IT" sz="900" i="1" kern="1200" dirty="0">
                <a:solidFill>
                  <a:schemeClr val="accent1">
                    <a:lumMod val="50000"/>
                  </a:schemeClr>
                </a:solidFill>
              </a:rPr>
              <a:t>Casistiche OK:</a:t>
            </a:r>
          </a:p>
          <a:p>
            <a:pPr marL="228600" indent="-228600" defTabSz="666750">
              <a:spcBef>
                <a:spcPct val="0"/>
              </a:spcBef>
              <a:buAutoNum type="arabicPeriod"/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Uno o Più CC idonei esistenti </a:t>
            </a:r>
          </a:p>
          <a:p>
            <a:pPr marL="228600" indent="-228600" defTabSz="666750">
              <a:spcBef>
                <a:spcPct val="0"/>
              </a:spcBef>
              <a:buFont typeface="+mj-lt"/>
              <a:buAutoNum type="arabicPeriod"/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Nessun CC idoneo esistente ma ho la compatibilità – devi  crearlo</a:t>
            </a:r>
          </a:p>
        </p:txBody>
      </p:sp>
      <p:grpSp>
        <p:nvGrpSpPr>
          <p:cNvPr id="31" name="Gruppo 30"/>
          <p:cNvGrpSpPr/>
          <p:nvPr/>
        </p:nvGrpSpPr>
        <p:grpSpPr>
          <a:xfrm>
            <a:off x="5405355" y="2585996"/>
            <a:ext cx="1728634" cy="814945"/>
            <a:chOff x="8615574" y="2171299"/>
            <a:chExt cx="1728634" cy="814945"/>
          </a:xfrm>
        </p:grpSpPr>
        <p:sp>
          <p:nvSpPr>
            <p:cNvPr id="56" name="Rettangolo arrotondato 55"/>
            <p:cNvSpPr/>
            <p:nvPr/>
          </p:nvSpPr>
          <p:spPr>
            <a:xfrm>
              <a:off x="8615574" y="2388890"/>
              <a:ext cx="1584911" cy="597354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CC risale su SAP </a:t>
              </a:r>
              <a:r>
                <a:rPr lang="it-IT" sz="900" kern="1200" dirty="0" err="1">
                  <a:solidFill>
                    <a:schemeClr val="tx1"/>
                  </a:solidFill>
                </a:rPr>
                <a:t>Hrglo</a:t>
              </a:r>
              <a:endParaRPr lang="it-IT" sz="900" kern="1200" dirty="0">
                <a:solidFill>
                  <a:schemeClr val="tx1"/>
                </a:solidFill>
              </a:endParaRP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i="1" dirty="0">
                  <a:solidFill>
                    <a:schemeClr val="tx1"/>
                  </a:solidFill>
                </a:rPr>
                <a:t>(Anagrafiche cc – tabella </a:t>
              </a:r>
              <a:r>
                <a:rPr lang="it-IT" sz="900" i="1" dirty="0" err="1">
                  <a:solidFill>
                    <a:schemeClr val="tx1"/>
                  </a:solidFill>
                </a:rPr>
                <a:t>csks</a:t>
              </a:r>
              <a:r>
                <a:rPr lang="it-IT" sz="900" i="1" dirty="0">
                  <a:solidFill>
                    <a:schemeClr val="tx1"/>
                  </a:solidFill>
                </a:rPr>
                <a:t> e aggancio)</a:t>
              </a:r>
              <a:endParaRPr lang="it-IT" sz="900" i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61" name="Rettangolo 60"/>
            <p:cNvSpPr/>
            <p:nvPr/>
          </p:nvSpPr>
          <p:spPr>
            <a:xfrm>
              <a:off x="9550401" y="2171299"/>
              <a:ext cx="79380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SAP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HRglo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2" name="Gruppo 31"/>
          <p:cNvGrpSpPr/>
          <p:nvPr/>
        </p:nvGrpSpPr>
        <p:grpSpPr>
          <a:xfrm>
            <a:off x="624812" y="2640247"/>
            <a:ext cx="1506828" cy="777778"/>
            <a:chOff x="4040538" y="2208466"/>
            <a:chExt cx="1506828" cy="777778"/>
          </a:xfrm>
        </p:grpSpPr>
        <p:sp>
          <p:nvSpPr>
            <p:cNvPr id="57" name="Ovale 56"/>
            <p:cNvSpPr/>
            <p:nvPr/>
          </p:nvSpPr>
          <p:spPr>
            <a:xfrm>
              <a:off x="4040538" y="2371806"/>
              <a:ext cx="1506828" cy="61443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Generazione case</a:t>
              </a:r>
            </a:p>
          </p:txBody>
        </p:sp>
        <p:sp>
          <p:nvSpPr>
            <p:cNvPr id="64" name="Rettangolo 63"/>
            <p:cNvSpPr/>
            <p:nvPr/>
          </p:nvSpPr>
          <p:spPr>
            <a:xfrm>
              <a:off x="4908862" y="2208466"/>
              <a:ext cx="575800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S.NOW</a:t>
              </a:r>
            </a:p>
          </p:txBody>
        </p:sp>
      </p:grpSp>
      <p:sp>
        <p:nvSpPr>
          <p:cNvPr id="68" name="Rettangolo arrotondato 67"/>
          <p:cNvSpPr/>
          <p:nvPr/>
        </p:nvSpPr>
        <p:spPr>
          <a:xfrm>
            <a:off x="2916778" y="2748738"/>
            <a:ext cx="1506828" cy="7092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Cruscotto Aggancio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UO-CC*</a:t>
            </a:r>
          </a:p>
        </p:txBody>
      </p:sp>
      <p:cxnSp>
        <p:nvCxnSpPr>
          <p:cNvPr id="69" name="Connettore 2 68"/>
          <p:cNvCxnSpPr>
            <a:stCxn id="57" idx="6"/>
            <a:endCxn id="68" idx="1"/>
          </p:cNvCxnSpPr>
          <p:nvPr/>
        </p:nvCxnSpPr>
        <p:spPr>
          <a:xfrm flipV="1">
            <a:off x="2131640" y="3103338"/>
            <a:ext cx="785138" cy="7468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o 28"/>
          <p:cNvGrpSpPr/>
          <p:nvPr/>
        </p:nvGrpSpPr>
        <p:grpSpPr>
          <a:xfrm>
            <a:off x="3263146" y="2044897"/>
            <a:ext cx="723275" cy="554746"/>
            <a:chOff x="5607478" y="2774142"/>
            <a:chExt cx="723275" cy="554746"/>
          </a:xfrm>
        </p:grpSpPr>
        <p:pic>
          <p:nvPicPr>
            <p:cNvPr id="71" name="Immagine 70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62228" y="2774142"/>
              <a:ext cx="266850" cy="320715"/>
            </a:xfrm>
            <a:prstGeom prst="rect">
              <a:avLst/>
            </a:prstGeom>
          </p:spPr>
        </p:pic>
        <p:sp>
          <p:nvSpPr>
            <p:cNvPr id="72" name="Rettangolo 71"/>
            <p:cNvSpPr/>
            <p:nvPr/>
          </p:nvSpPr>
          <p:spPr>
            <a:xfrm>
              <a:off x="5607478" y="3111906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22" name="Freccia in giù 21"/>
          <p:cNvSpPr/>
          <p:nvPr/>
        </p:nvSpPr>
        <p:spPr>
          <a:xfrm>
            <a:off x="3435035" y="3457938"/>
            <a:ext cx="484632" cy="496546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kern="1200" dirty="0">
              <a:solidFill>
                <a:schemeClr val="tx1"/>
              </a:solidFill>
            </a:endParaRPr>
          </a:p>
        </p:txBody>
      </p:sp>
      <p:grpSp>
        <p:nvGrpSpPr>
          <p:cNvPr id="90" name="Gruppo 89"/>
          <p:cNvGrpSpPr/>
          <p:nvPr/>
        </p:nvGrpSpPr>
        <p:grpSpPr>
          <a:xfrm>
            <a:off x="8790016" y="3293976"/>
            <a:ext cx="920307" cy="803365"/>
            <a:chOff x="8796987" y="2182879"/>
            <a:chExt cx="1640755" cy="803365"/>
          </a:xfrm>
        </p:grpSpPr>
        <p:sp>
          <p:nvSpPr>
            <p:cNvPr id="91" name="Rettangolo arrotondato 90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CC-UO scende sui sistemi HR </a:t>
              </a:r>
              <a:r>
                <a:rPr lang="it-IT" sz="900" kern="1200" dirty="0" err="1">
                  <a:solidFill>
                    <a:schemeClr val="tx1"/>
                  </a:solidFill>
                </a:rPr>
                <a:t>local</a:t>
              </a:r>
              <a:endParaRPr lang="it-IT" sz="900" kern="1200" dirty="0">
                <a:solidFill>
                  <a:schemeClr val="tx1"/>
                </a:solidFill>
              </a:endParaRPr>
            </a:p>
          </p:txBody>
        </p:sp>
        <p:sp>
          <p:nvSpPr>
            <p:cNvPr id="96" name="Rettangolo 95"/>
            <p:cNvSpPr/>
            <p:nvPr/>
          </p:nvSpPr>
          <p:spPr>
            <a:xfrm>
              <a:off x="8805315" y="2182879"/>
              <a:ext cx="163242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SAP HR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97" name="Gruppo 96"/>
          <p:cNvGrpSpPr/>
          <p:nvPr/>
        </p:nvGrpSpPr>
        <p:grpSpPr>
          <a:xfrm>
            <a:off x="7411104" y="5244297"/>
            <a:ext cx="1731842" cy="796429"/>
            <a:chOff x="8796987" y="2189815"/>
            <a:chExt cx="1731842" cy="796429"/>
          </a:xfrm>
        </p:grpSpPr>
        <p:sp>
          <p:nvSpPr>
            <p:cNvPr id="99" name="Rettangolo arrotondato 98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CC-UO risale su sistemi locali</a:t>
              </a:r>
            </a:p>
          </p:txBody>
        </p:sp>
        <p:sp>
          <p:nvSpPr>
            <p:cNvPr id="100" name="Rettangolo 99"/>
            <p:cNvSpPr/>
            <p:nvPr/>
          </p:nvSpPr>
          <p:spPr>
            <a:xfrm>
              <a:off x="8850163" y="2189815"/>
              <a:ext cx="1678666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Amministrazione AFC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03" name="Rettangolo 102"/>
          <p:cNvSpPr/>
          <p:nvPr/>
        </p:nvSpPr>
        <p:spPr>
          <a:xfrm>
            <a:off x="4626581" y="2890090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106" name="Rettangolo 105"/>
          <p:cNvSpPr/>
          <p:nvPr/>
        </p:nvSpPr>
        <p:spPr>
          <a:xfrm>
            <a:off x="6990266" y="2900408"/>
            <a:ext cx="793808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sp>
        <p:nvSpPr>
          <p:cNvPr id="107" name="Rettangolo 106"/>
          <p:cNvSpPr/>
          <p:nvPr/>
        </p:nvSpPr>
        <p:spPr>
          <a:xfrm>
            <a:off x="3809653" y="2533492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grpSp>
        <p:nvGrpSpPr>
          <p:cNvPr id="43" name="Gruppo 42"/>
          <p:cNvGrpSpPr/>
          <p:nvPr/>
        </p:nvGrpSpPr>
        <p:grpSpPr>
          <a:xfrm>
            <a:off x="8493594" y="1943832"/>
            <a:ext cx="1073546" cy="610549"/>
            <a:chOff x="8752881" y="1719631"/>
            <a:chExt cx="1354412" cy="1266613"/>
          </a:xfrm>
        </p:grpSpPr>
        <p:sp>
          <p:nvSpPr>
            <p:cNvPr id="44" name="Rettangolo arrotondato 43"/>
            <p:cNvSpPr/>
            <p:nvPr/>
          </p:nvSpPr>
          <p:spPr>
            <a:xfrm>
              <a:off x="8752881" y="2044831"/>
              <a:ext cx="1295867" cy="941413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Chiusura automatica </a:t>
              </a:r>
              <a:r>
                <a:rPr lang="it-IT" sz="900" dirty="0">
                  <a:solidFill>
                    <a:schemeClr val="tx1"/>
                  </a:solidFill>
                </a:rPr>
                <a:t>ca</a:t>
              </a:r>
              <a:r>
                <a:rPr lang="it-IT" sz="900" kern="1200" dirty="0">
                  <a:solidFill>
                    <a:schemeClr val="tx1"/>
                  </a:solidFill>
                </a:rPr>
                <a:t>se su S.NOW</a:t>
              </a:r>
            </a:p>
          </p:txBody>
        </p:sp>
        <p:sp>
          <p:nvSpPr>
            <p:cNvPr id="46" name="Rettangolo 45"/>
            <p:cNvSpPr/>
            <p:nvPr/>
          </p:nvSpPr>
          <p:spPr>
            <a:xfrm>
              <a:off x="9340403" y="1719631"/>
              <a:ext cx="766890" cy="4501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S. NOW</a:t>
              </a:r>
            </a:p>
          </p:txBody>
        </p:sp>
      </p:grpSp>
      <p:cxnSp>
        <p:nvCxnSpPr>
          <p:cNvPr id="52" name="Connettore 2 51"/>
          <p:cNvCxnSpPr>
            <a:cxnSpLocks/>
            <a:stCxn id="56" idx="3"/>
            <a:endCxn id="44" idx="1"/>
          </p:cNvCxnSpPr>
          <p:nvPr/>
        </p:nvCxnSpPr>
        <p:spPr>
          <a:xfrm flipV="1">
            <a:off x="6990266" y="2327485"/>
            <a:ext cx="1503328" cy="77477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/>
          <p:cNvCxnSpPr>
            <a:stCxn id="44" idx="3"/>
          </p:cNvCxnSpPr>
          <p:nvPr/>
        </p:nvCxnSpPr>
        <p:spPr>
          <a:xfrm>
            <a:off x="9520739" y="2327485"/>
            <a:ext cx="300734" cy="249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uppo 53"/>
          <p:cNvGrpSpPr/>
          <p:nvPr/>
        </p:nvGrpSpPr>
        <p:grpSpPr>
          <a:xfrm>
            <a:off x="9821470" y="1917747"/>
            <a:ext cx="1073546" cy="610549"/>
            <a:chOff x="8752881" y="1719631"/>
            <a:chExt cx="1354412" cy="1266613"/>
          </a:xfrm>
        </p:grpSpPr>
        <p:sp>
          <p:nvSpPr>
            <p:cNvPr id="55" name="Rettangolo arrotondato 54"/>
            <p:cNvSpPr/>
            <p:nvPr/>
          </p:nvSpPr>
          <p:spPr>
            <a:xfrm>
              <a:off x="8752881" y="2044831"/>
              <a:ext cx="1295867" cy="941413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Notifica automatica per chiusura case</a:t>
              </a:r>
            </a:p>
          </p:txBody>
        </p:sp>
        <p:sp>
          <p:nvSpPr>
            <p:cNvPr id="59" name="Rettangolo 58"/>
            <p:cNvSpPr/>
            <p:nvPr/>
          </p:nvSpPr>
          <p:spPr>
            <a:xfrm>
              <a:off x="9340403" y="1719631"/>
              <a:ext cx="766890" cy="4501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S. NOW</a:t>
              </a:r>
            </a:p>
          </p:txBody>
        </p:sp>
      </p:grpSp>
      <p:grpSp>
        <p:nvGrpSpPr>
          <p:cNvPr id="60" name="Gruppo 59"/>
          <p:cNvGrpSpPr/>
          <p:nvPr/>
        </p:nvGrpSpPr>
        <p:grpSpPr>
          <a:xfrm>
            <a:off x="10817079" y="1663588"/>
            <a:ext cx="723275" cy="554746"/>
            <a:chOff x="375342" y="2358310"/>
            <a:chExt cx="720241" cy="554746"/>
          </a:xfrm>
        </p:grpSpPr>
        <p:pic>
          <p:nvPicPr>
            <p:cNvPr id="62" name="Immagine 61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63" name="Rettangolo 62"/>
            <p:cNvSpPr/>
            <p:nvPr/>
          </p:nvSpPr>
          <p:spPr>
            <a:xfrm>
              <a:off x="375342" y="2696074"/>
              <a:ext cx="720241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65" name="Gruppo 64"/>
          <p:cNvGrpSpPr/>
          <p:nvPr/>
        </p:nvGrpSpPr>
        <p:grpSpPr>
          <a:xfrm>
            <a:off x="10745083" y="2267855"/>
            <a:ext cx="889987" cy="554746"/>
            <a:chOff x="292337" y="2358310"/>
            <a:chExt cx="886255" cy="554746"/>
          </a:xfrm>
        </p:grpSpPr>
        <p:pic>
          <p:nvPicPr>
            <p:cNvPr id="66" name="Immagine 65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70" name="Rettangolo 69"/>
            <p:cNvSpPr/>
            <p:nvPr/>
          </p:nvSpPr>
          <p:spPr>
            <a:xfrm>
              <a:off x="292337" y="2696074"/>
              <a:ext cx="88625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Holding</a:t>
              </a:r>
            </a:p>
          </p:txBody>
        </p:sp>
      </p:grpSp>
      <p:sp>
        <p:nvSpPr>
          <p:cNvPr id="81" name="Rettangolo con angoli arrotondati in diagonale 80"/>
          <p:cNvSpPr/>
          <p:nvPr/>
        </p:nvSpPr>
        <p:spPr>
          <a:xfrm>
            <a:off x="843314" y="3971340"/>
            <a:ext cx="1784040" cy="696208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Il KO aperto per incompatibilità attività/BSER deve essere riportato sul cruscotto rispetto alla UO</a:t>
            </a:r>
          </a:p>
        </p:txBody>
      </p:sp>
      <p:sp>
        <p:nvSpPr>
          <p:cNvPr id="83" name="Rettangolo 82"/>
          <p:cNvSpPr/>
          <p:nvPr/>
        </p:nvSpPr>
        <p:spPr>
          <a:xfrm>
            <a:off x="-15021" y="5780187"/>
            <a:ext cx="8979506" cy="1082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¹Cruscotto permette di visualizzare: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con i relativi attributi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che non hanno un CC 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avuto una modifica degli attributi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ricevuto un KO di incompatibilità attività/BSER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bidone collegato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fittizio</a:t>
            </a:r>
          </a:p>
        </p:txBody>
      </p:sp>
      <p:grpSp>
        <p:nvGrpSpPr>
          <p:cNvPr id="80" name="Gruppo 79"/>
          <p:cNvGrpSpPr/>
          <p:nvPr/>
        </p:nvGrpSpPr>
        <p:grpSpPr>
          <a:xfrm>
            <a:off x="11068157" y="2870624"/>
            <a:ext cx="351379" cy="554746"/>
            <a:chOff x="560512" y="2358310"/>
            <a:chExt cx="349905" cy="554746"/>
          </a:xfrm>
        </p:grpSpPr>
        <p:pic>
          <p:nvPicPr>
            <p:cNvPr id="82" name="Immagine 81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84" name="Rettangolo 83"/>
            <p:cNvSpPr/>
            <p:nvPr/>
          </p:nvSpPr>
          <p:spPr>
            <a:xfrm>
              <a:off x="560512" y="2696074"/>
              <a:ext cx="34990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HR</a:t>
              </a:r>
            </a:p>
          </p:txBody>
        </p:sp>
      </p:grpSp>
      <p:grpSp>
        <p:nvGrpSpPr>
          <p:cNvPr id="87" name="Gruppo 86"/>
          <p:cNvGrpSpPr/>
          <p:nvPr/>
        </p:nvGrpSpPr>
        <p:grpSpPr>
          <a:xfrm>
            <a:off x="5709170" y="4214273"/>
            <a:ext cx="1511955" cy="814945"/>
            <a:chOff x="8796987" y="2171299"/>
            <a:chExt cx="1511955" cy="814945"/>
          </a:xfrm>
        </p:grpSpPr>
        <p:sp>
          <p:nvSpPr>
            <p:cNvPr id="88" name="Rettangolo arrotondato 87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BW4Hana riceve l’info dell’aggancio da S.NOW</a:t>
              </a:r>
              <a:endParaRPr lang="it-IT" sz="900" kern="1200" dirty="0">
                <a:solidFill>
                  <a:schemeClr val="tx1"/>
                </a:solidFill>
              </a:endParaRPr>
            </a:p>
          </p:txBody>
        </p:sp>
        <p:sp>
          <p:nvSpPr>
            <p:cNvPr id="89" name="Rettangolo 88"/>
            <p:cNvSpPr/>
            <p:nvPr/>
          </p:nvSpPr>
          <p:spPr>
            <a:xfrm>
              <a:off x="9585667" y="2171299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BW4Hana</a:t>
              </a:r>
            </a:p>
          </p:txBody>
        </p:sp>
      </p:grpSp>
      <p:cxnSp>
        <p:nvCxnSpPr>
          <p:cNvPr id="92" name="Connettore 2 51"/>
          <p:cNvCxnSpPr>
            <a:stCxn id="88" idx="2"/>
            <a:endCxn id="99" idx="1"/>
          </p:cNvCxnSpPr>
          <p:nvPr/>
        </p:nvCxnSpPr>
        <p:spPr>
          <a:xfrm rot="16200000" flipH="1">
            <a:off x="6584700" y="4907102"/>
            <a:ext cx="704289" cy="94852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tangolo 92"/>
          <p:cNvSpPr/>
          <p:nvPr/>
        </p:nvSpPr>
        <p:spPr>
          <a:xfrm>
            <a:off x="6391124" y="5516525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cxnSp>
        <p:nvCxnSpPr>
          <p:cNvPr id="74" name="Connettore 2 51"/>
          <p:cNvCxnSpPr>
            <a:stCxn id="68" idx="3"/>
            <a:endCxn id="88" idx="1"/>
          </p:cNvCxnSpPr>
          <p:nvPr/>
        </p:nvCxnSpPr>
        <p:spPr>
          <a:xfrm>
            <a:off x="4423606" y="3103338"/>
            <a:ext cx="1285564" cy="1618661"/>
          </a:xfrm>
          <a:prstGeom prst="bentConnector3">
            <a:avLst>
              <a:gd name="adj1" fmla="val 39492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ttangolo con angoli ritagliati in diagonale 57"/>
          <p:cNvSpPr/>
          <p:nvPr/>
        </p:nvSpPr>
        <p:spPr>
          <a:xfrm>
            <a:off x="804794" y="1562489"/>
            <a:ext cx="2525292" cy="776902"/>
          </a:xfrm>
          <a:prstGeom prst="snip2DiagRect">
            <a:avLst/>
          </a:prstGeom>
          <a:solidFill>
            <a:srgbClr val="FF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bg1"/>
                </a:solidFill>
              </a:rPr>
              <a:t>Per UO di società dell’ex perimetro Endesa (ex Brasile) le UO avranno già un CC agganciato di tipo «</a:t>
            </a:r>
            <a:r>
              <a:rPr lang="it-IT" sz="900" kern="1200" dirty="0" err="1">
                <a:solidFill>
                  <a:schemeClr val="bg1"/>
                </a:solidFill>
              </a:rPr>
              <a:t>dummy</a:t>
            </a:r>
            <a:r>
              <a:rPr lang="it-IT" sz="900" kern="1200" dirty="0">
                <a:solidFill>
                  <a:schemeClr val="bg1"/>
                </a:solidFill>
              </a:rPr>
              <a:t>» e per le quali occorre fare uno sgancio ed un riaggancio al centro di costo reale </a:t>
            </a:r>
          </a:p>
        </p:txBody>
      </p:sp>
      <p:cxnSp>
        <p:nvCxnSpPr>
          <p:cNvPr id="77" name="Connettore 2 51"/>
          <p:cNvCxnSpPr>
            <a:cxnSpLocks/>
            <a:stCxn id="56" idx="3"/>
            <a:endCxn id="91" idx="1"/>
          </p:cNvCxnSpPr>
          <p:nvPr/>
        </p:nvCxnSpPr>
        <p:spPr>
          <a:xfrm>
            <a:off x="6990266" y="3102264"/>
            <a:ext cx="1799750" cy="68785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ttore 2 51"/>
          <p:cNvCxnSpPr>
            <a:cxnSpLocks/>
            <a:stCxn id="88" idx="0"/>
            <a:endCxn id="56" idx="2"/>
          </p:cNvCxnSpPr>
          <p:nvPr/>
        </p:nvCxnSpPr>
        <p:spPr>
          <a:xfrm rot="16200000" flipV="1">
            <a:off x="5823279" y="3775474"/>
            <a:ext cx="1013839" cy="26477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51"/>
          <p:cNvCxnSpPr>
            <a:cxnSpLocks/>
            <a:stCxn id="68" idx="3"/>
            <a:endCxn id="56" idx="1"/>
          </p:cNvCxnSpPr>
          <p:nvPr/>
        </p:nvCxnSpPr>
        <p:spPr>
          <a:xfrm flipV="1">
            <a:off x="4423606" y="3102264"/>
            <a:ext cx="981749" cy="107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/>
          <p:nvPr/>
        </p:nvCxnSpPr>
        <p:spPr>
          <a:xfrm flipH="1">
            <a:off x="5066388" y="2177740"/>
            <a:ext cx="653143" cy="6448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5748650" y="1907753"/>
            <a:ext cx="202492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1400" dirty="0"/>
              <a:t>Aggancio UO-CC</a:t>
            </a:r>
          </a:p>
        </p:txBody>
      </p:sp>
      <p:cxnSp>
        <p:nvCxnSpPr>
          <p:cNvPr id="73" name="Connettore 2 72"/>
          <p:cNvCxnSpPr/>
          <p:nvPr/>
        </p:nvCxnSpPr>
        <p:spPr>
          <a:xfrm flipH="1">
            <a:off x="6521670" y="3766673"/>
            <a:ext cx="415174" cy="3710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/>
          <p:cNvSpPr txBox="1"/>
          <p:nvPr/>
        </p:nvSpPr>
        <p:spPr>
          <a:xfrm>
            <a:off x="6485557" y="3524970"/>
            <a:ext cx="130803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1400" dirty="0"/>
              <a:t>Anagrafica CC</a:t>
            </a:r>
          </a:p>
        </p:txBody>
      </p:sp>
    </p:spTree>
    <p:extLst>
      <p:ext uri="{BB962C8B-B14F-4D97-AF65-F5344CB8AC3E}">
        <p14:creationId xmlns:p14="http://schemas.microsoft.com/office/powerpoint/2010/main" val="42317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1998" y="670121"/>
            <a:ext cx="10295207" cy="394980"/>
          </a:xfrm>
        </p:spPr>
        <p:txBody>
          <a:bodyPr/>
          <a:lstStyle/>
          <a:p>
            <a:r>
              <a:rPr lang="en-US" dirty="0" err="1"/>
              <a:t>Cruscotto</a:t>
            </a:r>
            <a:r>
              <a:rPr lang="en-US" dirty="0"/>
              <a:t> </a:t>
            </a:r>
            <a:r>
              <a:rPr lang="en-US" dirty="0" err="1"/>
              <a:t>aggancio</a:t>
            </a:r>
            <a:r>
              <a:rPr lang="en-US" dirty="0"/>
              <a:t> UO-CC </a:t>
            </a:r>
            <a:r>
              <a:rPr lang="en-US" sz="2000" dirty="0"/>
              <a:t>– </a:t>
            </a:r>
            <a:r>
              <a:rPr lang="en-US" sz="2000" dirty="0" err="1"/>
              <a:t>casistica</a:t>
            </a:r>
            <a:r>
              <a:rPr lang="en-US" sz="2000" dirty="0"/>
              <a:t> 1/2</a:t>
            </a:r>
            <a:br>
              <a:rPr lang="en-US" sz="2000" dirty="0"/>
            </a:br>
            <a:r>
              <a:rPr lang="en-US" sz="2000" dirty="0"/>
              <a:t>OK - Uno o </a:t>
            </a:r>
            <a:r>
              <a:rPr lang="it-IT" sz="2000" dirty="0"/>
              <a:t>più CC idonei esistenti </a:t>
            </a:r>
            <a:endParaRPr lang="en-US" sz="2000" dirty="0"/>
          </a:p>
        </p:txBody>
      </p:sp>
      <p:grpSp>
        <p:nvGrpSpPr>
          <p:cNvPr id="4" name="Gruppo 3"/>
          <p:cNvGrpSpPr/>
          <p:nvPr/>
        </p:nvGrpSpPr>
        <p:grpSpPr>
          <a:xfrm>
            <a:off x="604551" y="1725666"/>
            <a:ext cx="723275" cy="554013"/>
            <a:chOff x="39062" y="1378235"/>
            <a:chExt cx="723275" cy="554013"/>
          </a:xfrm>
        </p:grpSpPr>
        <p:sp>
          <p:nvSpPr>
            <p:cNvPr id="40" name="Rettangolo 39"/>
            <p:cNvSpPr/>
            <p:nvPr/>
          </p:nvSpPr>
          <p:spPr>
            <a:xfrm>
              <a:off x="39062" y="1715266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42" name="Immagine 41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70" name="Rettangolo arrotondato 69"/>
          <p:cNvSpPr/>
          <p:nvPr/>
        </p:nvSpPr>
        <p:spPr>
          <a:xfrm>
            <a:off x="3541424" y="4077144"/>
            <a:ext cx="1775289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L’utente esamina il subset proposto e può accettare o rifiutare un CC</a:t>
            </a:r>
          </a:p>
        </p:txBody>
      </p:sp>
      <p:sp>
        <p:nvSpPr>
          <p:cNvPr id="74" name="Ovale 73"/>
          <p:cNvSpPr/>
          <p:nvPr/>
        </p:nvSpPr>
        <p:spPr>
          <a:xfrm>
            <a:off x="1387939" y="1863792"/>
            <a:ext cx="1506828" cy="6144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CASO 1</a:t>
            </a:r>
          </a:p>
        </p:txBody>
      </p:sp>
      <p:cxnSp>
        <p:nvCxnSpPr>
          <p:cNvPr id="78" name="Connettore 2 77"/>
          <p:cNvCxnSpPr>
            <a:stCxn id="74" idx="6"/>
            <a:endCxn id="70" idx="0"/>
          </p:cNvCxnSpPr>
          <p:nvPr/>
        </p:nvCxnSpPr>
        <p:spPr>
          <a:xfrm>
            <a:off x="2894767" y="2171011"/>
            <a:ext cx="1534302" cy="190613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2 94"/>
          <p:cNvCxnSpPr>
            <a:stCxn id="70" idx="3"/>
            <a:endCxn id="7" idx="1"/>
          </p:cNvCxnSpPr>
          <p:nvPr/>
        </p:nvCxnSpPr>
        <p:spPr>
          <a:xfrm flipV="1">
            <a:off x="5316713" y="4381743"/>
            <a:ext cx="683115" cy="262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uppo 47"/>
          <p:cNvGrpSpPr/>
          <p:nvPr/>
        </p:nvGrpSpPr>
        <p:grpSpPr>
          <a:xfrm>
            <a:off x="3558754" y="3574693"/>
            <a:ext cx="723275" cy="528502"/>
            <a:chOff x="11961" y="1378235"/>
            <a:chExt cx="777476" cy="571782"/>
          </a:xfrm>
        </p:grpSpPr>
        <p:sp>
          <p:nvSpPr>
            <p:cNvPr id="50" name="Rettangolo 49"/>
            <p:cNvSpPr/>
            <p:nvPr/>
          </p:nvSpPr>
          <p:spPr>
            <a:xfrm>
              <a:off x="11961" y="1715266"/>
              <a:ext cx="777476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51" name="Immagine 50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7" name="Decisione 6"/>
          <p:cNvSpPr/>
          <p:nvPr/>
        </p:nvSpPr>
        <p:spPr>
          <a:xfrm>
            <a:off x="5999828" y="4075419"/>
            <a:ext cx="1029238" cy="612648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Accetta/rifiuta</a:t>
            </a:r>
          </a:p>
        </p:txBody>
      </p:sp>
      <p:cxnSp>
        <p:nvCxnSpPr>
          <p:cNvPr id="65" name="Connettore 2 10"/>
          <p:cNvCxnSpPr>
            <a:stCxn id="7" idx="0"/>
            <a:endCxn id="71" idx="1"/>
          </p:cNvCxnSpPr>
          <p:nvPr/>
        </p:nvCxnSpPr>
        <p:spPr>
          <a:xfrm rot="5400000" flipH="1" flipV="1">
            <a:off x="6302139" y="3479471"/>
            <a:ext cx="808257" cy="38364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po 25"/>
          <p:cNvGrpSpPr/>
          <p:nvPr/>
        </p:nvGrpSpPr>
        <p:grpSpPr>
          <a:xfrm>
            <a:off x="6090780" y="2947975"/>
            <a:ext cx="2488820" cy="1395966"/>
            <a:chOff x="7594198" y="2447003"/>
            <a:chExt cx="2843886" cy="833453"/>
          </a:xfrm>
        </p:grpSpPr>
        <p:sp>
          <p:nvSpPr>
            <p:cNvPr id="18" name="CasellaDiTesto 17"/>
            <p:cNvSpPr txBox="1"/>
            <p:nvPr/>
          </p:nvSpPr>
          <p:spPr>
            <a:xfrm>
              <a:off x="7594198" y="3197766"/>
              <a:ext cx="729841" cy="826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it-IT" sz="900" dirty="0"/>
            </a:p>
          </p:txBody>
        </p:sp>
        <p:sp>
          <p:nvSpPr>
            <p:cNvPr id="71" name="Rettangolo arrotondato 70"/>
            <p:cNvSpPr/>
            <p:nvPr/>
          </p:nvSpPr>
          <p:spPr>
            <a:xfrm>
              <a:off x="8516679" y="2447003"/>
              <a:ext cx="1921405" cy="38113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Verifica se sussistono le regole per la determinazione del CC in base al catalogo</a:t>
              </a:r>
            </a:p>
          </p:txBody>
        </p:sp>
      </p:grpSp>
      <p:sp>
        <p:nvSpPr>
          <p:cNvPr id="76" name="Decisione 75"/>
          <p:cNvSpPr/>
          <p:nvPr/>
        </p:nvSpPr>
        <p:spPr>
          <a:xfrm>
            <a:off x="9406683" y="2973700"/>
            <a:ext cx="1029238" cy="612648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accent3"/>
                </a:solidFill>
              </a:rPr>
              <a:t>verifica</a:t>
            </a:r>
          </a:p>
        </p:txBody>
      </p:sp>
      <p:cxnSp>
        <p:nvCxnSpPr>
          <p:cNvPr id="77" name="Connettore 2 10"/>
          <p:cNvCxnSpPr>
            <a:stCxn id="71" idx="3"/>
            <a:endCxn id="76" idx="1"/>
          </p:cNvCxnSpPr>
          <p:nvPr/>
        </p:nvCxnSpPr>
        <p:spPr>
          <a:xfrm>
            <a:off x="8579600" y="3267162"/>
            <a:ext cx="827083" cy="12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2 10"/>
          <p:cNvCxnSpPr>
            <a:stCxn id="76" idx="0"/>
            <a:endCxn id="93" idx="3"/>
          </p:cNvCxnSpPr>
          <p:nvPr/>
        </p:nvCxnSpPr>
        <p:spPr>
          <a:xfrm rot="16200000" flipV="1">
            <a:off x="9242667" y="2295064"/>
            <a:ext cx="724086" cy="6331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uppo 88"/>
          <p:cNvGrpSpPr/>
          <p:nvPr/>
        </p:nvGrpSpPr>
        <p:grpSpPr>
          <a:xfrm>
            <a:off x="7570778" y="1510252"/>
            <a:ext cx="723276" cy="461948"/>
            <a:chOff x="-189926" y="1378235"/>
            <a:chExt cx="1181254" cy="635561"/>
          </a:xfrm>
        </p:grpSpPr>
        <p:sp>
          <p:nvSpPr>
            <p:cNvPr id="91" name="Rettangolo 90"/>
            <p:cNvSpPr/>
            <p:nvPr/>
          </p:nvSpPr>
          <p:spPr>
            <a:xfrm>
              <a:off x="-189926" y="1715266"/>
              <a:ext cx="1181254" cy="2985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92" name="Immagine 91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grpSp>
        <p:nvGrpSpPr>
          <p:cNvPr id="37" name="Gruppo 36"/>
          <p:cNvGrpSpPr/>
          <p:nvPr/>
        </p:nvGrpSpPr>
        <p:grpSpPr>
          <a:xfrm>
            <a:off x="7916995" y="1860882"/>
            <a:ext cx="1733659" cy="614597"/>
            <a:chOff x="5434107" y="1856929"/>
            <a:chExt cx="2244692" cy="835968"/>
          </a:xfrm>
        </p:grpSpPr>
        <p:sp>
          <p:nvSpPr>
            <p:cNvPr id="93" name="Rettangolo arrotondato 92"/>
            <p:cNvSpPr/>
            <p:nvPr/>
          </p:nvSpPr>
          <p:spPr>
            <a:xfrm>
              <a:off x="5434107" y="2078459"/>
              <a:ext cx="1775289" cy="61443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Resta in KO con motivazione</a:t>
              </a:r>
            </a:p>
          </p:txBody>
        </p:sp>
        <p:sp>
          <p:nvSpPr>
            <p:cNvPr id="94" name="Rettangolo 93"/>
            <p:cNvSpPr/>
            <p:nvPr/>
          </p:nvSpPr>
          <p:spPr>
            <a:xfrm>
              <a:off x="6299032" y="1856929"/>
              <a:ext cx="1379767" cy="295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</a:pPr>
              <a:r>
                <a:rPr lang="it-IT" sz="900" b="1" i="1" dirty="0" err="1">
                  <a:solidFill>
                    <a:schemeClr val="accent3"/>
                  </a:solidFill>
                </a:rPr>
                <a:t>S.Now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39" name="CasellaDiTesto 38"/>
          <p:cNvSpPr txBox="1"/>
          <p:nvPr/>
        </p:nvSpPr>
        <p:spPr>
          <a:xfrm>
            <a:off x="9690856" y="2798742"/>
            <a:ext cx="1653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900" dirty="0"/>
              <a:t>OK</a:t>
            </a:r>
          </a:p>
        </p:txBody>
      </p:sp>
      <p:sp>
        <p:nvSpPr>
          <p:cNvPr id="99" name="CasellaDiTesto 98"/>
          <p:cNvSpPr txBox="1"/>
          <p:nvPr/>
        </p:nvSpPr>
        <p:spPr>
          <a:xfrm>
            <a:off x="9713171" y="3640519"/>
            <a:ext cx="1653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900" dirty="0"/>
              <a:t>KO</a:t>
            </a:r>
          </a:p>
        </p:txBody>
      </p:sp>
      <p:cxnSp>
        <p:nvCxnSpPr>
          <p:cNvPr id="101" name="Connettore 2 10"/>
          <p:cNvCxnSpPr>
            <a:stCxn id="7" idx="2"/>
            <a:endCxn id="52" idx="2"/>
          </p:cNvCxnSpPr>
          <p:nvPr/>
        </p:nvCxnSpPr>
        <p:spPr>
          <a:xfrm rot="16200000" flipH="1">
            <a:off x="6340521" y="4861993"/>
            <a:ext cx="886503" cy="5386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sellaDiTesto 105"/>
          <p:cNvSpPr txBox="1"/>
          <p:nvPr/>
        </p:nvSpPr>
        <p:spPr>
          <a:xfrm>
            <a:off x="6586797" y="4688066"/>
            <a:ext cx="63871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900" dirty="0"/>
              <a:t>accetta</a:t>
            </a:r>
          </a:p>
        </p:txBody>
      </p:sp>
      <p:grpSp>
        <p:nvGrpSpPr>
          <p:cNvPr id="107" name="Gruppo 106"/>
          <p:cNvGrpSpPr/>
          <p:nvPr/>
        </p:nvGrpSpPr>
        <p:grpSpPr>
          <a:xfrm>
            <a:off x="7021131" y="4021193"/>
            <a:ext cx="723275" cy="528502"/>
            <a:chOff x="11961" y="1378235"/>
            <a:chExt cx="777476" cy="571782"/>
          </a:xfrm>
        </p:grpSpPr>
        <p:sp>
          <p:nvSpPr>
            <p:cNvPr id="108" name="Rettangolo 107"/>
            <p:cNvSpPr/>
            <p:nvPr/>
          </p:nvSpPr>
          <p:spPr>
            <a:xfrm>
              <a:off x="11961" y="1715266"/>
              <a:ext cx="777476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109" name="Immagine 108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141" name="CasellaDiTesto 140"/>
          <p:cNvSpPr txBox="1"/>
          <p:nvPr/>
        </p:nvSpPr>
        <p:spPr>
          <a:xfrm>
            <a:off x="5858785" y="3682576"/>
            <a:ext cx="8333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900" dirty="0"/>
              <a:t>rifiuta con motivazione</a:t>
            </a:r>
          </a:p>
        </p:txBody>
      </p:sp>
      <p:sp>
        <p:nvSpPr>
          <p:cNvPr id="149" name="Rettangolo con angoli arrotondati in diagonale 148"/>
          <p:cNvSpPr/>
          <p:nvPr/>
        </p:nvSpPr>
        <p:spPr>
          <a:xfrm>
            <a:off x="9471943" y="1797115"/>
            <a:ext cx="1085403" cy="349224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>
                <a:solidFill>
                  <a:schemeClr val="tx1"/>
                </a:solidFill>
              </a:rPr>
              <a:t>Monitoraggio su AFC dei ko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67" name="Rettangolo 66"/>
          <p:cNvSpPr/>
          <p:nvPr/>
        </p:nvSpPr>
        <p:spPr>
          <a:xfrm>
            <a:off x="0" y="5948520"/>
            <a:ext cx="8979506" cy="909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¹Cruscotto permette di visualizzare: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con i relativi attributi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che non hanno un CC 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avuto una modifica degli attributi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ricevuto un KO di incompatibilità attività/BSER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bidone collegato</a:t>
            </a:r>
          </a:p>
        </p:txBody>
      </p:sp>
      <p:grpSp>
        <p:nvGrpSpPr>
          <p:cNvPr id="73" name="Gruppo 72"/>
          <p:cNvGrpSpPr/>
          <p:nvPr/>
        </p:nvGrpSpPr>
        <p:grpSpPr>
          <a:xfrm>
            <a:off x="7209140" y="6151125"/>
            <a:ext cx="723275" cy="528502"/>
            <a:chOff x="11961" y="1378235"/>
            <a:chExt cx="777476" cy="571782"/>
          </a:xfrm>
        </p:grpSpPr>
        <p:sp>
          <p:nvSpPr>
            <p:cNvPr id="75" name="Rettangolo 74"/>
            <p:cNvSpPr/>
            <p:nvPr/>
          </p:nvSpPr>
          <p:spPr>
            <a:xfrm>
              <a:off x="11961" y="1715266"/>
              <a:ext cx="777476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79" name="Immagine 78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80" name="Rettangolo 79"/>
          <p:cNvSpPr/>
          <p:nvPr/>
        </p:nvSpPr>
        <p:spPr>
          <a:xfrm>
            <a:off x="1826156" y="1671257"/>
            <a:ext cx="1513440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64" name="Rettangolo arrotondato 63"/>
          <p:cNvSpPr/>
          <p:nvPr/>
        </p:nvSpPr>
        <p:spPr>
          <a:xfrm>
            <a:off x="9168658" y="3839319"/>
            <a:ext cx="1506828" cy="4783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controller crea il CC ed attende che venga riproposto sul cruscotto </a:t>
            </a:r>
          </a:p>
        </p:txBody>
      </p:sp>
      <p:sp>
        <p:nvSpPr>
          <p:cNvPr id="66" name="Rettangolo 65"/>
          <p:cNvSpPr/>
          <p:nvPr/>
        </p:nvSpPr>
        <p:spPr>
          <a:xfrm>
            <a:off x="9878515" y="3661328"/>
            <a:ext cx="1065645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900" b="1" i="1" dirty="0" err="1">
                <a:solidFill>
                  <a:schemeClr val="accent3"/>
                </a:solidFill>
              </a:rPr>
              <a:t>S.Now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grpSp>
        <p:nvGrpSpPr>
          <p:cNvPr id="68" name="Gruppo 67"/>
          <p:cNvGrpSpPr/>
          <p:nvPr/>
        </p:nvGrpSpPr>
        <p:grpSpPr>
          <a:xfrm>
            <a:off x="10695567" y="3779018"/>
            <a:ext cx="723276" cy="461948"/>
            <a:chOff x="-189926" y="1378235"/>
            <a:chExt cx="1181254" cy="635561"/>
          </a:xfrm>
        </p:grpSpPr>
        <p:sp>
          <p:nvSpPr>
            <p:cNvPr id="82" name="Rettangolo 81"/>
            <p:cNvSpPr/>
            <p:nvPr/>
          </p:nvSpPr>
          <p:spPr>
            <a:xfrm>
              <a:off x="-189926" y="1715266"/>
              <a:ext cx="1181254" cy="2985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83" name="Immagine 82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cxnSp>
        <p:nvCxnSpPr>
          <p:cNvPr id="60" name="Connettore 2 10"/>
          <p:cNvCxnSpPr>
            <a:stCxn id="76" idx="2"/>
            <a:endCxn id="64" idx="0"/>
          </p:cNvCxnSpPr>
          <p:nvPr/>
        </p:nvCxnSpPr>
        <p:spPr>
          <a:xfrm>
            <a:off x="9921302" y="3586348"/>
            <a:ext cx="770" cy="252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tangolo arrotondato 55"/>
          <p:cNvSpPr/>
          <p:nvPr/>
        </p:nvSpPr>
        <p:spPr>
          <a:xfrm>
            <a:off x="198414" y="2251647"/>
            <a:ext cx="1670533" cy="45316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OK - Uno o Più CC idonei esistenti </a:t>
            </a:r>
          </a:p>
        </p:txBody>
      </p:sp>
      <p:sp>
        <p:nvSpPr>
          <p:cNvPr id="52" name="Ovale 51"/>
          <p:cNvSpPr/>
          <p:nvPr/>
        </p:nvSpPr>
        <p:spPr>
          <a:xfrm>
            <a:off x="7053097" y="5267351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>
                <a:solidFill>
                  <a:schemeClr val="tx1"/>
                </a:solidFill>
              </a:rPr>
              <a:t>Aggancio Unità Organizzative- Centro di Costo</a:t>
            </a:r>
            <a:endParaRPr lang="it-IT" sz="900" dirty="0">
              <a:solidFill>
                <a:schemeClr val="tx1"/>
              </a:solidFill>
            </a:endParaRPr>
          </a:p>
        </p:txBody>
      </p:sp>
      <p:sp>
        <p:nvSpPr>
          <p:cNvPr id="54" name="Callout 5 53"/>
          <p:cNvSpPr/>
          <p:nvPr/>
        </p:nvSpPr>
        <p:spPr>
          <a:xfrm>
            <a:off x="10113836" y="5393300"/>
            <a:ext cx="1624057" cy="656386"/>
          </a:xfrm>
          <a:prstGeom prst="accentCallout1">
            <a:avLst>
              <a:gd name="adj1" fmla="val 18750"/>
              <a:gd name="adj2" fmla="val -8333"/>
              <a:gd name="adj3" fmla="val 61069"/>
              <a:gd name="adj4" fmla="val -2809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La creazione deve essere fatta secondo le regole indicate nel catalogo di transcodifica</a:t>
            </a:r>
          </a:p>
        </p:txBody>
      </p:sp>
      <p:sp>
        <p:nvSpPr>
          <p:cNvPr id="55" name="Rettangolo con angoli arrotondati in diagonale 54"/>
          <p:cNvSpPr/>
          <p:nvPr/>
        </p:nvSpPr>
        <p:spPr>
          <a:xfrm>
            <a:off x="10171154" y="2545607"/>
            <a:ext cx="1337230" cy="507366"/>
          </a:xfrm>
          <a:prstGeom prst="round2DiagRect">
            <a:avLst/>
          </a:prstGeom>
          <a:solidFill>
            <a:srgbClr val="FFC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</a:t>
            </a:r>
            <a:r>
              <a:rPr lang="it-IT" sz="900" dirty="0" err="1">
                <a:solidFill>
                  <a:schemeClr val="tx1"/>
                </a:solidFill>
              </a:rPr>
              <a:t>Tk</a:t>
            </a:r>
            <a:r>
              <a:rPr lang="it-IT" sz="900" dirty="0">
                <a:solidFill>
                  <a:schemeClr val="tx1"/>
                </a:solidFill>
              </a:rPr>
              <a:t> assegnato al controller locale resta aperto o lo chiudiamo?  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in diagonale 52"/>
          <p:cNvSpPr/>
          <p:nvPr/>
        </p:nvSpPr>
        <p:spPr>
          <a:xfrm>
            <a:off x="10592024" y="3056362"/>
            <a:ext cx="1119118" cy="311953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Linkare ticket tra loro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57" name="Rettangolo con angoli arrotondati in diagonale 56"/>
          <p:cNvSpPr/>
          <p:nvPr/>
        </p:nvSpPr>
        <p:spPr>
          <a:xfrm>
            <a:off x="10934156" y="3235151"/>
            <a:ext cx="1243812" cy="311953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1 ticket per UO con stesse caratteristiche</a:t>
            </a:r>
            <a:endParaRPr lang="it-IT" sz="900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92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ggetto 1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500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13" name="Oggetto 1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ttangolo 39"/>
          <p:cNvSpPr/>
          <p:nvPr/>
        </p:nvSpPr>
        <p:spPr>
          <a:xfrm>
            <a:off x="1881502" y="2057702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P&amp;C </a:t>
            </a:r>
            <a:r>
              <a:rPr lang="it-IT" sz="900" b="1" i="1" dirty="0" err="1">
                <a:solidFill>
                  <a:schemeClr val="accent3"/>
                </a:solidFill>
              </a:rPr>
              <a:t>local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pic>
        <p:nvPicPr>
          <p:cNvPr id="42" name="Immagine 41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9715" y="1720671"/>
            <a:ext cx="266850" cy="320715"/>
          </a:xfrm>
          <a:prstGeom prst="rect">
            <a:avLst/>
          </a:prstGeom>
        </p:spPr>
      </p:pic>
      <p:sp>
        <p:nvSpPr>
          <p:cNvPr id="74" name="Ovale 73"/>
          <p:cNvSpPr/>
          <p:nvPr/>
        </p:nvSpPr>
        <p:spPr>
          <a:xfrm>
            <a:off x="2569519" y="2150520"/>
            <a:ext cx="1506828" cy="6144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CASO 2</a:t>
            </a:r>
          </a:p>
        </p:txBody>
      </p:sp>
      <p:cxnSp>
        <p:nvCxnSpPr>
          <p:cNvPr id="78" name="Connettore 2 77"/>
          <p:cNvCxnSpPr>
            <a:stCxn id="74" idx="6"/>
            <a:endCxn id="103" idx="1"/>
          </p:cNvCxnSpPr>
          <p:nvPr/>
        </p:nvCxnSpPr>
        <p:spPr>
          <a:xfrm flipV="1">
            <a:off x="4076347" y="2457600"/>
            <a:ext cx="2983577" cy="13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ttangolo 131"/>
          <p:cNvSpPr/>
          <p:nvPr/>
        </p:nvSpPr>
        <p:spPr>
          <a:xfrm>
            <a:off x="9139118" y="2328703"/>
            <a:ext cx="889987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900" b="1" i="1" dirty="0">
                <a:solidFill>
                  <a:schemeClr val="accent3"/>
                </a:solidFill>
              </a:rPr>
              <a:t>MDG </a:t>
            </a:r>
            <a:r>
              <a:rPr lang="it-IT" sz="900" b="1" i="1" dirty="0" err="1">
                <a:solidFill>
                  <a:schemeClr val="accent3"/>
                </a:solidFill>
              </a:rPr>
              <a:t>local</a:t>
            </a:r>
            <a:endParaRPr lang="it-IT" sz="900" b="1" i="1" dirty="0">
              <a:solidFill>
                <a:schemeClr val="accent3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900" b="1" i="1" dirty="0">
                <a:solidFill>
                  <a:schemeClr val="accent3"/>
                </a:solidFill>
              </a:rPr>
              <a:t>Sistemi </a:t>
            </a:r>
            <a:r>
              <a:rPr lang="it-IT" sz="900" b="1" i="1" dirty="0" err="1">
                <a:solidFill>
                  <a:schemeClr val="accent3"/>
                </a:solidFill>
              </a:rPr>
              <a:t>local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grpSp>
        <p:nvGrpSpPr>
          <p:cNvPr id="6" name="Gruppo 5"/>
          <p:cNvGrpSpPr/>
          <p:nvPr/>
        </p:nvGrpSpPr>
        <p:grpSpPr>
          <a:xfrm>
            <a:off x="7649073" y="1682655"/>
            <a:ext cx="723275" cy="536830"/>
            <a:chOff x="9471312" y="2067160"/>
            <a:chExt cx="723275" cy="536830"/>
          </a:xfrm>
        </p:grpSpPr>
        <p:sp>
          <p:nvSpPr>
            <p:cNvPr id="45" name="Rettangolo 44"/>
            <p:cNvSpPr/>
            <p:nvPr/>
          </p:nvSpPr>
          <p:spPr>
            <a:xfrm>
              <a:off x="9471312" y="2387008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47" name="Immagine 46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85152" y="2067160"/>
              <a:ext cx="266850" cy="320715"/>
            </a:xfrm>
            <a:prstGeom prst="rect">
              <a:avLst/>
            </a:prstGeom>
          </p:spPr>
        </p:pic>
      </p:grpSp>
      <p:sp>
        <p:nvSpPr>
          <p:cNvPr id="103" name="Rettangolo arrotondato 102"/>
          <p:cNvSpPr/>
          <p:nvPr/>
        </p:nvSpPr>
        <p:spPr>
          <a:xfrm>
            <a:off x="7059924" y="2267031"/>
            <a:ext cx="1921405" cy="38113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Procede alla creazione di un nuovo CC sui sistemi locali</a:t>
            </a:r>
          </a:p>
        </p:txBody>
      </p:sp>
      <p:sp>
        <p:nvSpPr>
          <p:cNvPr id="28" name="Rettangolo con angoli ritagliati in diagonale 27"/>
          <p:cNvSpPr/>
          <p:nvPr/>
        </p:nvSpPr>
        <p:spPr>
          <a:xfrm>
            <a:off x="8445287" y="1508302"/>
            <a:ext cx="1387663" cy="718832"/>
          </a:xfrm>
          <a:prstGeom prst="snip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La creazione deve essere fatta secondo le regole indicate nel catalogo di transcodifica</a:t>
            </a:r>
          </a:p>
        </p:txBody>
      </p:sp>
      <p:cxnSp>
        <p:nvCxnSpPr>
          <p:cNvPr id="20" name="Connettore 2 19"/>
          <p:cNvCxnSpPr>
            <a:stCxn id="103" idx="3"/>
            <a:endCxn id="54" idx="3"/>
          </p:cNvCxnSpPr>
          <p:nvPr/>
        </p:nvCxnSpPr>
        <p:spPr>
          <a:xfrm flipH="1">
            <a:off x="8524330" y="2457600"/>
            <a:ext cx="456999" cy="1361681"/>
          </a:xfrm>
          <a:prstGeom prst="bentConnector3">
            <a:avLst>
              <a:gd name="adj1" fmla="val -50022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tangolo 29"/>
          <p:cNvSpPr/>
          <p:nvPr/>
        </p:nvSpPr>
        <p:spPr>
          <a:xfrm>
            <a:off x="0" y="5948520"/>
            <a:ext cx="8979506" cy="909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¹Cruscotto permette di visualizzare: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con i relativi attributi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che non hanno un CC 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avuto una modifica degli attributi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ricevuto un KO di incompatibilità attività/BSER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bidone collegato</a:t>
            </a:r>
          </a:p>
        </p:txBody>
      </p:sp>
      <p:grpSp>
        <p:nvGrpSpPr>
          <p:cNvPr id="34" name="Gruppo 33"/>
          <p:cNvGrpSpPr/>
          <p:nvPr/>
        </p:nvGrpSpPr>
        <p:grpSpPr>
          <a:xfrm>
            <a:off x="6387404" y="5576030"/>
            <a:ext cx="723275" cy="528502"/>
            <a:chOff x="11961" y="1378235"/>
            <a:chExt cx="777476" cy="571782"/>
          </a:xfrm>
        </p:grpSpPr>
        <p:sp>
          <p:nvSpPr>
            <p:cNvPr id="35" name="Rettangolo 34"/>
            <p:cNvSpPr/>
            <p:nvPr/>
          </p:nvSpPr>
          <p:spPr>
            <a:xfrm>
              <a:off x="11961" y="1715266"/>
              <a:ext cx="777476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36" name="Immagine 35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29" name="Titolo 1"/>
          <p:cNvSpPr txBox="1">
            <a:spLocks/>
          </p:cNvSpPr>
          <p:nvPr/>
        </p:nvSpPr>
        <p:spPr>
          <a:xfrm>
            <a:off x="761998" y="670121"/>
            <a:ext cx="10295207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Cruscotto</a:t>
            </a:r>
            <a:r>
              <a:rPr lang="en-US" dirty="0"/>
              <a:t> </a:t>
            </a:r>
            <a:r>
              <a:rPr lang="en-US" dirty="0" err="1"/>
              <a:t>Aggancio</a:t>
            </a:r>
            <a:r>
              <a:rPr lang="en-US" dirty="0"/>
              <a:t> UO-CC </a:t>
            </a:r>
            <a:r>
              <a:rPr lang="en-US" sz="2000" dirty="0"/>
              <a:t>– </a:t>
            </a:r>
            <a:r>
              <a:rPr lang="en-US" sz="2000" dirty="0" err="1"/>
              <a:t>casistica</a:t>
            </a:r>
            <a:r>
              <a:rPr lang="en-US" sz="2000" dirty="0"/>
              <a:t> 2/2 </a:t>
            </a:r>
          </a:p>
          <a:p>
            <a:r>
              <a:rPr lang="it-IT" sz="2000" dirty="0"/>
              <a:t>Nessun CC idoneo</a:t>
            </a:r>
            <a:endParaRPr lang="en-US" sz="2000" dirty="0"/>
          </a:p>
        </p:txBody>
      </p:sp>
      <p:sp>
        <p:nvSpPr>
          <p:cNvPr id="37" name="Rettangolo 36"/>
          <p:cNvSpPr/>
          <p:nvPr/>
        </p:nvSpPr>
        <p:spPr>
          <a:xfrm>
            <a:off x="2867077" y="1890905"/>
            <a:ext cx="1513440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50" name="Ovale 49"/>
          <p:cNvSpPr/>
          <p:nvPr/>
        </p:nvSpPr>
        <p:spPr>
          <a:xfrm>
            <a:off x="4820507" y="4708104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Determinazione / Recupero CC tipo/reale</a:t>
            </a:r>
          </a:p>
        </p:txBody>
      </p:sp>
      <p:sp>
        <p:nvSpPr>
          <p:cNvPr id="49" name="Rettangolo con angoli ritagliati in diagonale 48"/>
          <p:cNvSpPr/>
          <p:nvPr/>
        </p:nvSpPr>
        <p:spPr>
          <a:xfrm>
            <a:off x="6196899" y="1327078"/>
            <a:ext cx="1018037" cy="758452"/>
          </a:xfrm>
          <a:prstGeom prst="snip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Il case si chiude quando il controller crea il nuovo CC</a:t>
            </a:r>
          </a:p>
        </p:txBody>
      </p:sp>
      <p:sp>
        <p:nvSpPr>
          <p:cNvPr id="53" name="Rettangolo con angoli ritagliati in diagonale 52"/>
          <p:cNvSpPr/>
          <p:nvPr/>
        </p:nvSpPr>
        <p:spPr>
          <a:xfrm>
            <a:off x="9306254" y="3747195"/>
            <a:ext cx="1387663" cy="340632"/>
          </a:xfrm>
          <a:prstGeom prst="snip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dirty="0">
              <a:solidFill>
                <a:schemeClr val="tx1"/>
              </a:solidFill>
            </a:endParaRP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Trovo in automatico il CC su bW4Hana.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54" name="Rettangolo arrotondato 53"/>
          <p:cNvSpPr/>
          <p:nvPr/>
        </p:nvSpPr>
        <p:spPr>
          <a:xfrm>
            <a:off x="6749041" y="3512062"/>
            <a:ext cx="1775289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Richiede un aggiornamento della UO a BW4Hana</a:t>
            </a:r>
          </a:p>
        </p:txBody>
      </p:sp>
      <p:sp>
        <p:nvSpPr>
          <p:cNvPr id="55" name="Rettangolo 54"/>
          <p:cNvSpPr/>
          <p:nvPr/>
        </p:nvSpPr>
        <p:spPr>
          <a:xfrm>
            <a:off x="8070671" y="3933097"/>
            <a:ext cx="1513440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grpSp>
        <p:nvGrpSpPr>
          <p:cNvPr id="56" name="Gruppo 55"/>
          <p:cNvGrpSpPr/>
          <p:nvPr/>
        </p:nvGrpSpPr>
        <p:grpSpPr>
          <a:xfrm>
            <a:off x="5540006" y="4009993"/>
            <a:ext cx="723275" cy="536830"/>
            <a:chOff x="9471312" y="2067160"/>
            <a:chExt cx="723275" cy="536830"/>
          </a:xfrm>
        </p:grpSpPr>
        <p:sp>
          <p:nvSpPr>
            <p:cNvPr id="57" name="Rettangolo 56"/>
            <p:cNvSpPr/>
            <p:nvPr/>
          </p:nvSpPr>
          <p:spPr>
            <a:xfrm>
              <a:off x="9471312" y="2387008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58" name="Immagine 57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85152" y="2067160"/>
              <a:ext cx="266850" cy="320715"/>
            </a:xfrm>
            <a:prstGeom prst="rect">
              <a:avLst/>
            </a:prstGeom>
          </p:spPr>
        </p:pic>
      </p:grpSp>
      <p:sp>
        <p:nvSpPr>
          <p:cNvPr id="33" name="Rettangolo arrotondato 32"/>
          <p:cNvSpPr/>
          <p:nvPr/>
        </p:nvSpPr>
        <p:spPr>
          <a:xfrm>
            <a:off x="1357546" y="2581009"/>
            <a:ext cx="1670533" cy="45316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OK- Nessun CC idoneo esistente ma ho la compatibilità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devi  crearlo</a:t>
            </a:r>
          </a:p>
        </p:txBody>
      </p:sp>
      <p:cxnSp>
        <p:nvCxnSpPr>
          <p:cNvPr id="38" name="Connettore 2 19"/>
          <p:cNvCxnSpPr>
            <a:stCxn id="54" idx="1"/>
            <a:endCxn id="50" idx="0"/>
          </p:cNvCxnSpPr>
          <p:nvPr/>
        </p:nvCxnSpPr>
        <p:spPr>
          <a:xfrm rot="10800000" flipV="1">
            <a:off x="5573921" y="3819280"/>
            <a:ext cx="1175120" cy="888823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/>
          <p:cNvCxnSpPr>
            <a:stCxn id="50" idx="4"/>
            <a:endCxn id="41" idx="0"/>
          </p:cNvCxnSpPr>
          <p:nvPr/>
        </p:nvCxnSpPr>
        <p:spPr>
          <a:xfrm>
            <a:off x="5573921" y="5322542"/>
            <a:ext cx="0" cy="38443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e 40"/>
          <p:cNvSpPr/>
          <p:nvPr/>
        </p:nvSpPr>
        <p:spPr>
          <a:xfrm>
            <a:off x="4820507" y="5706973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>
                <a:solidFill>
                  <a:schemeClr val="tx1"/>
                </a:solidFill>
              </a:rPr>
              <a:t>Aggancio Unità Organizzative- Centro di Costo</a:t>
            </a:r>
            <a:endParaRPr lang="it-IT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09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attributi</a:t>
            </a:r>
            <a:r>
              <a:rPr lang="en-US" dirty="0"/>
              <a:t> UO 1/2 e </a:t>
            </a:r>
            <a:r>
              <a:rPr lang="en-US" dirty="0" err="1"/>
              <a:t>richiesta</a:t>
            </a:r>
            <a:r>
              <a:rPr lang="en-US" dirty="0"/>
              <a:t> CC</a:t>
            </a:r>
          </a:p>
        </p:txBody>
      </p:sp>
      <p:sp>
        <p:nvSpPr>
          <p:cNvPr id="40" name="Rettangolo 39"/>
          <p:cNvSpPr/>
          <p:nvPr/>
        </p:nvSpPr>
        <p:spPr>
          <a:xfrm>
            <a:off x="59942" y="5379879"/>
            <a:ext cx="3876541" cy="56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*Attributi relativi ad aggancio UO-CC: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Activity (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e/o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sz="900" dirty="0" err="1">
                <a:solidFill>
                  <a:schemeClr val="accent1">
                    <a:lumMod val="50000"/>
                  </a:schemeClr>
                </a:solidFill>
              </a:rPr>
              <a:t>Prevalent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Perimetro</a:t>
            </a:r>
          </a:p>
        </p:txBody>
      </p:sp>
      <p:sp>
        <p:nvSpPr>
          <p:cNvPr id="73" name="Rettangolo con angoli arrotondati in diagonale 72"/>
          <p:cNvSpPr/>
          <p:nvPr/>
        </p:nvSpPr>
        <p:spPr>
          <a:xfrm>
            <a:off x="7439477" y="1124286"/>
            <a:ext cx="1537950" cy="616414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Non possiamo spostare posizione da una company ad un’altra – CR in corso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30" name="Rettangolo con angoli arrotondati in diagonale 29"/>
          <p:cNvSpPr/>
          <p:nvPr/>
        </p:nvSpPr>
        <p:spPr>
          <a:xfrm>
            <a:off x="7439477" y="448687"/>
            <a:ext cx="1537950" cy="616414"/>
          </a:xfrm>
          <a:prstGeom prst="round2DiagRect">
            <a:avLst/>
          </a:prstGeom>
          <a:solidFill>
            <a:srgbClr val="FF00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bg1"/>
                </a:solidFill>
              </a:rPr>
              <a:t>Controllo se c’è un blocco sulla modifica sulla società???</a:t>
            </a:r>
            <a:endParaRPr lang="it-IT" sz="900" kern="1200" dirty="0">
              <a:solidFill>
                <a:schemeClr val="bg1"/>
              </a:solidFill>
            </a:endParaRPr>
          </a:p>
        </p:txBody>
      </p:sp>
      <p:sp>
        <p:nvSpPr>
          <p:cNvPr id="33" name="Rettangolo 32"/>
          <p:cNvSpPr/>
          <p:nvPr/>
        </p:nvSpPr>
        <p:spPr>
          <a:xfrm>
            <a:off x="59943" y="5948520"/>
            <a:ext cx="3876541" cy="909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¹Cruscotto permette di visualizzare: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con i relativi attributi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che non hanno un CC 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avuto una modifica degli attributi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ricevuto un KO di incompatibilità attività/BSER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bidone collegato</a:t>
            </a:r>
          </a:p>
        </p:txBody>
      </p:sp>
      <p:sp>
        <p:nvSpPr>
          <p:cNvPr id="41" name="Rettangolo arrotondato 40"/>
          <p:cNvSpPr/>
          <p:nvPr/>
        </p:nvSpPr>
        <p:spPr>
          <a:xfrm>
            <a:off x="1904983" y="1776245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Modifica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Attributi* UO</a:t>
            </a:r>
          </a:p>
        </p:txBody>
      </p:sp>
      <p:sp>
        <p:nvSpPr>
          <p:cNvPr id="45" name="Rettangolo 44"/>
          <p:cNvSpPr/>
          <p:nvPr/>
        </p:nvSpPr>
        <p:spPr>
          <a:xfrm>
            <a:off x="2804220" y="2104591"/>
            <a:ext cx="748923" cy="2446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100" b="1" i="1" dirty="0">
                <a:solidFill>
                  <a:schemeClr val="accent3"/>
                </a:solidFill>
              </a:rPr>
              <a:t>HR ORG</a:t>
            </a:r>
          </a:p>
        </p:txBody>
      </p:sp>
      <p:pic>
        <p:nvPicPr>
          <p:cNvPr id="48" name="Immagine 47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642" y="1788004"/>
            <a:ext cx="266850" cy="334850"/>
          </a:xfrm>
          <a:prstGeom prst="rect">
            <a:avLst/>
          </a:prstGeom>
        </p:spPr>
      </p:pic>
      <p:cxnSp>
        <p:nvCxnSpPr>
          <p:cNvPr id="49" name="Connettore 2 48"/>
          <p:cNvCxnSpPr>
            <a:stCxn id="41" idx="2"/>
            <a:endCxn id="50" idx="0"/>
          </p:cNvCxnSpPr>
          <p:nvPr/>
        </p:nvCxnSpPr>
        <p:spPr>
          <a:xfrm flipH="1">
            <a:off x="2728288" y="2342916"/>
            <a:ext cx="943" cy="47424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tangolo arrotondato 49"/>
          <p:cNvSpPr/>
          <p:nvPr/>
        </p:nvSpPr>
        <p:spPr>
          <a:xfrm>
            <a:off x="1974874" y="2817158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A valle della modifica di uno o più attributi della UO su SAPHR Global</a:t>
            </a:r>
          </a:p>
        </p:txBody>
      </p:sp>
      <p:sp>
        <p:nvSpPr>
          <p:cNvPr id="54" name="Rettangolo con angoli arrotondati in diagonale 53"/>
          <p:cNvSpPr/>
          <p:nvPr/>
        </p:nvSpPr>
        <p:spPr>
          <a:xfrm>
            <a:off x="10183091" y="1384396"/>
            <a:ext cx="1878792" cy="616414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Inserimento controllo coerenza società tra persona/unità – controllo inserito ma bonifica in corso in carico ad </a:t>
            </a:r>
            <a:r>
              <a:rPr lang="it-IT" sz="1000" dirty="0" err="1">
                <a:solidFill>
                  <a:schemeClr val="tx1"/>
                </a:solidFill>
              </a:rPr>
              <a:t>org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hold</a:t>
            </a:r>
            <a:endParaRPr lang="it-IT" sz="1000" kern="1200" dirty="0">
              <a:solidFill>
                <a:schemeClr val="tx1"/>
              </a:solidFill>
            </a:endParaRPr>
          </a:p>
        </p:txBody>
      </p:sp>
      <p:sp>
        <p:nvSpPr>
          <p:cNvPr id="55" name="Rettangolo 54"/>
          <p:cNvSpPr/>
          <p:nvPr/>
        </p:nvSpPr>
        <p:spPr>
          <a:xfrm>
            <a:off x="8171940" y="3333122"/>
            <a:ext cx="723275" cy="216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56" name="Rettangolo 55"/>
          <p:cNvSpPr/>
          <p:nvPr/>
        </p:nvSpPr>
        <p:spPr>
          <a:xfrm>
            <a:off x="2716494" y="2629161"/>
            <a:ext cx="79380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sp>
        <p:nvSpPr>
          <p:cNvPr id="57" name="Ovale 56"/>
          <p:cNvSpPr/>
          <p:nvPr/>
        </p:nvSpPr>
        <p:spPr>
          <a:xfrm>
            <a:off x="8533578" y="4653004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Determinazione / Recupero CC tipo/reale</a:t>
            </a:r>
          </a:p>
        </p:txBody>
      </p:sp>
      <p:sp>
        <p:nvSpPr>
          <p:cNvPr id="61" name="Rettangolo 60"/>
          <p:cNvSpPr/>
          <p:nvPr/>
        </p:nvSpPr>
        <p:spPr>
          <a:xfrm>
            <a:off x="9347370" y="4451006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62" name="Ovale 61"/>
          <p:cNvSpPr/>
          <p:nvPr/>
        </p:nvSpPr>
        <p:spPr>
          <a:xfrm>
            <a:off x="5444670" y="4649981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Generazione dei case</a:t>
            </a:r>
          </a:p>
        </p:txBody>
      </p:sp>
      <p:cxnSp>
        <p:nvCxnSpPr>
          <p:cNvPr id="63" name="Connettore 2 62"/>
          <p:cNvCxnSpPr>
            <a:stCxn id="57" idx="2"/>
            <a:endCxn id="62" idx="6"/>
          </p:cNvCxnSpPr>
          <p:nvPr/>
        </p:nvCxnSpPr>
        <p:spPr>
          <a:xfrm flipH="1" flipV="1">
            <a:off x="6951498" y="4957200"/>
            <a:ext cx="1582080" cy="302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233"/>
          <p:cNvCxnSpPr>
            <a:stCxn id="68" idx="3"/>
            <a:endCxn id="57" idx="0"/>
          </p:cNvCxnSpPr>
          <p:nvPr/>
        </p:nvCxnSpPr>
        <p:spPr>
          <a:xfrm>
            <a:off x="8914465" y="3838826"/>
            <a:ext cx="372527" cy="814178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tangolo 64"/>
          <p:cNvSpPr/>
          <p:nvPr/>
        </p:nvSpPr>
        <p:spPr>
          <a:xfrm>
            <a:off x="6454210" y="4510452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66" name="Callout 5 65"/>
          <p:cNvSpPr/>
          <p:nvPr/>
        </p:nvSpPr>
        <p:spPr>
          <a:xfrm>
            <a:off x="4305007" y="1805867"/>
            <a:ext cx="5699985" cy="1159044"/>
          </a:xfrm>
          <a:prstGeom prst="accentCallout1">
            <a:avLst>
              <a:gd name="adj1" fmla="val 18750"/>
              <a:gd name="adj2" fmla="val -8333"/>
              <a:gd name="adj3" fmla="val 26298"/>
              <a:gd name="adj4" fmla="val -1147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UO con HC=0 </a:t>
            </a:r>
            <a:r>
              <a:rPr lang="it-IT" sz="1000" b="1" u="sng" dirty="0">
                <a:solidFill>
                  <a:schemeClr val="tx1"/>
                </a:solidFill>
              </a:rPr>
              <a:t>dovranno</a:t>
            </a:r>
            <a:r>
              <a:rPr lang="it-IT" sz="1000" dirty="0">
                <a:solidFill>
                  <a:schemeClr val="tx1"/>
                </a:solidFill>
              </a:rPr>
              <a:t> essere prese in considerazione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Esecuzione/Estrazione report (2/3 volte/mese) per gestione UO </a:t>
            </a:r>
            <a:r>
              <a:rPr lang="it-IT" sz="1000" dirty="0">
                <a:solidFill>
                  <a:schemeClr val="tx1"/>
                </a:solidFill>
                <a:sym typeface="Wingdings" panose="05000000000000000000" pitchFamily="2" charset="2"/>
              </a:rPr>
              <a:t> Servizio e-API (S.NOW)</a:t>
            </a:r>
            <a:endParaRPr lang="it-IT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Data limite per associazione UO-CC: </a:t>
            </a:r>
            <a:r>
              <a:rPr lang="it-IT" sz="1000" b="1" u="sng" dirty="0">
                <a:solidFill>
                  <a:schemeClr val="tx1"/>
                </a:solidFill>
              </a:rPr>
              <a:t>27 del mese</a:t>
            </a:r>
            <a:r>
              <a:rPr lang="it-IT" sz="1000" dirty="0">
                <a:solidFill>
                  <a:schemeClr val="tx1"/>
                </a:solidFill>
              </a:rPr>
              <a:t> (su S.NOW)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Che tipo di UO richiedono un CC? Tutte tranne le gestionali (devono rimanere col </a:t>
            </a:r>
            <a:r>
              <a:rPr lang="it-IT" sz="1000" dirty="0" err="1">
                <a:solidFill>
                  <a:schemeClr val="tx1"/>
                </a:solidFill>
              </a:rPr>
              <a:t>dummy</a:t>
            </a:r>
            <a:r>
              <a:rPr lang="it-IT" sz="1000" dirty="0">
                <a:solidFill>
                  <a:schemeClr val="tx1"/>
                </a:solidFill>
              </a:rPr>
              <a:t> ma non devono essere riproposte)</a:t>
            </a:r>
          </a:p>
        </p:txBody>
      </p:sp>
      <p:sp>
        <p:nvSpPr>
          <p:cNvPr id="68" name="Rettangolo arrotondato 67"/>
          <p:cNvSpPr/>
          <p:nvPr/>
        </p:nvSpPr>
        <p:spPr>
          <a:xfrm>
            <a:off x="7407637" y="3531607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kern="1200" dirty="0">
                <a:solidFill>
                  <a:schemeClr val="tx1"/>
                </a:solidFill>
              </a:rPr>
              <a:t>BW4Hana che invoca, tramite e-API, la lista delle UO senza CC da </a:t>
            </a:r>
            <a:r>
              <a:rPr lang="it-IT" sz="1000" dirty="0">
                <a:solidFill>
                  <a:schemeClr val="tx1"/>
                </a:solidFill>
              </a:rPr>
              <a:t>SAP</a:t>
            </a:r>
            <a:endParaRPr lang="it-IT" sz="1000" kern="1200" dirty="0">
              <a:solidFill>
                <a:schemeClr val="tx1"/>
              </a:solidFill>
            </a:endParaRPr>
          </a:p>
        </p:txBody>
      </p:sp>
      <p:sp>
        <p:nvSpPr>
          <p:cNvPr id="69" name="Callout 5 68"/>
          <p:cNvSpPr/>
          <p:nvPr/>
        </p:nvSpPr>
        <p:spPr>
          <a:xfrm>
            <a:off x="8707788" y="5557461"/>
            <a:ext cx="2725713" cy="935808"/>
          </a:xfrm>
          <a:prstGeom prst="accentCallout1">
            <a:avLst>
              <a:gd name="adj1" fmla="val 18750"/>
              <a:gd name="adj2" fmla="val -8333"/>
              <a:gd name="adj3" fmla="val -28477"/>
              <a:gd name="adj4" fmla="val 668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dirty="0">
                <a:solidFill>
                  <a:schemeClr val="tx1"/>
                </a:solidFill>
              </a:rPr>
              <a:t>In base al catalogo del perimetro di consolidamento/matrice di compatibilità occorre recuperare i CC esistente e determinare i restanti CC compatibili se sono presenti altre compatibilità</a:t>
            </a:r>
          </a:p>
        </p:txBody>
      </p:sp>
      <p:sp>
        <p:nvSpPr>
          <p:cNvPr id="70" name="Callout 5 69"/>
          <p:cNvSpPr/>
          <p:nvPr/>
        </p:nvSpPr>
        <p:spPr>
          <a:xfrm>
            <a:off x="5119961" y="5696646"/>
            <a:ext cx="2411909" cy="582085"/>
          </a:xfrm>
          <a:prstGeom prst="accentCallout1">
            <a:avLst>
              <a:gd name="adj1" fmla="val 18750"/>
              <a:gd name="adj2" fmla="val -8333"/>
              <a:gd name="adj3" fmla="val -90780"/>
              <a:gd name="adj4" fmla="val 1754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dirty="0">
                <a:solidFill>
                  <a:schemeClr val="tx1"/>
                </a:solidFill>
              </a:rPr>
              <a:t>Per ogni UO è necessario aprire un case/</a:t>
            </a:r>
            <a:r>
              <a:rPr lang="it-IT" sz="1000" dirty="0" err="1">
                <a:solidFill>
                  <a:schemeClr val="tx1"/>
                </a:solidFill>
              </a:rPr>
              <a:t>tk</a:t>
            </a:r>
            <a:r>
              <a:rPr lang="it-IT" sz="1000" dirty="0">
                <a:solidFill>
                  <a:schemeClr val="tx1"/>
                </a:solidFill>
              </a:rPr>
              <a:t> per assegnare la lavorazione al controller </a:t>
            </a:r>
            <a:r>
              <a:rPr lang="it-IT" sz="1000" dirty="0" err="1">
                <a:solidFill>
                  <a:schemeClr val="tx1"/>
                </a:solidFill>
              </a:rPr>
              <a:t>local</a:t>
            </a:r>
            <a:r>
              <a:rPr lang="it-IT" sz="1000" dirty="0">
                <a:solidFill>
                  <a:schemeClr val="tx1"/>
                </a:solidFill>
              </a:rPr>
              <a:t> per l’aggancio UO-CC</a:t>
            </a:r>
          </a:p>
        </p:txBody>
      </p:sp>
      <p:cxnSp>
        <p:nvCxnSpPr>
          <p:cNvPr id="71" name="Connettore 2 70"/>
          <p:cNvCxnSpPr>
            <a:stCxn id="62" idx="2"/>
          </p:cNvCxnSpPr>
          <p:nvPr/>
        </p:nvCxnSpPr>
        <p:spPr>
          <a:xfrm flipH="1">
            <a:off x="4665518" y="4957200"/>
            <a:ext cx="779152" cy="302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llout 5 73"/>
          <p:cNvSpPr/>
          <p:nvPr/>
        </p:nvSpPr>
        <p:spPr>
          <a:xfrm>
            <a:off x="9864656" y="3334375"/>
            <a:ext cx="2196219" cy="956030"/>
          </a:xfrm>
          <a:prstGeom prst="accentCallout1">
            <a:avLst>
              <a:gd name="adj1" fmla="val 18750"/>
              <a:gd name="adj2" fmla="val -8333"/>
              <a:gd name="adj3" fmla="val 128104"/>
              <a:gd name="adj4" fmla="val -2172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dirty="0">
                <a:solidFill>
                  <a:schemeClr val="tx1"/>
                </a:solidFill>
              </a:rPr>
              <a:t>Per le UO su società che non hanno un SAP AFC occorre generare un CC fittizio secondo la compatibilità (recuperata dal perimetro di consolidamento</a:t>
            </a:r>
          </a:p>
        </p:txBody>
      </p:sp>
      <p:sp>
        <p:nvSpPr>
          <p:cNvPr id="75" name="Rettangolo con angoli ritagliati in diagonale 74"/>
          <p:cNvSpPr/>
          <p:nvPr/>
        </p:nvSpPr>
        <p:spPr>
          <a:xfrm>
            <a:off x="163957" y="1823974"/>
            <a:ext cx="1584747" cy="1212609"/>
          </a:xfrm>
          <a:prstGeom prst="snip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Le UO dell’ex-perimetro Endesa possono essere create solo se presente il CC.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Pertanto all’atto della creazione della UO verrà agganciato un CC di tipo «DUMMY»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76" name="Rettangolo con angoli arrotondati in diagonale 75"/>
          <p:cNvSpPr/>
          <p:nvPr/>
        </p:nvSpPr>
        <p:spPr>
          <a:xfrm>
            <a:off x="10100784" y="4653004"/>
            <a:ext cx="1878792" cy="616414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b="1" dirty="0">
                <a:solidFill>
                  <a:schemeClr val="tx1"/>
                </a:solidFill>
              </a:rPr>
              <a:t>Determinazione giornaliera dei CC</a:t>
            </a:r>
            <a:endParaRPr lang="it-IT" sz="1000" b="1" kern="1200" dirty="0">
              <a:solidFill>
                <a:schemeClr val="tx1"/>
              </a:solidFill>
            </a:endParaRPr>
          </a:p>
        </p:txBody>
      </p:sp>
      <p:cxnSp>
        <p:nvCxnSpPr>
          <p:cNvPr id="79" name="Connettore 2 78"/>
          <p:cNvCxnSpPr>
            <a:stCxn id="50" idx="2"/>
            <a:endCxn id="68" idx="1"/>
          </p:cNvCxnSpPr>
          <p:nvPr/>
        </p:nvCxnSpPr>
        <p:spPr>
          <a:xfrm rot="16200000" flipH="1">
            <a:off x="4864347" y="1295536"/>
            <a:ext cx="407230" cy="4679349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allout 5 79"/>
          <p:cNvSpPr/>
          <p:nvPr/>
        </p:nvSpPr>
        <p:spPr>
          <a:xfrm rot="5400000">
            <a:off x="413024" y="3556179"/>
            <a:ext cx="1419281" cy="1704418"/>
          </a:xfrm>
          <a:prstGeom prst="accentCallout1">
            <a:avLst>
              <a:gd name="adj1" fmla="val 18750"/>
              <a:gd name="adj2" fmla="val -8333"/>
              <a:gd name="adj3" fmla="val 43235"/>
              <a:gd name="adj4" fmla="val -380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270" wrap="square" lIns="36000" tIns="36000" rIns="36000" bIns="36000" numCol="1" spcCol="1270" rtlCol="0" anchor="ctr" anchorCtr="0">
            <a:noAutofit/>
          </a:bodyPr>
          <a:lstStyle/>
          <a:p>
            <a:r>
              <a:rPr lang="it-IT" sz="1000" b="1" u="sng" dirty="0">
                <a:solidFill>
                  <a:schemeClr val="tx1"/>
                </a:solidFill>
              </a:rPr>
              <a:t>DUMMY:</a:t>
            </a:r>
          </a:p>
          <a:p>
            <a:pPr marL="171450" indent="-171450">
              <a:buFontTx/>
              <a:buChar char="-"/>
            </a:pPr>
            <a:r>
              <a:rPr lang="it-IT" sz="1000" dirty="0">
                <a:solidFill>
                  <a:schemeClr val="tx1"/>
                </a:solidFill>
              </a:rPr>
              <a:t>Possibilità di legarlo ad un attributo per identificarlo </a:t>
            </a:r>
            <a:r>
              <a:rPr lang="it-IT" sz="1000" dirty="0" err="1">
                <a:solidFill>
                  <a:schemeClr val="tx1"/>
                </a:solidFill>
              </a:rPr>
              <a:t>informaticamente</a:t>
            </a:r>
            <a:r>
              <a:rPr lang="it-IT" sz="1000" dirty="0">
                <a:solidFill>
                  <a:schemeClr val="tx1"/>
                </a:solidFill>
              </a:rPr>
              <a:t> (tabella ZHR Company=?)</a:t>
            </a:r>
          </a:p>
          <a:p>
            <a:pPr marL="171450" indent="-171450">
              <a:buFontTx/>
              <a:buChar char="-"/>
            </a:pPr>
            <a:r>
              <a:rPr lang="it-IT" sz="1000" dirty="0">
                <a:solidFill>
                  <a:schemeClr val="tx1"/>
                </a:solidFill>
              </a:rPr>
              <a:t>Sarà proposto da S.NOW quando arriva «KO» da BW4Hana</a:t>
            </a:r>
          </a:p>
        </p:txBody>
      </p:sp>
      <p:sp>
        <p:nvSpPr>
          <p:cNvPr id="81" name="Rettangolo 80"/>
          <p:cNvSpPr/>
          <p:nvPr/>
        </p:nvSpPr>
        <p:spPr>
          <a:xfrm>
            <a:off x="10396597" y="5705648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it-IT" sz="5400" b="1" dirty="0" err="1">
                <a:ln/>
                <a:solidFill>
                  <a:schemeClr val="accent3"/>
                </a:solidFill>
              </a:rPr>
              <a:t>wip</a:t>
            </a:r>
            <a:endParaRPr lang="it-IT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5160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Cruscotto</a:t>
            </a:r>
            <a:r>
              <a:rPr lang="en-US" dirty="0"/>
              <a:t> </a:t>
            </a:r>
            <a:r>
              <a:rPr lang="en-US" dirty="0" err="1"/>
              <a:t>Aggancio</a:t>
            </a:r>
            <a:r>
              <a:rPr lang="en-US" dirty="0"/>
              <a:t> UO-CC </a:t>
            </a:r>
            <a:br>
              <a:rPr lang="en-US" dirty="0"/>
            </a:br>
            <a:r>
              <a:rPr lang="en-US" sz="2000" dirty="0" err="1"/>
              <a:t>Modifica</a:t>
            </a:r>
            <a:r>
              <a:rPr lang="en-US" sz="2000" dirty="0"/>
              <a:t> </a:t>
            </a:r>
            <a:r>
              <a:rPr lang="en-US" sz="2000" dirty="0" err="1"/>
              <a:t>attributi</a:t>
            </a:r>
            <a:r>
              <a:rPr lang="en-US" sz="2000" dirty="0"/>
              <a:t> UO 2/2</a:t>
            </a:r>
            <a:endParaRPr lang="en-US" dirty="0"/>
          </a:p>
        </p:txBody>
      </p:sp>
      <p:sp>
        <p:nvSpPr>
          <p:cNvPr id="48" name="Rettangolo arrotondato 47"/>
          <p:cNvSpPr/>
          <p:nvPr/>
        </p:nvSpPr>
        <p:spPr>
          <a:xfrm>
            <a:off x="2789553" y="3547590"/>
            <a:ext cx="2103573" cy="73499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Casistiche OK:</a:t>
            </a:r>
          </a:p>
          <a:p>
            <a:pPr marL="228600" indent="-228600" defTabSz="666750">
              <a:spcBef>
                <a:spcPct val="0"/>
              </a:spcBef>
              <a:buAutoNum type="arabicPeriod"/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Uno o Più CC idonei esistenti </a:t>
            </a:r>
          </a:p>
          <a:p>
            <a:pPr marL="228600" indent="-228600" defTabSz="666750">
              <a:spcBef>
                <a:spcPct val="0"/>
              </a:spcBef>
              <a:buFont typeface="+mj-lt"/>
              <a:buAutoNum type="arabicPeriod"/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Nessun CC idoneo esistente ma ho la compatibilità – devi  crearlo</a:t>
            </a:r>
          </a:p>
        </p:txBody>
      </p:sp>
      <p:grpSp>
        <p:nvGrpSpPr>
          <p:cNvPr id="31" name="Gruppo 30"/>
          <p:cNvGrpSpPr/>
          <p:nvPr/>
        </p:nvGrpSpPr>
        <p:grpSpPr>
          <a:xfrm>
            <a:off x="5148428" y="2203497"/>
            <a:ext cx="1761047" cy="814945"/>
            <a:chOff x="8796987" y="2171299"/>
            <a:chExt cx="1547221" cy="814945"/>
          </a:xfrm>
        </p:grpSpPr>
        <p:sp>
          <p:nvSpPr>
            <p:cNvPr id="56" name="Rettangolo arrotondato 55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CC risale su SAP </a:t>
              </a:r>
              <a:r>
                <a:rPr lang="it-IT" sz="900" dirty="0" err="1">
                  <a:solidFill>
                    <a:schemeClr val="tx1"/>
                  </a:solidFill>
                </a:rPr>
                <a:t>Hrglo</a:t>
              </a:r>
              <a:endParaRPr lang="it-IT" sz="900" dirty="0">
                <a:solidFill>
                  <a:schemeClr val="tx1"/>
                </a:solidFill>
              </a:endParaRP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i="1" dirty="0">
                  <a:solidFill>
                    <a:schemeClr val="tx1"/>
                  </a:solidFill>
                </a:rPr>
                <a:t>(Anagrafiche cc – tabella </a:t>
              </a:r>
              <a:r>
                <a:rPr lang="it-IT" sz="900" i="1" dirty="0" err="1">
                  <a:solidFill>
                    <a:schemeClr val="tx1"/>
                  </a:solidFill>
                </a:rPr>
                <a:t>csks</a:t>
              </a:r>
              <a:r>
                <a:rPr lang="it-IT" sz="900" i="1" dirty="0">
                  <a:solidFill>
                    <a:schemeClr val="tx1"/>
                  </a:solidFill>
                </a:rPr>
                <a:t> e aggancio)</a:t>
              </a:r>
            </a:p>
          </p:txBody>
        </p:sp>
        <p:sp>
          <p:nvSpPr>
            <p:cNvPr id="61" name="Rettangolo 60"/>
            <p:cNvSpPr/>
            <p:nvPr/>
          </p:nvSpPr>
          <p:spPr>
            <a:xfrm>
              <a:off x="9550401" y="2171299"/>
              <a:ext cx="79380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SAP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HRglo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2" name="Gruppo 31"/>
          <p:cNvGrpSpPr/>
          <p:nvPr/>
        </p:nvGrpSpPr>
        <p:grpSpPr>
          <a:xfrm>
            <a:off x="754170" y="2083572"/>
            <a:ext cx="1506828" cy="938307"/>
            <a:chOff x="4040538" y="2047937"/>
            <a:chExt cx="1506828" cy="938307"/>
          </a:xfrm>
        </p:grpSpPr>
        <p:sp>
          <p:nvSpPr>
            <p:cNvPr id="57" name="Ovale 56"/>
            <p:cNvSpPr/>
            <p:nvPr/>
          </p:nvSpPr>
          <p:spPr>
            <a:xfrm>
              <a:off x="4040538" y="2371806"/>
              <a:ext cx="1506828" cy="61443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Generazione case</a:t>
              </a:r>
            </a:p>
          </p:txBody>
        </p:sp>
        <p:sp>
          <p:nvSpPr>
            <p:cNvPr id="64" name="Rettangolo 63"/>
            <p:cNvSpPr/>
            <p:nvPr/>
          </p:nvSpPr>
          <p:spPr>
            <a:xfrm>
              <a:off x="4853329" y="2047937"/>
              <a:ext cx="575800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S.NOW</a:t>
              </a:r>
            </a:p>
          </p:txBody>
        </p:sp>
      </p:grpSp>
      <p:grpSp>
        <p:nvGrpSpPr>
          <p:cNvPr id="28" name="Gruppo 27"/>
          <p:cNvGrpSpPr/>
          <p:nvPr/>
        </p:nvGrpSpPr>
        <p:grpSpPr>
          <a:xfrm>
            <a:off x="327331" y="2039483"/>
            <a:ext cx="723275" cy="554746"/>
            <a:chOff x="373824" y="2358310"/>
            <a:chExt cx="723275" cy="554746"/>
          </a:xfrm>
        </p:grpSpPr>
        <p:pic>
          <p:nvPicPr>
            <p:cNvPr id="58" name="Immagine 57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67" name="Rettangolo 66"/>
            <p:cNvSpPr/>
            <p:nvPr/>
          </p:nvSpPr>
          <p:spPr>
            <a:xfrm>
              <a:off x="373824" y="2696074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68" name="Rettangolo arrotondato 67"/>
          <p:cNvSpPr/>
          <p:nvPr/>
        </p:nvSpPr>
        <p:spPr>
          <a:xfrm>
            <a:off x="3046136" y="2352592"/>
            <a:ext cx="1506828" cy="7092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Cruscotto Aggancio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UO-CC*</a:t>
            </a:r>
          </a:p>
        </p:txBody>
      </p:sp>
      <p:cxnSp>
        <p:nvCxnSpPr>
          <p:cNvPr id="69" name="Connettore 2 68"/>
          <p:cNvCxnSpPr>
            <a:stCxn id="57" idx="6"/>
            <a:endCxn id="68" idx="1"/>
          </p:cNvCxnSpPr>
          <p:nvPr/>
        </p:nvCxnSpPr>
        <p:spPr>
          <a:xfrm flipV="1">
            <a:off x="2260998" y="2707192"/>
            <a:ext cx="785138" cy="7468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o 28"/>
          <p:cNvGrpSpPr/>
          <p:nvPr/>
        </p:nvGrpSpPr>
        <p:grpSpPr>
          <a:xfrm>
            <a:off x="2501962" y="1775472"/>
            <a:ext cx="723275" cy="554746"/>
            <a:chOff x="5607478" y="2774142"/>
            <a:chExt cx="723275" cy="554746"/>
          </a:xfrm>
        </p:grpSpPr>
        <p:pic>
          <p:nvPicPr>
            <p:cNvPr id="71" name="Immagine 70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62228" y="2774142"/>
              <a:ext cx="266850" cy="320715"/>
            </a:xfrm>
            <a:prstGeom prst="rect">
              <a:avLst/>
            </a:prstGeom>
          </p:spPr>
        </p:pic>
        <p:sp>
          <p:nvSpPr>
            <p:cNvPr id="72" name="Rettangolo 71"/>
            <p:cNvSpPr/>
            <p:nvPr/>
          </p:nvSpPr>
          <p:spPr>
            <a:xfrm>
              <a:off x="5607478" y="3111906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22" name="Freccia in giù 21"/>
          <p:cNvSpPr/>
          <p:nvPr/>
        </p:nvSpPr>
        <p:spPr>
          <a:xfrm>
            <a:off x="3564393" y="3061792"/>
            <a:ext cx="484632" cy="496546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kern="1200" dirty="0">
              <a:solidFill>
                <a:schemeClr val="tx1"/>
              </a:solidFill>
            </a:endParaRPr>
          </a:p>
        </p:txBody>
      </p:sp>
      <p:grpSp>
        <p:nvGrpSpPr>
          <p:cNvPr id="97" name="Gruppo 96"/>
          <p:cNvGrpSpPr/>
          <p:nvPr/>
        </p:nvGrpSpPr>
        <p:grpSpPr>
          <a:xfrm>
            <a:off x="7540462" y="5132737"/>
            <a:ext cx="1597188" cy="796429"/>
            <a:chOff x="8796987" y="2189815"/>
            <a:chExt cx="1597188" cy="796429"/>
          </a:xfrm>
        </p:grpSpPr>
        <p:sp>
          <p:nvSpPr>
            <p:cNvPr id="99" name="Rettangolo arrotondato 98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CC-UO risale su sistemi locali</a:t>
              </a:r>
            </a:p>
          </p:txBody>
        </p:sp>
        <p:sp>
          <p:nvSpPr>
            <p:cNvPr id="100" name="Rettangolo 99"/>
            <p:cNvSpPr/>
            <p:nvPr/>
          </p:nvSpPr>
          <p:spPr>
            <a:xfrm>
              <a:off x="8984815" y="2189815"/>
              <a:ext cx="1409360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Amministrazione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03" name="Rettangolo 102"/>
          <p:cNvSpPr/>
          <p:nvPr/>
        </p:nvSpPr>
        <p:spPr>
          <a:xfrm>
            <a:off x="4490735" y="2517741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107" name="Rettangolo 106"/>
          <p:cNvSpPr/>
          <p:nvPr/>
        </p:nvSpPr>
        <p:spPr>
          <a:xfrm>
            <a:off x="3898933" y="2124429"/>
            <a:ext cx="5757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109" name="Rettangolo con angoli arrotondati in diagonale 108"/>
          <p:cNvSpPr/>
          <p:nvPr/>
        </p:nvSpPr>
        <p:spPr>
          <a:xfrm>
            <a:off x="6058914" y="912094"/>
            <a:ext cx="2099559" cy="688737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In caso di modifica UO il CC vecchio agganciato deve essere delimitato ed il nuovo deve avere validità inviata da service </a:t>
            </a:r>
            <a:r>
              <a:rPr lang="it-IT" sz="900" kern="1200" dirty="0" err="1">
                <a:solidFill>
                  <a:schemeClr val="tx1"/>
                </a:solidFill>
              </a:rPr>
              <a:t>now</a:t>
            </a:r>
            <a:r>
              <a:rPr lang="it-IT" sz="900" kern="1200" dirty="0">
                <a:solidFill>
                  <a:schemeClr val="tx1"/>
                </a:solidFill>
              </a:rPr>
              <a:t> (anche se uguale)</a:t>
            </a:r>
          </a:p>
        </p:txBody>
      </p:sp>
      <p:sp>
        <p:nvSpPr>
          <p:cNvPr id="45" name="Rettangolo con angoli arrotondati in diagonale 44"/>
          <p:cNvSpPr/>
          <p:nvPr/>
        </p:nvSpPr>
        <p:spPr>
          <a:xfrm>
            <a:off x="8835765" y="5702612"/>
            <a:ext cx="1064712" cy="517788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Da analizzare la soluzione di </a:t>
            </a:r>
            <a:r>
              <a:rPr lang="it-IT" sz="900" kern="1200" dirty="0" err="1">
                <a:solidFill>
                  <a:schemeClr val="tx1"/>
                </a:solidFill>
              </a:rPr>
              <a:t>contingency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83" name="Rettangolo 82"/>
          <p:cNvSpPr/>
          <p:nvPr/>
        </p:nvSpPr>
        <p:spPr>
          <a:xfrm>
            <a:off x="-15021" y="5948520"/>
            <a:ext cx="8979506" cy="909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dirty="0">
                <a:solidFill>
                  <a:schemeClr val="accent1">
                    <a:lumMod val="50000"/>
                  </a:schemeClr>
                </a:solidFill>
              </a:rPr>
              <a:t>¹Cruscotto permette di visualizzare: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</a:t>
            </a: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con i relativi attributi</a:t>
            </a: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 che non hanno un CC 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avuto una modifica degli attributi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ricevuto un KO di incompatibilità attività/BSER</a:t>
            </a:r>
          </a:p>
          <a:p>
            <a:pPr marL="171450" indent="-171450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Tx/>
              <a:buChar char="-"/>
            </a:pPr>
            <a:r>
              <a:rPr lang="it-IT" sz="900" dirty="0">
                <a:solidFill>
                  <a:schemeClr val="accent1">
                    <a:lumMod val="50000"/>
                  </a:schemeClr>
                </a:solidFill>
              </a:rPr>
              <a:t>tutte le UO che hanno un CC bidone collegato</a:t>
            </a:r>
          </a:p>
        </p:txBody>
      </p:sp>
      <p:grpSp>
        <p:nvGrpSpPr>
          <p:cNvPr id="87" name="Gruppo 86"/>
          <p:cNvGrpSpPr/>
          <p:nvPr/>
        </p:nvGrpSpPr>
        <p:grpSpPr>
          <a:xfrm>
            <a:off x="5838528" y="4102713"/>
            <a:ext cx="1511955" cy="814945"/>
            <a:chOff x="8796987" y="2171299"/>
            <a:chExt cx="1511955" cy="814945"/>
          </a:xfrm>
        </p:grpSpPr>
        <p:sp>
          <p:nvSpPr>
            <p:cNvPr id="88" name="Rettangolo arrotondato 87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dirty="0">
                  <a:solidFill>
                    <a:schemeClr val="tx1"/>
                  </a:solidFill>
                </a:rPr>
                <a:t>BW4Hana riceve l’info dell’aggancio da S.NOW</a:t>
              </a:r>
              <a:endParaRPr lang="it-IT" sz="900" kern="1200" dirty="0">
                <a:solidFill>
                  <a:schemeClr val="tx1"/>
                </a:solidFill>
              </a:endParaRPr>
            </a:p>
          </p:txBody>
        </p:sp>
        <p:sp>
          <p:nvSpPr>
            <p:cNvPr id="89" name="Rettangolo 88"/>
            <p:cNvSpPr/>
            <p:nvPr/>
          </p:nvSpPr>
          <p:spPr>
            <a:xfrm>
              <a:off x="9585667" y="2171299"/>
              <a:ext cx="72327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BW4Hana</a:t>
              </a:r>
            </a:p>
          </p:txBody>
        </p:sp>
      </p:grpSp>
      <p:cxnSp>
        <p:nvCxnSpPr>
          <p:cNvPr id="92" name="Connettore 2 51"/>
          <p:cNvCxnSpPr>
            <a:stCxn id="88" idx="2"/>
            <a:endCxn id="99" idx="1"/>
          </p:cNvCxnSpPr>
          <p:nvPr/>
        </p:nvCxnSpPr>
        <p:spPr>
          <a:xfrm rot="16200000" flipH="1">
            <a:off x="6714058" y="4795542"/>
            <a:ext cx="704289" cy="94852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tangolo 92"/>
          <p:cNvSpPr/>
          <p:nvPr/>
        </p:nvSpPr>
        <p:spPr>
          <a:xfrm>
            <a:off x="6520482" y="5404965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74" name="Rettangolo con angoli arrotondati in diagonale 73"/>
          <p:cNvSpPr/>
          <p:nvPr/>
        </p:nvSpPr>
        <p:spPr>
          <a:xfrm>
            <a:off x="6123067" y="330015"/>
            <a:ext cx="1971251" cy="517788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Avremo a disposizione sempre uno storico degli agganci UO-CC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cxnSp>
        <p:nvCxnSpPr>
          <p:cNvPr id="75" name="Connettore 2 51"/>
          <p:cNvCxnSpPr>
            <a:stCxn id="68" idx="3"/>
            <a:endCxn id="88" idx="1"/>
          </p:cNvCxnSpPr>
          <p:nvPr/>
        </p:nvCxnSpPr>
        <p:spPr>
          <a:xfrm>
            <a:off x="4552964" y="2707192"/>
            <a:ext cx="1285564" cy="1903247"/>
          </a:xfrm>
          <a:prstGeom prst="bentConnector3">
            <a:avLst>
              <a:gd name="adj1" fmla="val 33971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ttore 2 51"/>
          <p:cNvCxnSpPr>
            <a:stCxn id="88" idx="0"/>
            <a:endCxn id="56" idx="2"/>
          </p:cNvCxnSpPr>
          <p:nvPr/>
        </p:nvCxnSpPr>
        <p:spPr>
          <a:xfrm rot="16200000" flipV="1">
            <a:off x="5656564" y="3367842"/>
            <a:ext cx="1284778" cy="58597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uppo 78"/>
          <p:cNvGrpSpPr/>
          <p:nvPr/>
        </p:nvGrpSpPr>
        <p:grpSpPr>
          <a:xfrm>
            <a:off x="8709225" y="2933278"/>
            <a:ext cx="920307" cy="803365"/>
            <a:chOff x="8796987" y="2182879"/>
            <a:chExt cx="1640755" cy="803365"/>
          </a:xfrm>
        </p:grpSpPr>
        <p:sp>
          <p:nvSpPr>
            <p:cNvPr id="81" name="Rettangolo arrotondato 80"/>
            <p:cNvSpPr/>
            <p:nvPr/>
          </p:nvSpPr>
          <p:spPr>
            <a:xfrm>
              <a:off x="8796987" y="2371806"/>
              <a:ext cx="1506828" cy="614438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CC-UO scende sui sistemi HR </a:t>
              </a:r>
              <a:r>
                <a:rPr lang="it-IT" sz="900" kern="1200" dirty="0" err="1">
                  <a:solidFill>
                    <a:schemeClr val="tx1"/>
                  </a:solidFill>
                </a:rPr>
                <a:t>local</a:t>
              </a:r>
              <a:endParaRPr lang="it-IT" sz="900" kern="1200" dirty="0">
                <a:solidFill>
                  <a:schemeClr val="tx1"/>
                </a:solidFill>
              </a:endParaRPr>
            </a:p>
          </p:txBody>
        </p:sp>
        <p:sp>
          <p:nvSpPr>
            <p:cNvPr id="85" name="Rettangolo 84"/>
            <p:cNvSpPr/>
            <p:nvPr/>
          </p:nvSpPr>
          <p:spPr>
            <a:xfrm>
              <a:off x="8805315" y="2182879"/>
              <a:ext cx="163242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SAP HR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86" name="Rettangolo 85"/>
          <p:cNvSpPr/>
          <p:nvPr/>
        </p:nvSpPr>
        <p:spPr>
          <a:xfrm>
            <a:off x="6909475" y="2539710"/>
            <a:ext cx="793808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grpSp>
        <p:nvGrpSpPr>
          <p:cNvPr id="94" name="Gruppo 93"/>
          <p:cNvGrpSpPr/>
          <p:nvPr/>
        </p:nvGrpSpPr>
        <p:grpSpPr>
          <a:xfrm>
            <a:off x="8412803" y="1583134"/>
            <a:ext cx="1073546" cy="610549"/>
            <a:chOff x="8752881" y="1719631"/>
            <a:chExt cx="1354412" cy="1266613"/>
          </a:xfrm>
        </p:grpSpPr>
        <p:sp>
          <p:nvSpPr>
            <p:cNvPr id="95" name="Rettangolo arrotondato 94"/>
            <p:cNvSpPr/>
            <p:nvPr/>
          </p:nvSpPr>
          <p:spPr>
            <a:xfrm>
              <a:off x="8752881" y="2044831"/>
              <a:ext cx="1295867" cy="941413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Chiusura automatica </a:t>
              </a:r>
              <a:r>
                <a:rPr lang="it-IT" sz="900" dirty="0">
                  <a:solidFill>
                    <a:schemeClr val="tx1"/>
                  </a:solidFill>
                </a:rPr>
                <a:t>ca</a:t>
              </a:r>
              <a:r>
                <a:rPr lang="it-IT" sz="900" kern="1200" dirty="0">
                  <a:solidFill>
                    <a:schemeClr val="tx1"/>
                  </a:solidFill>
                </a:rPr>
                <a:t>se su S.NOW</a:t>
              </a:r>
            </a:p>
          </p:txBody>
        </p:sp>
        <p:sp>
          <p:nvSpPr>
            <p:cNvPr id="98" name="Rettangolo 97"/>
            <p:cNvSpPr/>
            <p:nvPr/>
          </p:nvSpPr>
          <p:spPr>
            <a:xfrm>
              <a:off x="9340403" y="1719631"/>
              <a:ext cx="766890" cy="4501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S. NOW</a:t>
              </a:r>
            </a:p>
          </p:txBody>
        </p:sp>
      </p:grpSp>
      <p:cxnSp>
        <p:nvCxnSpPr>
          <p:cNvPr id="101" name="Connettore 2 51"/>
          <p:cNvCxnSpPr>
            <a:stCxn id="56" idx="3"/>
            <a:endCxn id="95" idx="1"/>
          </p:cNvCxnSpPr>
          <p:nvPr/>
        </p:nvCxnSpPr>
        <p:spPr>
          <a:xfrm flipV="1">
            <a:off x="6863500" y="1966787"/>
            <a:ext cx="1549303" cy="74443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2 101"/>
          <p:cNvCxnSpPr>
            <a:stCxn id="95" idx="3"/>
          </p:cNvCxnSpPr>
          <p:nvPr/>
        </p:nvCxnSpPr>
        <p:spPr>
          <a:xfrm>
            <a:off x="9439948" y="1966787"/>
            <a:ext cx="300734" cy="249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uppo 104"/>
          <p:cNvGrpSpPr/>
          <p:nvPr/>
        </p:nvGrpSpPr>
        <p:grpSpPr>
          <a:xfrm>
            <a:off x="9740679" y="1557049"/>
            <a:ext cx="1073546" cy="610549"/>
            <a:chOff x="8752881" y="1719631"/>
            <a:chExt cx="1354412" cy="1266613"/>
          </a:xfrm>
        </p:grpSpPr>
        <p:sp>
          <p:nvSpPr>
            <p:cNvPr id="108" name="Rettangolo arrotondato 107"/>
            <p:cNvSpPr/>
            <p:nvPr/>
          </p:nvSpPr>
          <p:spPr>
            <a:xfrm>
              <a:off x="8752881" y="2044831"/>
              <a:ext cx="1295867" cy="941413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36000" rIns="36000" bIns="36000" numCol="1" spcCol="1270" rtlCol="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kern="1200" dirty="0">
                  <a:solidFill>
                    <a:schemeClr val="tx1"/>
                  </a:solidFill>
                </a:rPr>
                <a:t>Notifica automatica per chiusura case</a:t>
              </a:r>
            </a:p>
          </p:txBody>
        </p:sp>
        <p:sp>
          <p:nvSpPr>
            <p:cNvPr id="110" name="Rettangolo 109"/>
            <p:cNvSpPr/>
            <p:nvPr/>
          </p:nvSpPr>
          <p:spPr>
            <a:xfrm>
              <a:off x="9340403" y="1719631"/>
              <a:ext cx="766890" cy="4501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S. NOW</a:t>
              </a:r>
            </a:p>
          </p:txBody>
        </p:sp>
      </p:grpSp>
      <p:grpSp>
        <p:nvGrpSpPr>
          <p:cNvPr id="111" name="Gruppo 110"/>
          <p:cNvGrpSpPr/>
          <p:nvPr/>
        </p:nvGrpSpPr>
        <p:grpSpPr>
          <a:xfrm>
            <a:off x="10736288" y="1302890"/>
            <a:ext cx="723275" cy="554746"/>
            <a:chOff x="375342" y="2358310"/>
            <a:chExt cx="720241" cy="554746"/>
          </a:xfrm>
        </p:grpSpPr>
        <p:pic>
          <p:nvPicPr>
            <p:cNvPr id="112" name="Immagine 111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113" name="Rettangolo 112"/>
            <p:cNvSpPr/>
            <p:nvPr/>
          </p:nvSpPr>
          <p:spPr>
            <a:xfrm>
              <a:off x="375342" y="2696074"/>
              <a:ext cx="720241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local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14" name="Gruppo 113"/>
          <p:cNvGrpSpPr/>
          <p:nvPr/>
        </p:nvGrpSpPr>
        <p:grpSpPr>
          <a:xfrm>
            <a:off x="10664292" y="1907157"/>
            <a:ext cx="889987" cy="554746"/>
            <a:chOff x="292337" y="2358310"/>
            <a:chExt cx="886255" cy="554746"/>
          </a:xfrm>
        </p:grpSpPr>
        <p:pic>
          <p:nvPicPr>
            <p:cNvPr id="115" name="Immagine 114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116" name="Rettangolo 115"/>
            <p:cNvSpPr/>
            <p:nvPr/>
          </p:nvSpPr>
          <p:spPr>
            <a:xfrm>
              <a:off x="292337" y="2696074"/>
              <a:ext cx="88625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Holding</a:t>
              </a:r>
            </a:p>
          </p:txBody>
        </p:sp>
      </p:grpSp>
      <p:grpSp>
        <p:nvGrpSpPr>
          <p:cNvPr id="117" name="Gruppo 116"/>
          <p:cNvGrpSpPr/>
          <p:nvPr/>
        </p:nvGrpSpPr>
        <p:grpSpPr>
          <a:xfrm>
            <a:off x="10987366" y="2509926"/>
            <a:ext cx="351379" cy="554746"/>
            <a:chOff x="560512" y="2358310"/>
            <a:chExt cx="349905" cy="554746"/>
          </a:xfrm>
        </p:grpSpPr>
        <p:pic>
          <p:nvPicPr>
            <p:cNvPr id="118" name="Immagine 117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574" y="2358310"/>
              <a:ext cx="266850" cy="320715"/>
            </a:xfrm>
            <a:prstGeom prst="rect">
              <a:avLst/>
            </a:prstGeom>
          </p:spPr>
        </p:pic>
        <p:sp>
          <p:nvSpPr>
            <p:cNvPr id="119" name="Rettangolo 118"/>
            <p:cNvSpPr/>
            <p:nvPr/>
          </p:nvSpPr>
          <p:spPr>
            <a:xfrm>
              <a:off x="560512" y="2696074"/>
              <a:ext cx="349905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HR</a:t>
              </a:r>
            </a:p>
          </p:txBody>
        </p:sp>
      </p:grpSp>
      <p:cxnSp>
        <p:nvCxnSpPr>
          <p:cNvPr id="120" name="Connettore 2 51"/>
          <p:cNvCxnSpPr>
            <a:stCxn id="56" idx="3"/>
            <a:endCxn id="81" idx="1"/>
          </p:cNvCxnSpPr>
          <p:nvPr/>
        </p:nvCxnSpPr>
        <p:spPr>
          <a:xfrm>
            <a:off x="6863500" y="2711223"/>
            <a:ext cx="1845725" cy="71820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43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217340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Sgancio</a:t>
            </a:r>
            <a:r>
              <a:rPr lang="en-US" dirty="0"/>
              <a:t> UO-CC</a:t>
            </a:r>
          </a:p>
        </p:txBody>
      </p:sp>
      <p:sp>
        <p:nvSpPr>
          <p:cNvPr id="76" name="Rettangolo 75"/>
          <p:cNvSpPr/>
          <p:nvPr/>
        </p:nvSpPr>
        <p:spPr>
          <a:xfrm>
            <a:off x="2537926" y="2341562"/>
            <a:ext cx="428323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P&amp;C</a:t>
            </a:r>
          </a:p>
        </p:txBody>
      </p:sp>
      <p:sp>
        <p:nvSpPr>
          <p:cNvPr id="75" name="Rettangolo arrotondato 74"/>
          <p:cNvSpPr/>
          <p:nvPr/>
        </p:nvSpPr>
        <p:spPr>
          <a:xfrm>
            <a:off x="1478389" y="2020500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Controller effettua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sgancio UO-CC</a:t>
            </a:r>
          </a:p>
        </p:txBody>
      </p:sp>
      <p:pic>
        <p:nvPicPr>
          <p:cNvPr id="77" name="Immagine 76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2048" y="2024975"/>
            <a:ext cx="266850" cy="334850"/>
          </a:xfrm>
          <a:prstGeom prst="rect">
            <a:avLst/>
          </a:prstGeom>
        </p:spPr>
      </p:pic>
      <p:cxnSp>
        <p:nvCxnSpPr>
          <p:cNvPr id="78" name="Connettore 2 77"/>
          <p:cNvCxnSpPr>
            <a:stCxn id="75" idx="3"/>
            <a:endCxn id="124" idx="1"/>
          </p:cNvCxnSpPr>
          <p:nvPr/>
        </p:nvCxnSpPr>
        <p:spPr>
          <a:xfrm flipV="1">
            <a:off x="3126885" y="2303835"/>
            <a:ext cx="2057288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ttangolo 119"/>
          <p:cNvSpPr/>
          <p:nvPr/>
        </p:nvSpPr>
        <p:spPr>
          <a:xfrm>
            <a:off x="3741388" y="3479445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125" name="Rettangolo 124"/>
          <p:cNvSpPr/>
          <p:nvPr/>
        </p:nvSpPr>
        <p:spPr>
          <a:xfrm>
            <a:off x="5967726" y="1806627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124" name="Rettangolo arrotondato 123"/>
          <p:cNvSpPr/>
          <p:nvPr/>
        </p:nvSpPr>
        <p:spPr>
          <a:xfrm>
            <a:off x="5184173" y="1996035"/>
            <a:ext cx="1506828" cy="615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kern="1200" dirty="0">
                <a:solidFill>
                  <a:schemeClr val="tx1"/>
                </a:solidFill>
              </a:rPr>
              <a:t>Sgancia UO dal CC</a:t>
            </a:r>
            <a:endParaRPr lang="it-IT" sz="1000" dirty="0">
              <a:solidFill>
                <a:schemeClr val="tx1"/>
              </a:solidFill>
            </a:endParaRPr>
          </a:p>
        </p:txBody>
      </p:sp>
      <p:cxnSp>
        <p:nvCxnSpPr>
          <p:cNvPr id="135" name="Connettore 2 233"/>
          <p:cNvCxnSpPr>
            <a:stCxn id="124" idx="3"/>
            <a:endCxn id="157" idx="0"/>
          </p:cNvCxnSpPr>
          <p:nvPr/>
        </p:nvCxnSpPr>
        <p:spPr>
          <a:xfrm>
            <a:off x="6691001" y="2303835"/>
            <a:ext cx="1361903" cy="1084794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ttangolo 138"/>
          <p:cNvSpPr/>
          <p:nvPr/>
        </p:nvSpPr>
        <p:spPr>
          <a:xfrm>
            <a:off x="7477104" y="2054629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sp>
        <p:nvSpPr>
          <p:cNvPr id="153" name="Ovale 152"/>
          <p:cNvSpPr/>
          <p:nvPr/>
        </p:nvSpPr>
        <p:spPr>
          <a:xfrm>
            <a:off x="5025626" y="3389210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Determinazione / Recupero CC tipo/reale</a:t>
            </a:r>
          </a:p>
        </p:txBody>
      </p:sp>
      <p:sp>
        <p:nvSpPr>
          <p:cNvPr id="154" name="Rettangolo 153"/>
          <p:cNvSpPr/>
          <p:nvPr/>
        </p:nvSpPr>
        <p:spPr>
          <a:xfrm>
            <a:off x="5417403" y="3162320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157" name="Rettangolo arrotondato 156"/>
          <p:cNvSpPr/>
          <p:nvPr/>
        </p:nvSpPr>
        <p:spPr>
          <a:xfrm>
            <a:off x="7299490" y="3388629"/>
            <a:ext cx="1506828" cy="615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kern="1200" dirty="0">
                <a:solidFill>
                  <a:schemeClr val="tx1"/>
                </a:solidFill>
              </a:rPr>
              <a:t>Richiede a BW4Hana i CC per le UO che hanno ricevuto sgancio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59" name="Rettangolo 158"/>
          <p:cNvSpPr/>
          <p:nvPr/>
        </p:nvSpPr>
        <p:spPr>
          <a:xfrm>
            <a:off x="8209745" y="3184872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cxnSp>
        <p:nvCxnSpPr>
          <p:cNvPr id="160" name="Connettore 2 159"/>
          <p:cNvCxnSpPr>
            <a:stCxn id="157" idx="1"/>
            <a:endCxn id="153" idx="6"/>
          </p:cNvCxnSpPr>
          <p:nvPr/>
        </p:nvCxnSpPr>
        <p:spPr>
          <a:xfrm flipH="1">
            <a:off x="6532454" y="3696429"/>
            <a:ext cx="767036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ttangolo 162"/>
          <p:cNvSpPr/>
          <p:nvPr/>
        </p:nvSpPr>
        <p:spPr>
          <a:xfrm>
            <a:off x="3671091" y="4707164"/>
            <a:ext cx="57580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S.NOW</a:t>
            </a:r>
          </a:p>
        </p:txBody>
      </p:sp>
      <p:cxnSp>
        <p:nvCxnSpPr>
          <p:cNvPr id="164" name="Connettore 2 233"/>
          <p:cNvCxnSpPr>
            <a:stCxn id="153" idx="2"/>
            <a:endCxn id="51" idx="0"/>
          </p:cNvCxnSpPr>
          <p:nvPr/>
        </p:nvCxnSpPr>
        <p:spPr>
          <a:xfrm rot="10800000" flipV="1">
            <a:off x="3658608" y="3696428"/>
            <a:ext cx="1367019" cy="1319179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e 50"/>
          <p:cNvSpPr/>
          <p:nvPr/>
        </p:nvSpPr>
        <p:spPr>
          <a:xfrm>
            <a:off x="2905193" y="5015608"/>
            <a:ext cx="1506828" cy="61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Cruscotto Aggancio UO-CC</a:t>
            </a:r>
          </a:p>
        </p:txBody>
      </p:sp>
      <p:sp>
        <p:nvSpPr>
          <p:cNvPr id="24" name="Rettangolo arrotondato 23"/>
          <p:cNvSpPr/>
          <p:nvPr/>
        </p:nvSpPr>
        <p:spPr>
          <a:xfrm>
            <a:off x="279226" y="3084554"/>
            <a:ext cx="2472822" cy="129150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spcBef>
                <a:spcPct val="0"/>
              </a:spcBef>
            </a:pPr>
            <a:r>
              <a:rPr lang="it-IT" sz="900" i="1" kern="1200" dirty="0">
                <a:solidFill>
                  <a:schemeClr val="accent1">
                    <a:lumMod val="50000"/>
                  </a:schemeClr>
                </a:solidFill>
              </a:rPr>
              <a:t>Casistiche:</a:t>
            </a:r>
          </a:p>
          <a:p>
            <a:pPr marL="171450" indent="-171450" defTabSz="666750">
              <a:spcBef>
                <a:spcPct val="0"/>
              </a:spcBef>
              <a:buFontTx/>
              <a:buChar char="-"/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Aggiornamento catalogo transcodifica attività (lato AFC)</a:t>
            </a:r>
            <a:endParaRPr lang="it-IT" sz="900" i="1" kern="12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 defTabSz="666750">
              <a:spcBef>
                <a:spcPct val="0"/>
              </a:spcBef>
              <a:buFontTx/>
              <a:buChar char="-"/>
            </a:pPr>
            <a:r>
              <a:rPr lang="it-IT" sz="900" i="1" dirty="0">
                <a:solidFill>
                  <a:schemeClr val="accent1">
                    <a:lumMod val="50000"/>
                  </a:schemeClr>
                </a:solidFill>
              </a:rPr>
              <a:t>Lavorazione bidone</a:t>
            </a:r>
            <a:endParaRPr lang="it-IT" sz="900" i="1" kern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Freccia in giù 24"/>
          <p:cNvSpPr/>
          <p:nvPr/>
        </p:nvSpPr>
        <p:spPr>
          <a:xfrm>
            <a:off x="1734272" y="2598756"/>
            <a:ext cx="484632" cy="496546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in diagonale 25"/>
          <p:cNvSpPr/>
          <p:nvPr/>
        </p:nvSpPr>
        <p:spPr>
          <a:xfrm>
            <a:off x="3741388" y="135377"/>
            <a:ext cx="2956208" cy="1611711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Possibile solo con riaggancio immediato.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In caso contrario S.NOW non dovrà permettere il salvataggio</a:t>
            </a:r>
          </a:p>
        </p:txBody>
      </p:sp>
    </p:spTree>
    <p:extLst>
      <p:ext uri="{BB962C8B-B14F-4D97-AF65-F5344CB8AC3E}">
        <p14:creationId xmlns:p14="http://schemas.microsoft.com/office/powerpoint/2010/main" val="2314132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Aggiornamento </a:t>
            </a:r>
            <a:r>
              <a:rPr lang="en-US" dirty="0" err="1"/>
              <a:t>catalogo</a:t>
            </a:r>
            <a:r>
              <a:rPr lang="en-US" dirty="0"/>
              <a:t> </a:t>
            </a:r>
            <a:r>
              <a:rPr lang="en-US" dirty="0" err="1"/>
              <a:t>transcodifica</a:t>
            </a:r>
            <a:r>
              <a:rPr lang="en-US" dirty="0"/>
              <a:t> </a:t>
            </a:r>
            <a:r>
              <a:rPr lang="en-US" dirty="0" err="1"/>
              <a:t>attività</a:t>
            </a:r>
            <a:r>
              <a:rPr lang="en-US" dirty="0"/>
              <a:t> </a:t>
            </a:r>
            <a:r>
              <a:rPr lang="en-US" sz="2000" dirty="0" err="1"/>
              <a:t>Nuovo</a:t>
            </a:r>
            <a:r>
              <a:rPr lang="en-US" sz="2000" dirty="0"/>
              <a:t>/</a:t>
            </a:r>
            <a:r>
              <a:rPr lang="en-US" sz="2000" dirty="0" err="1"/>
              <a:t>Modifica</a:t>
            </a:r>
            <a:r>
              <a:rPr lang="en-US" sz="2000" dirty="0"/>
              <a:t> </a:t>
            </a:r>
            <a:r>
              <a:rPr lang="en-US" sz="2000" dirty="0" err="1"/>
              <a:t>attributo</a:t>
            </a:r>
            <a:r>
              <a:rPr lang="en-US" sz="2000" dirty="0"/>
              <a:t> HR</a:t>
            </a:r>
          </a:p>
        </p:txBody>
      </p:sp>
      <p:sp>
        <p:nvSpPr>
          <p:cNvPr id="35" name="Rettangolo arrotondato 34"/>
          <p:cNvSpPr/>
          <p:nvPr/>
        </p:nvSpPr>
        <p:spPr>
          <a:xfrm>
            <a:off x="332871" y="1965918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Modifica Catalogo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Attributi P&amp;O</a:t>
            </a:r>
          </a:p>
        </p:txBody>
      </p:sp>
      <p:sp>
        <p:nvSpPr>
          <p:cNvPr id="36" name="Rettangolo 35"/>
          <p:cNvSpPr/>
          <p:nvPr/>
        </p:nvSpPr>
        <p:spPr>
          <a:xfrm>
            <a:off x="1347859" y="2297954"/>
            <a:ext cx="588623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HR </a:t>
            </a:r>
            <a:r>
              <a:rPr lang="it-IT" sz="900" b="1" i="1" dirty="0" err="1">
                <a:solidFill>
                  <a:schemeClr val="accent3"/>
                </a:solidFill>
              </a:rPr>
              <a:t>Org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pic>
        <p:nvPicPr>
          <p:cNvPr id="37" name="Immagine 3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6530" y="1981367"/>
            <a:ext cx="266850" cy="334850"/>
          </a:xfrm>
          <a:prstGeom prst="rect">
            <a:avLst/>
          </a:prstGeom>
        </p:spPr>
      </p:pic>
      <p:cxnSp>
        <p:nvCxnSpPr>
          <p:cNvPr id="38" name="Connettore 2 37"/>
          <p:cNvCxnSpPr>
            <a:stCxn id="35" idx="3"/>
            <a:endCxn id="58" idx="1"/>
          </p:cNvCxnSpPr>
          <p:nvPr/>
        </p:nvCxnSpPr>
        <p:spPr>
          <a:xfrm>
            <a:off x="1981367" y="2249254"/>
            <a:ext cx="372840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arrotondato 38"/>
          <p:cNvSpPr/>
          <p:nvPr/>
        </p:nvSpPr>
        <p:spPr>
          <a:xfrm>
            <a:off x="3098251" y="3523237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controller HLD gira gli attributi del catalogo senza corrispondenza al controller di riferimento</a:t>
            </a:r>
          </a:p>
        </p:txBody>
      </p:sp>
      <p:cxnSp>
        <p:nvCxnSpPr>
          <p:cNvPr id="43" name="Connettore 2 42"/>
          <p:cNvCxnSpPr>
            <a:stCxn id="39" idx="3"/>
            <a:endCxn id="67" idx="1"/>
          </p:cNvCxnSpPr>
          <p:nvPr/>
        </p:nvCxnSpPr>
        <p:spPr>
          <a:xfrm flipV="1">
            <a:off x="4605079" y="3829531"/>
            <a:ext cx="1238487" cy="925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tangolo 47"/>
          <p:cNvSpPr/>
          <p:nvPr/>
        </p:nvSpPr>
        <p:spPr>
          <a:xfrm>
            <a:off x="11031354" y="4934856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sp>
        <p:nvSpPr>
          <p:cNvPr id="50" name="Rettangolo 49"/>
          <p:cNvSpPr/>
          <p:nvPr/>
        </p:nvSpPr>
        <p:spPr>
          <a:xfrm>
            <a:off x="4884336" y="3603377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3305174" y="1369619"/>
            <a:ext cx="588623" cy="533569"/>
            <a:chOff x="3696198" y="1638398"/>
            <a:chExt cx="588623" cy="533569"/>
          </a:xfrm>
        </p:grpSpPr>
        <p:sp>
          <p:nvSpPr>
            <p:cNvPr id="53" name="Rettangolo 52"/>
            <p:cNvSpPr/>
            <p:nvPr/>
          </p:nvSpPr>
          <p:spPr>
            <a:xfrm>
              <a:off x="3696198" y="1954985"/>
              <a:ext cx="588623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HR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Org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54" name="Immagine 53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grpSp>
        <p:nvGrpSpPr>
          <p:cNvPr id="57" name="Gruppo 56"/>
          <p:cNvGrpSpPr/>
          <p:nvPr/>
        </p:nvGrpSpPr>
        <p:grpSpPr>
          <a:xfrm>
            <a:off x="9057645" y="4207391"/>
            <a:ext cx="428323" cy="528502"/>
            <a:chOff x="170489" y="1378235"/>
            <a:chExt cx="460422" cy="571782"/>
          </a:xfrm>
        </p:grpSpPr>
        <p:sp>
          <p:nvSpPr>
            <p:cNvPr id="59" name="Rettangolo 58"/>
            <p:cNvSpPr/>
            <p:nvPr/>
          </p:nvSpPr>
          <p:spPr>
            <a:xfrm>
              <a:off x="170489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60" name="Immagine 59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grpSp>
        <p:nvGrpSpPr>
          <p:cNvPr id="61" name="Gruppo 60"/>
          <p:cNvGrpSpPr/>
          <p:nvPr/>
        </p:nvGrpSpPr>
        <p:grpSpPr>
          <a:xfrm>
            <a:off x="3512221" y="2941276"/>
            <a:ext cx="697627" cy="528501"/>
            <a:chOff x="25748" y="1378235"/>
            <a:chExt cx="749906" cy="571782"/>
          </a:xfrm>
        </p:grpSpPr>
        <p:sp>
          <p:nvSpPr>
            <p:cNvPr id="62" name="Rettangolo 61"/>
            <p:cNvSpPr/>
            <p:nvPr/>
          </p:nvSpPr>
          <p:spPr>
            <a:xfrm>
              <a:off x="25748" y="1715266"/>
              <a:ext cx="749906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63" name="Immagine 62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67" name="Rettangolo arrotondato 66"/>
          <p:cNvSpPr/>
          <p:nvPr/>
        </p:nvSpPr>
        <p:spPr>
          <a:xfrm>
            <a:off x="5843566" y="3527487"/>
            <a:ext cx="1506828" cy="6040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controller provvederà ad associare al nuovo attributo HR le corrispondenti info AFC*</a:t>
            </a:r>
          </a:p>
        </p:txBody>
      </p:sp>
      <p:sp>
        <p:nvSpPr>
          <p:cNvPr id="71" name="CasellaDiTesto 70"/>
          <p:cNvSpPr txBox="1"/>
          <p:nvPr/>
        </p:nvSpPr>
        <p:spPr>
          <a:xfrm>
            <a:off x="58666" y="6720125"/>
            <a:ext cx="52350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/>
              <a:t>* Macro </a:t>
            </a:r>
            <a:r>
              <a:rPr lang="it-IT" sz="800" dirty="0" err="1"/>
              <a:t>Org</a:t>
            </a:r>
            <a:r>
              <a:rPr lang="it-IT" sz="800" dirty="0"/>
              <a:t> 1, Macro </a:t>
            </a:r>
            <a:r>
              <a:rPr lang="it-IT" sz="800" dirty="0" err="1"/>
              <a:t>Org</a:t>
            </a:r>
            <a:r>
              <a:rPr lang="it-IT" sz="800" dirty="0"/>
              <a:t> 2, VCS, </a:t>
            </a:r>
            <a:r>
              <a:rPr lang="it-IT" sz="800" dirty="0" err="1"/>
              <a:t>Process</a:t>
            </a:r>
            <a:r>
              <a:rPr lang="it-IT" sz="800" dirty="0"/>
              <a:t>, Organization</a:t>
            </a:r>
          </a:p>
        </p:txBody>
      </p:sp>
      <p:grpSp>
        <p:nvGrpSpPr>
          <p:cNvPr id="72" name="Gruppo 71"/>
          <p:cNvGrpSpPr/>
          <p:nvPr/>
        </p:nvGrpSpPr>
        <p:grpSpPr>
          <a:xfrm>
            <a:off x="7031243" y="3028372"/>
            <a:ext cx="428322" cy="528502"/>
            <a:chOff x="170488" y="1378235"/>
            <a:chExt cx="460420" cy="571782"/>
          </a:xfrm>
        </p:grpSpPr>
        <p:sp>
          <p:nvSpPr>
            <p:cNvPr id="73" name="Rettangolo 72"/>
            <p:cNvSpPr/>
            <p:nvPr/>
          </p:nvSpPr>
          <p:spPr>
            <a:xfrm>
              <a:off x="170488" y="1715266"/>
              <a:ext cx="460420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</a:t>
              </a:r>
            </a:p>
          </p:txBody>
        </p:sp>
        <p:pic>
          <p:nvPicPr>
            <p:cNvPr id="74" name="Immagine 7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78" name="Rettangolo arrotondato 77"/>
          <p:cNvSpPr/>
          <p:nvPr/>
        </p:nvSpPr>
        <p:spPr>
          <a:xfrm>
            <a:off x="9123116" y="3518315"/>
            <a:ext cx="1506828" cy="6040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controller restituisce a P&amp;C HLD il catalogo aggiornato</a:t>
            </a:r>
          </a:p>
        </p:txBody>
      </p:sp>
      <p:sp>
        <p:nvSpPr>
          <p:cNvPr id="89" name="Rettangolo 88"/>
          <p:cNvSpPr/>
          <p:nvPr/>
        </p:nvSpPr>
        <p:spPr>
          <a:xfrm>
            <a:off x="7885035" y="3577438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grpSp>
        <p:nvGrpSpPr>
          <p:cNvPr id="90" name="Gruppo 89"/>
          <p:cNvGrpSpPr/>
          <p:nvPr/>
        </p:nvGrpSpPr>
        <p:grpSpPr>
          <a:xfrm>
            <a:off x="10086255" y="2718409"/>
            <a:ext cx="428322" cy="701627"/>
            <a:chOff x="170488" y="1378235"/>
            <a:chExt cx="460420" cy="759085"/>
          </a:xfrm>
        </p:grpSpPr>
        <p:sp>
          <p:nvSpPr>
            <p:cNvPr id="91" name="Rettangolo 90"/>
            <p:cNvSpPr/>
            <p:nvPr/>
          </p:nvSpPr>
          <p:spPr>
            <a:xfrm>
              <a:off x="170488" y="1715266"/>
              <a:ext cx="460420" cy="422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HLD</a:t>
              </a:r>
            </a:p>
          </p:txBody>
        </p:sp>
        <p:pic>
          <p:nvPicPr>
            <p:cNvPr id="92" name="Immagine 91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93" name="Rettangolo 92"/>
          <p:cNvSpPr/>
          <p:nvPr/>
        </p:nvSpPr>
        <p:spPr>
          <a:xfrm>
            <a:off x="6839852" y="5559136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2354207" y="1944194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catalogo attributi HR</a:t>
            </a:r>
          </a:p>
        </p:txBody>
      </p:sp>
      <p:sp>
        <p:nvSpPr>
          <p:cNvPr id="68" name="Rettangolo arrotondato 67"/>
          <p:cNvSpPr/>
          <p:nvPr/>
        </p:nvSpPr>
        <p:spPr>
          <a:xfrm>
            <a:off x="4436473" y="1942035"/>
            <a:ext cx="1701726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Comunicazione via mail dell’aggiornamento catalogo (in cc HR Planning, P&amp;C HLD, AFC DH)</a:t>
            </a:r>
          </a:p>
        </p:txBody>
      </p:sp>
      <p:cxnSp>
        <p:nvCxnSpPr>
          <p:cNvPr id="69" name="Connettore 2 68"/>
          <p:cNvCxnSpPr>
            <a:stCxn id="58" idx="3"/>
            <a:endCxn id="68" idx="1"/>
          </p:cNvCxnSpPr>
          <p:nvPr/>
        </p:nvCxnSpPr>
        <p:spPr>
          <a:xfrm flipV="1">
            <a:off x="3861035" y="2249254"/>
            <a:ext cx="575438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ttangolo 69"/>
          <p:cNvSpPr/>
          <p:nvPr/>
        </p:nvSpPr>
        <p:spPr>
          <a:xfrm>
            <a:off x="3958543" y="2026823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grpSp>
        <p:nvGrpSpPr>
          <p:cNvPr id="75" name="Gruppo 74"/>
          <p:cNvGrpSpPr/>
          <p:nvPr/>
        </p:nvGrpSpPr>
        <p:grpSpPr>
          <a:xfrm>
            <a:off x="5584895" y="1368031"/>
            <a:ext cx="588623" cy="533569"/>
            <a:chOff x="3696198" y="1638398"/>
            <a:chExt cx="588623" cy="533569"/>
          </a:xfrm>
        </p:grpSpPr>
        <p:sp>
          <p:nvSpPr>
            <p:cNvPr id="76" name="Rettangolo 75"/>
            <p:cNvSpPr/>
            <p:nvPr/>
          </p:nvSpPr>
          <p:spPr>
            <a:xfrm>
              <a:off x="3696198" y="1954985"/>
              <a:ext cx="588623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HR </a:t>
              </a:r>
              <a:r>
                <a:rPr lang="it-IT" sz="900" b="1" i="1" dirty="0" err="1">
                  <a:solidFill>
                    <a:schemeClr val="accent3"/>
                  </a:solidFill>
                </a:rPr>
                <a:t>Org</a:t>
              </a:r>
              <a:endParaRPr lang="it-IT" sz="900" b="1" i="1" dirty="0">
                <a:solidFill>
                  <a:schemeClr val="accent3"/>
                </a:solidFill>
              </a:endParaRPr>
            </a:p>
          </p:txBody>
        </p:sp>
        <p:pic>
          <p:nvPicPr>
            <p:cNvPr id="77" name="Immagine 76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cxnSp>
        <p:nvCxnSpPr>
          <p:cNvPr id="79" name="Connettore 2 19"/>
          <p:cNvCxnSpPr>
            <a:stCxn id="68" idx="2"/>
            <a:endCxn id="81" idx="0"/>
          </p:cNvCxnSpPr>
          <p:nvPr/>
        </p:nvCxnSpPr>
        <p:spPr>
          <a:xfrm rot="5400000">
            <a:off x="2712715" y="963724"/>
            <a:ext cx="981873" cy="4167370"/>
          </a:xfrm>
          <a:prstGeom prst="bentConnector3">
            <a:avLst>
              <a:gd name="adj1" fmla="val 23767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ttangolo con angoli arrotondati in diagonale 83"/>
          <p:cNvSpPr/>
          <p:nvPr/>
        </p:nvSpPr>
        <p:spPr>
          <a:xfrm>
            <a:off x="6173518" y="1745215"/>
            <a:ext cx="3726000" cy="607495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P&amp;C HLD</a:t>
            </a:r>
            <a:r>
              <a:rPr lang="it-IT" sz="1050" dirty="0">
                <a:solidFill>
                  <a:schemeClr val="tx1"/>
                </a:solidFill>
              </a:rPr>
              <a:t>: Monina, Sganga, Caldari, …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P&amp;O</a:t>
            </a:r>
            <a:r>
              <a:rPr lang="it-IT" sz="1050" dirty="0">
                <a:solidFill>
                  <a:schemeClr val="tx1"/>
                </a:solidFill>
              </a:rPr>
              <a:t>: Fanelli, Geraci, Enescu, Pietraforte, Curiale, …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PDH</a:t>
            </a:r>
            <a:r>
              <a:rPr lang="it-IT" sz="1050" dirty="0">
                <a:solidFill>
                  <a:schemeClr val="tx1"/>
                </a:solidFill>
              </a:rPr>
              <a:t>: Perri, Balsamo , …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AFC DH</a:t>
            </a:r>
            <a:r>
              <a:rPr lang="it-IT" sz="1050" dirty="0">
                <a:solidFill>
                  <a:schemeClr val="tx1"/>
                </a:solidFill>
              </a:rPr>
              <a:t>: Lupo, Tenerini , …</a:t>
            </a:r>
          </a:p>
        </p:txBody>
      </p:sp>
      <p:sp>
        <p:nvSpPr>
          <p:cNvPr id="86" name="Rettangolo arrotondato 85"/>
          <p:cNvSpPr/>
          <p:nvPr/>
        </p:nvSpPr>
        <p:spPr>
          <a:xfrm>
            <a:off x="6419158" y="5782022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Catalogo MASTER caricato su BW4Hana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in diagonale 93"/>
          <p:cNvSpPr/>
          <p:nvPr/>
        </p:nvSpPr>
        <p:spPr>
          <a:xfrm>
            <a:off x="4183010" y="5802025"/>
            <a:ext cx="1909342" cy="791936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La modifica di attributo HR: valida solo per UO nuove/in KO/in bidone?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b="1" dirty="0">
                <a:solidFill>
                  <a:schemeClr val="tx1"/>
                </a:solidFill>
              </a:rPr>
              <a:t>Solo per bidone</a:t>
            </a:r>
          </a:p>
        </p:txBody>
      </p:sp>
      <p:cxnSp>
        <p:nvCxnSpPr>
          <p:cNvPr id="97" name="Connettore 2 19"/>
          <p:cNvCxnSpPr>
            <a:stCxn id="78" idx="3"/>
            <a:endCxn id="86" idx="3"/>
          </p:cNvCxnSpPr>
          <p:nvPr/>
        </p:nvCxnSpPr>
        <p:spPr>
          <a:xfrm flipH="1">
            <a:off x="7925986" y="3820359"/>
            <a:ext cx="2703958" cy="2268882"/>
          </a:xfrm>
          <a:prstGeom prst="bentConnector3">
            <a:avLst>
              <a:gd name="adj1" fmla="val -8454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uppo 97"/>
          <p:cNvGrpSpPr/>
          <p:nvPr/>
        </p:nvGrpSpPr>
        <p:grpSpPr>
          <a:xfrm>
            <a:off x="7925986" y="5419943"/>
            <a:ext cx="620683" cy="528502"/>
            <a:chOff x="67104" y="1378235"/>
            <a:chExt cx="667199" cy="571782"/>
          </a:xfrm>
        </p:grpSpPr>
        <p:sp>
          <p:nvSpPr>
            <p:cNvPr id="99" name="Rettangolo 98"/>
            <p:cNvSpPr/>
            <p:nvPr/>
          </p:nvSpPr>
          <p:spPr>
            <a:xfrm>
              <a:off x="67104" y="1715266"/>
              <a:ext cx="667199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AFC DH</a:t>
              </a:r>
            </a:p>
          </p:txBody>
        </p:sp>
        <p:pic>
          <p:nvPicPr>
            <p:cNvPr id="100" name="Immagine 99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107" name="Rettangolo 106"/>
          <p:cNvSpPr/>
          <p:nvPr/>
        </p:nvSpPr>
        <p:spPr>
          <a:xfrm>
            <a:off x="8232056" y="4485885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  <p:sp>
        <p:nvSpPr>
          <p:cNvPr id="55" name="Rettangolo con angoli arrotondati in diagonale 54"/>
          <p:cNvSpPr/>
          <p:nvPr/>
        </p:nvSpPr>
        <p:spPr>
          <a:xfrm>
            <a:off x="31235" y="2404466"/>
            <a:ext cx="1061214" cy="419326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900" dirty="0">
                <a:solidFill>
                  <a:schemeClr val="tx1"/>
                </a:solidFill>
              </a:rPr>
              <a:t>Codici nuovi o modifica di esistenti</a:t>
            </a:r>
          </a:p>
        </p:txBody>
      </p:sp>
      <p:sp>
        <p:nvSpPr>
          <p:cNvPr id="56" name="Rettangolo 55"/>
          <p:cNvSpPr/>
          <p:nvPr/>
        </p:nvSpPr>
        <p:spPr>
          <a:xfrm>
            <a:off x="8633933" y="1305849"/>
            <a:ext cx="3332965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500" b="1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Processi OFF-LINE di </a:t>
            </a:r>
            <a:r>
              <a:rPr lang="it-IT" sz="1500" b="1" u="sng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contingency</a:t>
            </a:r>
            <a:endParaRPr lang="it-IT" sz="1500" b="1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1" name="Rettangolo arrotondato 80"/>
          <p:cNvSpPr/>
          <p:nvPr/>
        </p:nvSpPr>
        <p:spPr>
          <a:xfrm>
            <a:off x="366552" y="3538346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catalogo di transcodifica delle attività</a:t>
            </a:r>
          </a:p>
        </p:txBody>
      </p:sp>
      <p:grpSp>
        <p:nvGrpSpPr>
          <p:cNvPr id="82" name="Gruppo 81"/>
          <p:cNvGrpSpPr/>
          <p:nvPr/>
        </p:nvGrpSpPr>
        <p:grpSpPr>
          <a:xfrm>
            <a:off x="152390" y="2921004"/>
            <a:ext cx="428323" cy="528502"/>
            <a:chOff x="170489" y="1378235"/>
            <a:chExt cx="460422" cy="571782"/>
          </a:xfrm>
        </p:grpSpPr>
        <p:sp>
          <p:nvSpPr>
            <p:cNvPr id="85" name="Rettangolo 84"/>
            <p:cNvSpPr/>
            <p:nvPr/>
          </p:nvSpPr>
          <p:spPr>
            <a:xfrm>
              <a:off x="170489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87" name="Immagine 86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cxnSp>
        <p:nvCxnSpPr>
          <p:cNvPr id="88" name="Connettore 2 87"/>
          <p:cNvCxnSpPr>
            <a:stCxn id="81" idx="3"/>
            <a:endCxn id="39" idx="1"/>
          </p:cNvCxnSpPr>
          <p:nvPr/>
        </p:nvCxnSpPr>
        <p:spPr>
          <a:xfrm flipV="1">
            <a:off x="1873380" y="3830456"/>
            <a:ext cx="1224871" cy="1510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ttangolo 94"/>
          <p:cNvSpPr/>
          <p:nvPr/>
        </p:nvSpPr>
        <p:spPr>
          <a:xfrm>
            <a:off x="2371801" y="3626661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cxnSp>
        <p:nvCxnSpPr>
          <p:cNvPr id="96" name="Connettore 2 95"/>
          <p:cNvCxnSpPr>
            <a:stCxn id="67" idx="3"/>
            <a:endCxn id="78" idx="1"/>
          </p:cNvCxnSpPr>
          <p:nvPr/>
        </p:nvCxnSpPr>
        <p:spPr>
          <a:xfrm flipV="1">
            <a:off x="7350394" y="3820359"/>
            <a:ext cx="1772722" cy="9172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2 19"/>
          <p:cNvCxnSpPr>
            <a:stCxn id="78" idx="3"/>
            <a:endCxn id="103" idx="3"/>
          </p:cNvCxnSpPr>
          <p:nvPr/>
        </p:nvCxnSpPr>
        <p:spPr>
          <a:xfrm flipH="1">
            <a:off x="9300083" y="3820359"/>
            <a:ext cx="1329861" cy="1206873"/>
          </a:xfrm>
          <a:prstGeom prst="bentConnector3">
            <a:avLst>
              <a:gd name="adj1" fmla="val -1719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sellaDiTesto 101"/>
          <p:cNvSpPr txBox="1"/>
          <p:nvPr/>
        </p:nvSpPr>
        <p:spPr>
          <a:xfrm>
            <a:off x="5101696" y="40678"/>
            <a:ext cx="457176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Modalità di aggiornamento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Catalogo master (bw4hana)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FF0000"/>
                </a:solidFill>
              </a:rPr>
              <a:t>Front-end di aggiornamento su S.NOW (nuovo case da creare)</a:t>
            </a:r>
          </a:p>
        </p:txBody>
      </p:sp>
      <p:sp>
        <p:nvSpPr>
          <p:cNvPr id="103" name="Rettangolo arrotondato 102"/>
          <p:cNvSpPr/>
          <p:nvPr/>
        </p:nvSpPr>
        <p:spPr>
          <a:xfrm>
            <a:off x="7793255" y="4720013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Catalogo caricato su S.NOW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sp>
        <p:nvSpPr>
          <p:cNvPr id="104" name="Rettangolo 103"/>
          <p:cNvSpPr/>
          <p:nvPr/>
        </p:nvSpPr>
        <p:spPr>
          <a:xfrm>
            <a:off x="332160" y="1567615"/>
            <a:ext cx="1701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>
                <a:solidFill>
                  <a:srgbClr val="FF0000"/>
                </a:solidFill>
              </a:rPr>
              <a:t>Ad ogni aggiornamento del catalogo attributi P&amp;O</a:t>
            </a:r>
          </a:p>
        </p:txBody>
      </p:sp>
      <p:sp>
        <p:nvSpPr>
          <p:cNvPr id="66" name="Rettangolo arrotondato 65"/>
          <p:cNvSpPr/>
          <p:nvPr/>
        </p:nvSpPr>
        <p:spPr>
          <a:xfrm>
            <a:off x="5577261" y="4720013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Chiusura case (se aperto) automatica per UO in </a:t>
            </a:r>
            <a:r>
              <a:rPr lang="it-IT" sz="900" dirty="0" err="1">
                <a:solidFill>
                  <a:schemeClr val="tx1"/>
                </a:solidFill>
              </a:rPr>
              <a:t>ko</a:t>
            </a:r>
            <a:r>
              <a:rPr lang="it-IT" sz="900" dirty="0">
                <a:solidFill>
                  <a:schemeClr val="tx1"/>
                </a:solidFill>
              </a:rPr>
              <a:t> causa mancato aggiornamento catalogo</a:t>
            </a:r>
            <a:endParaRPr lang="it-IT" sz="900" kern="1200" dirty="0">
              <a:solidFill>
                <a:schemeClr val="tx1"/>
              </a:solidFill>
            </a:endParaRPr>
          </a:p>
        </p:txBody>
      </p:sp>
      <p:cxnSp>
        <p:nvCxnSpPr>
          <p:cNvPr id="83" name="Connettore 2 82"/>
          <p:cNvCxnSpPr>
            <a:stCxn id="103" idx="1"/>
            <a:endCxn id="66" idx="3"/>
          </p:cNvCxnSpPr>
          <p:nvPr/>
        </p:nvCxnSpPr>
        <p:spPr>
          <a:xfrm flipH="1">
            <a:off x="7084089" y="5027232"/>
            <a:ext cx="709166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ttangolo 104"/>
          <p:cNvSpPr/>
          <p:nvPr/>
        </p:nvSpPr>
        <p:spPr>
          <a:xfrm>
            <a:off x="5869588" y="4470912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</p:spTree>
    <p:extLst>
      <p:ext uri="{BB962C8B-B14F-4D97-AF65-F5344CB8AC3E}">
        <p14:creationId xmlns:p14="http://schemas.microsoft.com/office/powerpoint/2010/main" val="3912631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Aggiornamento </a:t>
            </a:r>
            <a:r>
              <a:rPr lang="en-US" dirty="0" err="1"/>
              <a:t>catalogo</a:t>
            </a:r>
            <a:r>
              <a:rPr lang="en-US" dirty="0"/>
              <a:t> </a:t>
            </a:r>
            <a:r>
              <a:rPr lang="en-US" dirty="0" err="1"/>
              <a:t>transcodifica</a:t>
            </a:r>
            <a:r>
              <a:rPr lang="en-US" dirty="0"/>
              <a:t> </a:t>
            </a:r>
            <a:r>
              <a:rPr lang="en-US" dirty="0" err="1"/>
              <a:t>attività</a:t>
            </a:r>
            <a:r>
              <a:rPr lang="en-US" dirty="0"/>
              <a:t> </a:t>
            </a:r>
            <a:r>
              <a:rPr lang="en-US" sz="2000" dirty="0" err="1"/>
              <a:t>Modifica</a:t>
            </a:r>
            <a:r>
              <a:rPr lang="en-US" sz="2000" dirty="0"/>
              <a:t> </a:t>
            </a:r>
            <a:r>
              <a:rPr lang="en-US" sz="2000" dirty="0" err="1"/>
              <a:t>attributo</a:t>
            </a:r>
            <a:r>
              <a:rPr lang="en-US" sz="2000" dirty="0"/>
              <a:t> CC</a:t>
            </a:r>
          </a:p>
        </p:txBody>
      </p:sp>
      <p:sp>
        <p:nvSpPr>
          <p:cNvPr id="35" name="Rettangolo arrotondato 34"/>
          <p:cNvSpPr/>
          <p:nvPr/>
        </p:nvSpPr>
        <p:spPr>
          <a:xfrm>
            <a:off x="332871" y="1965918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Modifica Attributo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CC</a:t>
            </a:r>
          </a:p>
        </p:txBody>
      </p:sp>
      <p:sp>
        <p:nvSpPr>
          <p:cNvPr id="36" name="Rettangolo 35"/>
          <p:cNvSpPr/>
          <p:nvPr/>
        </p:nvSpPr>
        <p:spPr>
          <a:xfrm>
            <a:off x="1293358" y="2297954"/>
            <a:ext cx="69762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P&amp;C HLD</a:t>
            </a:r>
          </a:p>
        </p:txBody>
      </p:sp>
      <p:pic>
        <p:nvPicPr>
          <p:cNvPr id="37" name="Immagine 3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6530" y="1981367"/>
            <a:ext cx="266850" cy="334850"/>
          </a:xfrm>
          <a:prstGeom prst="rect">
            <a:avLst/>
          </a:prstGeom>
        </p:spPr>
      </p:pic>
      <p:cxnSp>
        <p:nvCxnSpPr>
          <p:cNvPr id="38" name="Connettore 2 37"/>
          <p:cNvCxnSpPr>
            <a:stCxn id="35" idx="3"/>
            <a:endCxn id="58" idx="1"/>
          </p:cNvCxnSpPr>
          <p:nvPr/>
        </p:nvCxnSpPr>
        <p:spPr>
          <a:xfrm>
            <a:off x="1981367" y="2249254"/>
            <a:ext cx="694815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arrotondato 38"/>
          <p:cNvSpPr/>
          <p:nvPr/>
        </p:nvSpPr>
        <p:spPr>
          <a:xfrm>
            <a:off x="3098251" y="3374046"/>
            <a:ext cx="1506828" cy="7636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Il controller HLD gira il catalogo attributi a PDH e AFC DH segnalando le modifiche con HR ORG e Planning in CC</a:t>
            </a:r>
          </a:p>
        </p:txBody>
      </p:sp>
      <p:sp>
        <p:nvSpPr>
          <p:cNvPr id="127" name="Rettangolo arrotondato 126"/>
          <p:cNvSpPr/>
          <p:nvPr/>
        </p:nvSpPr>
        <p:spPr>
          <a:xfrm>
            <a:off x="6434416" y="4644877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kern="1200" dirty="0">
                <a:solidFill>
                  <a:schemeClr val="tx1"/>
                </a:solidFill>
              </a:rPr>
              <a:t>Catalogo caricato su </a:t>
            </a:r>
            <a:r>
              <a:rPr lang="it-IT" sz="900" dirty="0">
                <a:solidFill>
                  <a:schemeClr val="tx1"/>
                </a:solidFill>
              </a:rPr>
              <a:t>S.NOW</a:t>
            </a:r>
          </a:p>
        </p:txBody>
      </p:sp>
      <p:grpSp>
        <p:nvGrpSpPr>
          <p:cNvPr id="3" name="Gruppo 2"/>
          <p:cNvGrpSpPr/>
          <p:nvPr/>
        </p:nvGrpSpPr>
        <p:grpSpPr>
          <a:xfrm>
            <a:off x="3572648" y="1369619"/>
            <a:ext cx="697627" cy="533569"/>
            <a:chOff x="3641697" y="1638398"/>
            <a:chExt cx="697627" cy="533569"/>
          </a:xfrm>
        </p:grpSpPr>
        <p:sp>
          <p:nvSpPr>
            <p:cNvPr id="53" name="Rettangolo 52"/>
            <p:cNvSpPr/>
            <p:nvPr/>
          </p:nvSpPr>
          <p:spPr>
            <a:xfrm>
              <a:off x="3641697" y="1954985"/>
              <a:ext cx="69762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54" name="Immagine 53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grpSp>
        <p:nvGrpSpPr>
          <p:cNvPr id="57" name="Gruppo 56"/>
          <p:cNvGrpSpPr/>
          <p:nvPr/>
        </p:nvGrpSpPr>
        <p:grpSpPr>
          <a:xfrm>
            <a:off x="7492642" y="4121205"/>
            <a:ext cx="428323" cy="528502"/>
            <a:chOff x="170489" y="1378235"/>
            <a:chExt cx="460422" cy="571782"/>
          </a:xfrm>
        </p:grpSpPr>
        <p:sp>
          <p:nvSpPr>
            <p:cNvPr id="59" name="Rettangolo 58"/>
            <p:cNvSpPr/>
            <p:nvPr/>
          </p:nvSpPr>
          <p:spPr>
            <a:xfrm>
              <a:off x="170489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60" name="Immagine 59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grpSp>
        <p:nvGrpSpPr>
          <p:cNvPr id="61" name="Gruppo 60"/>
          <p:cNvGrpSpPr/>
          <p:nvPr/>
        </p:nvGrpSpPr>
        <p:grpSpPr>
          <a:xfrm>
            <a:off x="2604832" y="3598525"/>
            <a:ext cx="428323" cy="528501"/>
            <a:chOff x="170491" y="1378235"/>
            <a:chExt cx="460422" cy="571782"/>
          </a:xfrm>
        </p:grpSpPr>
        <p:sp>
          <p:nvSpPr>
            <p:cNvPr id="62" name="Rettangolo 61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63" name="Immagine 62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71" name="CasellaDiTesto 70"/>
          <p:cNvSpPr txBox="1"/>
          <p:nvPr/>
        </p:nvSpPr>
        <p:spPr>
          <a:xfrm>
            <a:off x="58666" y="6720125"/>
            <a:ext cx="52350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/>
              <a:t>* Macro </a:t>
            </a:r>
            <a:r>
              <a:rPr lang="it-IT" sz="800" dirty="0" err="1"/>
              <a:t>Org</a:t>
            </a:r>
            <a:r>
              <a:rPr lang="it-IT" sz="800" dirty="0"/>
              <a:t> 1, Macro </a:t>
            </a:r>
            <a:r>
              <a:rPr lang="it-IT" sz="800" dirty="0" err="1"/>
              <a:t>Org</a:t>
            </a:r>
            <a:r>
              <a:rPr lang="it-IT" sz="800" dirty="0"/>
              <a:t> 2, VCS, </a:t>
            </a:r>
            <a:r>
              <a:rPr lang="it-IT" sz="800" dirty="0" err="1"/>
              <a:t>Process</a:t>
            </a:r>
            <a:r>
              <a:rPr lang="it-IT" sz="800" dirty="0"/>
              <a:t>, Organization</a:t>
            </a:r>
          </a:p>
        </p:txBody>
      </p:sp>
      <p:cxnSp>
        <p:nvCxnSpPr>
          <p:cNvPr id="83" name="Connettore 2 19"/>
          <p:cNvCxnSpPr>
            <a:stCxn id="39" idx="3"/>
            <a:endCxn id="127" idx="0"/>
          </p:cNvCxnSpPr>
          <p:nvPr/>
        </p:nvCxnSpPr>
        <p:spPr>
          <a:xfrm>
            <a:off x="4605079" y="3755861"/>
            <a:ext cx="2582751" cy="889016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tangolo 92"/>
          <p:cNvSpPr/>
          <p:nvPr/>
        </p:nvSpPr>
        <p:spPr>
          <a:xfrm>
            <a:off x="8776012" y="2632812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2676182" y="1944194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catalogo transcodifica attività</a:t>
            </a:r>
          </a:p>
        </p:txBody>
      </p:sp>
      <p:sp>
        <p:nvSpPr>
          <p:cNvPr id="68" name="Rettangolo arrotondato 67"/>
          <p:cNvSpPr/>
          <p:nvPr/>
        </p:nvSpPr>
        <p:spPr>
          <a:xfrm>
            <a:off x="4732690" y="1942035"/>
            <a:ext cx="1701726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Comunicazione via mail dell’aggiornamento catalogo (in cc HR Planning, PDH, AFCDH)</a:t>
            </a:r>
          </a:p>
        </p:txBody>
      </p:sp>
      <p:cxnSp>
        <p:nvCxnSpPr>
          <p:cNvPr id="69" name="Connettore 2 68"/>
          <p:cNvCxnSpPr>
            <a:stCxn id="58" idx="3"/>
            <a:endCxn id="68" idx="1"/>
          </p:cNvCxnSpPr>
          <p:nvPr/>
        </p:nvCxnSpPr>
        <p:spPr>
          <a:xfrm flipV="1">
            <a:off x="4183010" y="2249254"/>
            <a:ext cx="549680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ttangolo 69"/>
          <p:cNvSpPr/>
          <p:nvPr/>
        </p:nvSpPr>
        <p:spPr>
          <a:xfrm>
            <a:off x="4254760" y="2026823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grpSp>
        <p:nvGrpSpPr>
          <p:cNvPr id="75" name="Gruppo 74"/>
          <p:cNvGrpSpPr/>
          <p:nvPr/>
        </p:nvGrpSpPr>
        <p:grpSpPr>
          <a:xfrm>
            <a:off x="5530394" y="1368031"/>
            <a:ext cx="697627" cy="533569"/>
            <a:chOff x="3641697" y="1638398"/>
            <a:chExt cx="697627" cy="533569"/>
          </a:xfrm>
        </p:grpSpPr>
        <p:sp>
          <p:nvSpPr>
            <p:cNvPr id="76" name="Rettangolo 75"/>
            <p:cNvSpPr/>
            <p:nvPr/>
          </p:nvSpPr>
          <p:spPr>
            <a:xfrm>
              <a:off x="3641697" y="1954985"/>
              <a:ext cx="69762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77" name="Immagine 76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cxnSp>
        <p:nvCxnSpPr>
          <p:cNvPr id="79" name="Connettore 2 19"/>
          <p:cNvCxnSpPr>
            <a:stCxn id="68" idx="2"/>
            <a:endCxn id="39" idx="0"/>
          </p:cNvCxnSpPr>
          <p:nvPr/>
        </p:nvCxnSpPr>
        <p:spPr>
          <a:xfrm rot="5400000">
            <a:off x="4308823" y="2099315"/>
            <a:ext cx="817573" cy="173188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arrotondato 85"/>
          <p:cNvSpPr/>
          <p:nvPr/>
        </p:nvSpPr>
        <p:spPr>
          <a:xfrm>
            <a:off x="8793588" y="2881240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Catalogo MASTER caricato su BW4Hana</a:t>
            </a:r>
          </a:p>
        </p:txBody>
      </p:sp>
      <p:cxnSp>
        <p:nvCxnSpPr>
          <p:cNvPr id="97" name="Connettore 2 19"/>
          <p:cNvCxnSpPr>
            <a:stCxn id="39" idx="3"/>
            <a:endCxn id="86" idx="1"/>
          </p:cNvCxnSpPr>
          <p:nvPr/>
        </p:nvCxnSpPr>
        <p:spPr>
          <a:xfrm flipV="1">
            <a:off x="4605079" y="3188459"/>
            <a:ext cx="4188509" cy="56740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uppo 97"/>
          <p:cNvGrpSpPr/>
          <p:nvPr/>
        </p:nvGrpSpPr>
        <p:grpSpPr>
          <a:xfrm>
            <a:off x="10261510" y="3172673"/>
            <a:ext cx="620683" cy="528502"/>
            <a:chOff x="67104" y="1378235"/>
            <a:chExt cx="667199" cy="571782"/>
          </a:xfrm>
        </p:grpSpPr>
        <p:sp>
          <p:nvSpPr>
            <p:cNvPr id="99" name="Rettangolo 98"/>
            <p:cNvSpPr/>
            <p:nvPr/>
          </p:nvSpPr>
          <p:spPr>
            <a:xfrm>
              <a:off x="67104" y="1715266"/>
              <a:ext cx="667199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AFC DH</a:t>
              </a:r>
            </a:p>
          </p:txBody>
        </p:sp>
        <p:pic>
          <p:nvPicPr>
            <p:cNvPr id="100" name="Immagine 99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107" name="Rettangolo 106"/>
          <p:cNvSpPr/>
          <p:nvPr/>
        </p:nvSpPr>
        <p:spPr>
          <a:xfrm>
            <a:off x="6431486" y="4465469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  <p:sp>
        <p:nvSpPr>
          <p:cNvPr id="109" name="Rettangolo arrotondato 108"/>
          <p:cNvSpPr/>
          <p:nvPr/>
        </p:nvSpPr>
        <p:spPr>
          <a:xfrm>
            <a:off x="4709595" y="5283542"/>
            <a:ext cx="1506828" cy="6599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Chiusura case (se aperto) automatica per UO in </a:t>
            </a:r>
            <a:r>
              <a:rPr lang="it-IT" sz="900" dirty="0" err="1">
                <a:solidFill>
                  <a:schemeClr val="tx1"/>
                </a:solidFill>
              </a:rPr>
              <a:t>ko</a:t>
            </a:r>
            <a:r>
              <a:rPr lang="it-IT" sz="900" dirty="0">
                <a:solidFill>
                  <a:schemeClr val="tx1"/>
                </a:solidFill>
              </a:rPr>
              <a:t> causa mancato aggiornamento catalogo</a:t>
            </a:r>
          </a:p>
        </p:txBody>
      </p:sp>
      <p:sp>
        <p:nvSpPr>
          <p:cNvPr id="55" name="Rettangolo con angoli arrotondati in diagonale 54"/>
          <p:cNvSpPr/>
          <p:nvPr/>
        </p:nvSpPr>
        <p:spPr>
          <a:xfrm>
            <a:off x="170630" y="3867835"/>
            <a:ext cx="1537950" cy="616414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NON DEVE ESSERE POSSIBILE MODIFICARE IL CENTRO DI COSTO</a:t>
            </a:r>
            <a:endParaRPr lang="it-IT" sz="1000" kern="1200" dirty="0">
              <a:solidFill>
                <a:schemeClr val="tx1"/>
              </a:solidFill>
            </a:endParaRPr>
          </a:p>
        </p:txBody>
      </p:sp>
      <p:sp>
        <p:nvSpPr>
          <p:cNvPr id="56" name="Rettangolo con angoli arrotondati in diagonale 55"/>
          <p:cNvSpPr/>
          <p:nvPr/>
        </p:nvSpPr>
        <p:spPr>
          <a:xfrm>
            <a:off x="170630" y="4589289"/>
            <a:ext cx="1537950" cy="616414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È POSSIBILE MODIFICARE IL CENTRO DI COSTO DI </a:t>
            </a:r>
            <a:r>
              <a:rPr lang="it-IT" sz="1000" dirty="0" err="1">
                <a:solidFill>
                  <a:schemeClr val="tx1"/>
                </a:solidFill>
              </a:rPr>
              <a:t>VALIDITà</a:t>
            </a:r>
            <a:endParaRPr lang="it-IT" sz="1000" kern="1200" dirty="0">
              <a:solidFill>
                <a:schemeClr val="tx1"/>
              </a:solidFill>
            </a:endParaRPr>
          </a:p>
        </p:txBody>
      </p:sp>
      <p:sp>
        <p:nvSpPr>
          <p:cNvPr id="64" name="Rettangolo con angoli arrotondati in diagonale 63"/>
          <p:cNvSpPr/>
          <p:nvPr/>
        </p:nvSpPr>
        <p:spPr>
          <a:xfrm>
            <a:off x="54027" y="5435222"/>
            <a:ext cx="1909342" cy="791936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dirty="0">
                <a:solidFill>
                  <a:schemeClr val="tx1"/>
                </a:solidFill>
              </a:rPr>
              <a:t>La modifica di attributo CC: valida solo per UO nuove/in KO/in bidone?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000" b="1" dirty="0">
                <a:solidFill>
                  <a:schemeClr val="tx1"/>
                </a:solidFill>
              </a:rPr>
              <a:t>Solo bidone</a:t>
            </a:r>
            <a:endParaRPr lang="it-IT" sz="1000" b="1" kern="1200" dirty="0">
              <a:solidFill>
                <a:schemeClr val="tx1"/>
              </a:solidFill>
            </a:endParaRPr>
          </a:p>
        </p:txBody>
      </p:sp>
      <p:sp>
        <p:nvSpPr>
          <p:cNvPr id="65" name="Rettangolo 64"/>
          <p:cNvSpPr/>
          <p:nvPr/>
        </p:nvSpPr>
        <p:spPr>
          <a:xfrm>
            <a:off x="5561492" y="3538878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sp>
        <p:nvSpPr>
          <p:cNvPr id="45" name="Rettangolo con angoli arrotondati in diagonale 44"/>
          <p:cNvSpPr/>
          <p:nvPr/>
        </p:nvSpPr>
        <p:spPr>
          <a:xfrm>
            <a:off x="122436" y="2508564"/>
            <a:ext cx="1484093" cy="1089961"/>
          </a:xfrm>
          <a:prstGeom prst="round2DiagRect">
            <a:avLst/>
          </a:prstGeom>
          <a:solidFill>
            <a:srgbClr val="FFFF0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r>
              <a:rPr lang="it-IT" sz="900" dirty="0">
                <a:solidFill>
                  <a:schemeClr val="tx1"/>
                </a:solidFill>
              </a:rPr>
              <a:t>Sarà valevole solo per le nuove UO senza toccare il pregresso a meno di azioni di </a:t>
            </a:r>
            <a:r>
              <a:rPr lang="it-IT" sz="900" dirty="0" err="1">
                <a:solidFill>
                  <a:schemeClr val="tx1"/>
                </a:solidFill>
              </a:rPr>
              <a:t>cleaning</a:t>
            </a:r>
            <a:r>
              <a:rPr lang="it-IT" sz="900" dirty="0">
                <a:solidFill>
                  <a:schemeClr val="tx1"/>
                </a:solidFill>
              </a:rPr>
              <a:t> mirate decise da P&amp;C HLD</a:t>
            </a:r>
          </a:p>
        </p:txBody>
      </p:sp>
      <p:sp>
        <p:nvSpPr>
          <p:cNvPr id="46" name="Rettangolo 45"/>
          <p:cNvSpPr/>
          <p:nvPr/>
        </p:nvSpPr>
        <p:spPr>
          <a:xfrm>
            <a:off x="8441131" y="1396349"/>
            <a:ext cx="3332965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500" b="1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Processi OFF-LINE di </a:t>
            </a:r>
            <a:r>
              <a:rPr lang="it-IT" sz="1500" b="1" u="sng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contingency</a:t>
            </a:r>
            <a:endParaRPr lang="it-IT" sz="1500" b="1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9" name="Rettangolo con angoli arrotondati in diagonale 48"/>
          <p:cNvSpPr/>
          <p:nvPr/>
        </p:nvSpPr>
        <p:spPr>
          <a:xfrm>
            <a:off x="6483046" y="1951136"/>
            <a:ext cx="3724203" cy="607495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P&amp;C HLD</a:t>
            </a:r>
            <a:r>
              <a:rPr lang="it-IT" sz="1050" dirty="0">
                <a:solidFill>
                  <a:schemeClr val="tx1"/>
                </a:solidFill>
              </a:rPr>
              <a:t>: Monina, Sganga, Caldari, …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P&amp;O</a:t>
            </a:r>
            <a:r>
              <a:rPr lang="it-IT" sz="1050" dirty="0">
                <a:solidFill>
                  <a:schemeClr val="tx1"/>
                </a:solidFill>
              </a:rPr>
              <a:t>: Fanelli, Geraci, Enescu, Pietraforte, Curiale, …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kern="1200" dirty="0">
                <a:solidFill>
                  <a:schemeClr val="tx1"/>
                </a:solidFill>
              </a:rPr>
              <a:t>PDH</a:t>
            </a:r>
            <a:r>
              <a:rPr lang="it-IT" sz="1050" kern="1200" dirty="0">
                <a:solidFill>
                  <a:schemeClr val="tx1"/>
                </a:solidFill>
              </a:rPr>
              <a:t>: Perri, Balsamo</a:t>
            </a:r>
            <a:r>
              <a:rPr lang="it-IT" sz="1050" dirty="0">
                <a:solidFill>
                  <a:schemeClr val="tx1"/>
                </a:solidFill>
              </a:rPr>
              <a:t> , …</a:t>
            </a:r>
            <a:endParaRPr lang="it-IT" sz="1050" kern="1200" dirty="0">
              <a:solidFill>
                <a:schemeClr val="tx1"/>
              </a:solidFill>
            </a:endParaRPr>
          </a:p>
          <a:p>
            <a:pPr defTabSz="666750">
              <a:lnSpc>
                <a:spcPct val="90000"/>
              </a:lnSpc>
              <a:spcBef>
                <a:spcPct val="0"/>
              </a:spcBef>
            </a:pPr>
            <a:r>
              <a:rPr lang="it-IT" sz="1050" b="1" dirty="0">
                <a:solidFill>
                  <a:schemeClr val="tx1"/>
                </a:solidFill>
              </a:rPr>
              <a:t>AFC DH</a:t>
            </a:r>
            <a:r>
              <a:rPr lang="it-IT" sz="1050" dirty="0">
                <a:solidFill>
                  <a:schemeClr val="tx1"/>
                </a:solidFill>
              </a:rPr>
              <a:t>: Lupo, Tenerini , …</a:t>
            </a:r>
          </a:p>
        </p:txBody>
      </p:sp>
      <p:sp>
        <p:nvSpPr>
          <p:cNvPr id="66" name="CasellaDiTesto 65"/>
          <p:cNvSpPr txBox="1"/>
          <p:nvPr/>
        </p:nvSpPr>
        <p:spPr>
          <a:xfrm>
            <a:off x="5584895" y="27137"/>
            <a:ext cx="457176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Modalità di aggiornamento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Catalogo master (bw4hana)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FF0000"/>
                </a:solidFill>
              </a:rPr>
              <a:t>Front-end di aggiornamento su S.NOW (nuovo case da creare)</a:t>
            </a:r>
          </a:p>
        </p:txBody>
      </p:sp>
      <p:sp>
        <p:nvSpPr>
          <p:cNvPr id="67" name="Rettangolo 66"/>
          <p:cNvSpPr/>
          <p:nvPr/>
        </p:nvSpPr>
        <p:spPr>
          <a:xfrm>
            <a:off x="332160" y="1567615"/>
            <a:ext cx="1701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>
                <a:solidFill>
                  <a:srgbClr val="FF0000"/>
                </a:solidFill>
              </a:rPr>
              <a:t>Ad ogni aggiornamento di attributi AFC</a:t>
            </a:r>
          </a:p>
        </p:txBody>
      </p:sp>
      <p:cxnSp>
        <p:nvCxnSpPr>
          <p:cNvPr id="72" name="Connettore 2 19"/>
          <p:cNvCxnSpPr>
            <a:stCxn id="127" idx="2"/>
            <a:endCxn id="109" idx="3"/>
          </p:cNvCxnSpPr>
          <p:nvPr/>
        </p:nvCxnSpPr>
        <p:spPr>
          <a:xfrm rot="5400000">
            <a:off x="6525019" y="4950720"/>
            <a:ext cx="354216" cy="97140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tangolo 51"/>
          <p:cNvSpPr/>
          <p:nvPr/>
        </p:nvSpPr>
        <p:spPr>
          <a:xfrm>
            <a:off x="4975694" y="5054447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</p:spTree>
    <p:extLst>
      <p:ext uri="{BB962C8B-B14F-4D97-AF65-F5344CB8AC3E}">
        <p14:creationId xmlns:p14="http://schemas.microsoft.com/office/powerpoint/2010/main" val="3101409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9605494" cy="394980"/>
          </a:xfrm>
        </p:spPr>
        <p:txBody>
          <a:bodyPr/>
          <a:lstStyle/>
          <a:p>
            <a:r>
              <a:rPr lang="en-US" dirty="0"/>
              <a:t>Aggiornamento </a:t>
            </a:r>
            <a:r>
              <a:rPr lang="en-US" dirty="0" err="1"/>
              <a:t>catalogo</a:t>
            </a:r>
            <a:r>
              <a:rPr lang="en-US" dirty="0"/>
              <a:t> </a:t>
            </a:r>
            <a:r>
              <a:rPr lang="en-US" dirty="0" err="1"/>
              <a:t>Perimetro</a:t>
            </a:r>
            <a:r>
              <a:rPr lang="en-US" dirty="0"/>
              <a:t> di </a:t>
            </a:r>
            <a:r>
              <a:rPr lang="en-US" dirty="0" err="1"/>
              <a:t>Consolidamento</a:t>
            </a:r>
            <a:br>
              <a:rPr lang="en-US" dirty="0"/>
            </a:br>
            <a:r>
              <a:rPr lang="en-US" dirty="0"/>
              <a:t>AS IS – </a:t>
            </a:r>
            <a:r>
              <a:rPr lang="en-US" dirty="0" err="1"/>
              <a:t>nuova</a:t>
            </a:r>
            <a:r>
              <a:rPr lang="en-US" dirty="0"/>
              <a:t>/</a:t>
            </a:r>
            <a:r>
              <a:rPr lang="en-US" dirty="0" err="1"/>
              <a:t>uscita</a:t>
            </a:r>
            <a:r>
              <a:rPr lang="en-US" dirty="0"/>
              <a:t> </a:t>
            </a:r>
            <a:r>
              <a:rPr lang="en-US" dirty="0" err="1"/>
              <a:t>società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consolidato</a:t>
            </a:r>
            <a:endParaRPr lang="en-US" sz="2000" dirty="0"/>
          </a:p>
        </p:txBody>
      </p:sp>
      <p:sp>
        <p:nvSpPr>
          <p:cNvPr id="35" name="Rettangolo arrotondato 34"/>
          <p:cNvSpPr/>
          <p:nvPr/>
        </p:nvSpPr>
        <p:spPr>
          <a:xfrm>
            <a:off x="1807154" y="3737679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Mensile*</a:t>
            </a:r>
          </a:p>
        </p:txBody>
      </p:sp>
      <p:sp>
        <p:nvSpPr>
          <p:cNvPr id="36" name="Rettangolo 35"/>
          <p:cNvSpPr/>
          <p:nvPr/>
        </p:nvSpPr>
        <p:spPr>
          <a:xfrm>
            <a:off x="2767641" y="4069715"/>
            <a:ext cx="69762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P&amp;C HLD</a:t>
            </a:r>
          </a:p>
        </p:txBody>
      </p:sp>
      <p:pic>
        <p:nvPicPr>
          <p:cNvPr id="37" name="Immagine 3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0813" y="3753128"/>
            <a:ext cx="266850" cy="334850"/>
          </a:xfrm>
          <a:prstGeom prst="rect">
            <a:avLst/>
          </a:prstGeom>
        </p:spPr>
      </p:pic>
      <p:cxnSp>
        <p:nvCxnSpPr>
          <p:cNvPr id="38" name="Connettore 2 37"/>
          <p:cNvCxnSpPr>
            <a:stCxn id="35" idx="3"/>
            <a:endCxn id="58" idx="1"/>
          </p:cNvCxnSpPr>
          <p:nvPr/>
        </p:nvCxnSpPr>
        <p:spPr>
          <a:xfrm>
            <a:off x="3455650" y="4021015"/>
            <a:ext cx="694815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po 2"/>
          <p:cNvGrpSpPr/>
          <p:nvPr/>
        </p:nvGrpSpPr>
        <p:grpSpPr>
          <a:xfrm>
            <a:off x="5046931" y="3141380"/>
            <a:ext cx="697627" cy="533569"/>
            <a:chOff x="3641697" y="1638398"/>
            <a:chExt cx="697627" cy="533569"/>
          </a:xfrm>
        </p:grpSpPr>
        <p:sp>
          <p:nvSpPr>
            <p:cNvPr id="53" name="Rettangolo 52"/>
            <p:cNvSpPr/>
            <p:nvPr/>
          </p:nvSpPr>
          <p:spPr>
            <a:xfrm>
              <a:off x="3641697" y="1954985"/>
              <a:ext cx="69762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54" name="Immagine 53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grpSp>
        <p:nvGrpSpPr>
          <p:cNvPr id="61" name="Gruppo 60"/>
          <p:cNvGrpSpPr/>
          <p:nvPr/>
        </p:nvGrpSpPr>
        <p:grpSpPr>
          <a:xfrm>
            <a:off x="725996" y="5178721"/>
            <a:ext cx="428323" cy="528501"/>
            <a:chOff x="170491" y="1378235"/>
            <a:chExt cx="460422" cy="571782"/>
          </a:xfrm>
        </p:grpSpPr>
        <p:sp>
          <p:nvSpPr>
            <p:cNvPr id="62" name="Rettangolo 61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63" name="Immagine 62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93" name="Rettangolo 92"/>
          <p:cNvSpPr/>
          <p:nvPr/>
        </p:nvSpPr>
        <p:spPr>
          <a:xfrm>
            <a:off x="5054433" y="5853936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4150465" y="3715955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catalogo Perimetro di Consolidamento</a:t>
            </a:r>
          </a:p>
        </p:txBody>
      </p:sp>
      <p:sp>
        <p:nvSpPr>
          <p:cNvPr id="68" name="Rettangolo arrotondato 67"/>
          <p:cNvSpPr/>
          <p:nvPr/>
        </p:nvSpPr>
        <p:spPr>
          <a:xfrm>
            <a:off x="6206973" y="3713796"/>
            <a:ext cx="1701726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Comunicazione via mail dell’aggiornamento catalogo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(a HR Planning, PDH, AFC DH)</a:t>
            </a:r>
          </a:p>
        </p:txBody>
      </p:sp>
      <p:cxnSp>
        <p:nvCxnSpPr>
          <p:cNvPr id="69" name="Connettore 2 68"/>
          <p:cNvCxnSpPr>
            <a:stCxn id="58" idx="3"/>
            <a:endCxn id="68" idx="1"/>
          </p:cNvCxnSpPr>
          <p:nvPr/>
        </p:nvCxnSpPr>
        <p:spPr>
          <a:xfrm flipV="1">
            <a:off x="5657293" y="4021015"/>
            <a:ext cx="549680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ttangolo 69"/>
          <p:cNvSpPr/>
          <p:nvPr/>
        </p:nvSpPr>
        <p:spPr>
          <a:xfrm>
            <a:off x="5729043" y="3798584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cxnSp>
        <p:nvCxnSpPr>
          <p:cNvPr id="79" name="Connettore 2 19"/>
          <p:cNvCxnSpPr>
            <a:stCxn id="56" idx="2"/>
            <a:endCxn id="74" idx="0"/>
          </p:cNvCxnSpPr>
          <p:nvPr/>
        </p:nvCxnSpPr>
        <p:spPr>
          <a:xfrm rot="5400000">
            <a:off x="6212437" y="915360"/>
            <a:ext cx="411902" cy="73868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arrotondato 85"/>
          <p:cNvSpPr/>
          <p:nvPr/>
        </p:nvSpPr>
        <p:spPr>
          <a:xfrm>
            <a:off x="5123862" y="6101213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Catalogo MASTER caricato su BW4Hana</a:t>
            </a:r>
          </a:p>
        </p:txBody>
      </p:sp>
      <p:cxnSp>
        <p:nvCxnSpPr>
          <p:cNvPr id="97" name="Connettore 2 19"/>
          <p:cNvCxnSpPr>
            <a:stCxn id="74" idx="3"/>
            <a:endCxn id="86" idx="0"/>
          </p:cNvCxnSpPr>
          <p:nvPr/>
        </p:nvCxnSpPr>
        <p:spPr>
          <a:xfrm>
            <a:off x="3937982" y="5664523"/>
            <a:ext cx="1939294" cy="43669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uppo 97"/>
          <p:cNvGrpSpPr/>
          <p:nvPr/>
        </p:nvGrpSpPr>
        <p:grpSpPr>
          <a:xfrm>
            <a:off x="5950397" y="5539065"/>
            <a:ext cx="620683" cy="528502"/>
            <a:chOff x="67104" y="1378235"/>
            <a:chExt cx="667199" cy="571782"/>
          </a:xfrm>
        </p:grpSpPr>
        <p:sp>
          <p:nvSpPr>
            <p:cNvPr id="99" name="Rettangolo 98"/>
            <p:cNvSpPr/>
            <p:nvPr/>
          </p:nvSpPr>
          <p:spPr>
            <a:xfrm>
              <a:off x="67104" y="1715266"/>
              <a:ext cx="667199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AFC DH</a:t>
              </a:r>
            </a:p>
          </p:txBody>
        </p:sp>
        <p:pic>
          <p:nvPicPr>
            <p:cNvPr id="100" name="Immagine 99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65" name="Rettangolo 64"/>
          <p:cNvSpPr/>
          <p:nvPr/>
        </p:nvSpPr>
        <p:spPr>
          <a:xfrm>
            <a:off x="4150465" y="5476284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sp>
        <p:nvSpPr>
          <p:cNvPr id="80" name="CasellaDiTesto 79"/>
          <p:cNvSpPr txBox="1"/>
          <p:nvPr/>
        </p:nvSpPr>
        <p:spPr>
          <a:xfrm>
            <a:off x="58666" y="6720125"/>
            <a:ext cx="52350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/>
              <a:t>* Società IN-OUT dal Perimetro di Consolidamento mensile</a:t>
            </a:r>
          </a:p>
        </p:txBody>
      </p:sp>
      <p:grpSp>
        <p:nvGrpSpPr>
          <p:cNvPr id="81" name="Gruppo 80"/>
          <p:cNvGrpSpPr/>
          <p:nvPr/>
        </p:nvGrpSpPr>
        <p:grpSpPr>
          <a:xfrm>
            <a:off x="7004677" y="3139792"/>
            <a:ext cx="697627" cy="533569"/>
            <a:chOff x="3641697" y="1638398"/>
            <a:chExt cx="697627" cy="533569"/>
          </a:xfrm>
        </p:grpSpPr>
        <p:sp>
          <p:nvSpPr>
            <p:cNvPr id="82" name="Rettangolo 81"/>
            <p:cNvSpPr/>
            <p:nvPr/>
          </p:nvSpPr>
          <p:spPr>
            <a:xfrm>
              <a:off x="3641697" y="1954985"/>
              <a:ext cx="697627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P&amp;C HLD</a:t>
              </a:r>
            </a:p>
          </p:txBody>
        </p:sp>
        <p:pic>
          <p:nvPicPr>
            <p:cNvPr id="85" name="Immagine 84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sp>
        <p:nvSpPr>
          <p:cNvPr id="56" name="Rettangolo arrotondato 55"/>
          <p:cNvSpPr/>
          <p:nvPr/>
        </p:nvSpPr>
        <p:spPr>
          <a:xfrm>
            <a:off x="8638602" y="3639200"/>
            <a:ext cx="2946412" cy="7636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HR Planning verifica con i </a:t>
            </a:r>
            <a:r>
              <a:rPr lang="it-IT" sz="900" b="1" u="sng" dirty="0" err="1">
                <a:solidFill>
                  <a:schemeClr val="tx1"/>
                </a:solidFill>
              </a:rPr>
              <a:t>planner</a:t>
            </a:r>
            <a:r>
              <a:rPr lang="it-IT" sz="900" b="1" u="sng" dirty="0">
                <a:solidFill>
                  <a:schemeClr val="tx1"/>
                </a:solidFill>
              </a:rPr>
              <a:t> di Country</a:t>
            </a:r>
            <a:r>
              <a:rPr lang="it-IT" sz="900" dirty="0">
                <a:solidFill>
                  <a:schemeClr val="tx1"/>
                </a:solidFill>
              </a:rPr>
              <a:t> se ci sono testa e/o costi personale sulle nuove società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Se si chiede a PDH di crearla su SAP HR </a:t>
            </a:r>
            <a:r>
              <a:rPr lang="it-IT" sz="900" dirty="0" err="1">
                <a:solidFill>
                  <a:schemeClr val="tx1"/>
                </a:solidFill>
              </a:rPr>
              <a:t>glo</a:t>
            </a:r>
            <a:r>
              <a:rPr lang="it-IT" sz="9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64" name="Connettore 2 63"/>
          <p:cNvCxnSpPr>
            <a:stCxn id="68" idx="3"/>
            <a:endCxn id="56" idx="1"/>
          </p:cNvCxnSpPr>
          <p:nvPr/>
        </p:nvCxnSpPr>
        <p:spPr>
          <a:xfrm>
            <a:off x="7908699" y="4021015"/>
            <a:ext cx="729903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ttangolo 65"/>
          <p:cNvSpPr/>
          <p:nvPr/>
        </p:nvSpPr>
        <p:spPr>
          <a:xfrm>
            <a:off x="8065901" y="3798584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grpSp>
        <p:nvGrpSpPr>
          <p:cNvPr id="67" name="Gruppo 66"/>
          <p:cNvGrpSpPr/>
          <p:nvPr/>
        </p:nvGrpSpPr>
        <p:grpSpPr>
          <a:xfrm>
            <a:off x="9185229" y="3111708"/>
            <a:ext cx="870751" cy="533569"/>
            <a:chOff x="3555136" y="1638398"/>
            <a:chExt cx="870751" cy="533569"/>
          </a:xfrm>
        </p:grpSpPr>
        <p:sp>
          <p:nvSpPr>
            <p:cNvPr id="71" name="Rettangolo 70"/>
            <p:cNvSpPr/>
            <p:nvPr/>
          </p:nvSpPr>
          <p:spPr>
            <a:xfrm>
              <a:off x="3555136" y="1954985"/>
              <a:ext cx="870751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HR Planning</a:t>
              </a:r>
            </a:p>
          </p:txBody>
        </p:sp>
        <p:pic>
          <p:nvPicPr>
            <p:cNvPr id="72" name="Immagine 71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sp>
        <p:nvSpPr>
          <p:cNvPr id="74" name="Rettangolo arrotondato 73"/>
          <p:cNvSpPr/>
          <p:nvPr/>
        </p:nvSpPr>
        <p:spPr>
          <a:xfrm>
            <a:off x="1511952" y="4814731"/>
            <a:ext cx="2426030" cy="1699583"/>
          </a:xfrm>
          <a:prstGeom prst="roundRect">
            <a:avLst>
              <a:gd name="adj" fmla="val 9089"/>
            </a:avLst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PDH: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1- aggiorna l’anagrafica della società su SAP HR </a:t>
            </a:r>
            <a:r>
              <a:rPr lang="it-IT" sz="900" dirty="0" err="1">
                <a:solidFill>
                  <a:schemeClr val="tx1"/>
                </a:solidFill>
              </a:rPr>
              <a:t>glo</a:t>
            </a:r>
            <a:endParaRPr lang="it-IT" sz="900" dirty="0">
              <a:solidFill>
                <a:schemeClr val="tx1"/>
              </a:solidFill>
            </a:endParaRP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2- aggiorna catalogo Perimetro di Consolidamento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3- Comunica l’avvenuto aggiornamento delle soluzioni coinvolte a P&amp;C HLD, AFC DH, P&amp;O HLD</a:t>
            </a:r>
          </a:p>
        </p:txBody>
      </p:sp>
      <p:sp>
        <p:nvSpPr>
          <p:cNvPr id="49" name="Rettangolo 48"/>
          <p:cNvSpPr/>
          <p:nvPr/>
        </p:nvSpPr>
        <p:spPr>
          <a:xfrm>
            <a:off x="6206973" y="2779017"/>
            <a:ext cx="170172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>
                <a:solidFill>
                  <a:srgbClr val="FF0000"/>
                </a:solidFill>
              </a:rPr>
              <a:t>Il 1° giorno lavorativo del mese “n” rispetto ai dati del mese “n-1”</a:t>
            </a:r>
          </a:p>
        </p:txBody>
      </p:sp>
      <p:sp>
        <p:nvSpPr>
          <p:cNvPr id="87" name="Rettangolo 86"/>
          <p:cNvSpPr/>
          <p:nvPr/>
        </p:nvSpPr>
        <p:spPr>
          <a:xfrm>
            <a:off x="10202956" y="2786355"/>
            <a:ext cx="179418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>
                <a:solidFill>
                  <a:srgbClr val="FF0000"/>
                </a:solidFill>
              </a:rPr>
              <a:t>Entro il 5° giorno lavorativo del mese “n” rispetto ai dati del mese “n-1”</a:t>
            </a:r>
          </a:p>
        </p:txBody>
      </p:sp>
      <p:sp>
        <p:nvSpPr>
          <p:cNvPr id="42" name="Rettangolo arrotondato 41"/>
          <p:cNvSpPr/>
          <p:nvPr/>
        </p:nvSpPr>
        <p:spPr>
          <a:xfrm>
            <a:off x="115910" y="2163600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Entrata/Uscita società</a:t>
            </a:r>
          </a:p>
        </p:txBody>
      </p:sp>
      <p:sp>
        <p:nvSpPr>
          <p:cNvPr id="43" name="Rettangolo 42"/>
          <p:cNvSpPr/>
          <p:nvPr/>
        </p:nvSpPr>
        <p:spPr>
          <a:xfrm>
            <a:off x="750453" y="2522525"/>
            <a:ext cx="1056701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 err="1">
                <a:solidFill>
                  <a:schemeClr val="accent3"/>
                </a:solidFill>
              </a:rPr>
              <a:t>Segr</a:t>
            </a:r>
            <a:r>
              <a:rPr lang="it-IT" sz="900" b="1" i="1" dirty="0">
                <a:solidFill>
                  <a:schemeClr val="accent3"/>
                </a:solidFill>
              </a:rPr>
              <a:t>. Societaria</a:t>
            </a:r>
          </a:p>
        </p:txBody>
      </p:sp>
      <p:pic>
        <p:nvPicPr>
          <p:cNvPr id="44" name="Immagine 4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9569" y="2171324"/>
            <a:ext cx="266850" cy="334850"/>
          </a:xfrm>
          <a:prstGeom prst="rect">
            <a:avLst/>
          </a:prstGeom>
        </p:spPr>
      </p:pic>
      <p:cxnSp>
        <p:nvCxnSpPr>
          <p:cNvPr id="45" name="Connettore 2 44"/>
          <p:cNvCxnSpPr>
            <a:stCxn id="42" idx="3"/>
            <a:endCxn id="55" idx="1"/>
          </p:cNvCxnSpPr>
          <p:nvPr/>
        </p:nvCxnSpPr>
        <p:spPr>
          <a:xfrm>
            <a:off x="1764406" y="2446936"/>
            <a:ext cx="651534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ttangolo arrotondato 54"/>
          <p:cNvSpPr/>
          <p:nvPr/>
        </p:nvSpPr>
        <p:spPr>
          <a:xfrm>
            <a:off x="2415940" y="2163600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Comunicazione a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P&amp;C HLD e P&amp;O</a:t>
            </a:r>
          </a:p>
        </p:txBody>
      </p:sp>
      <p:sp>
        <p:nvSpPr>
          <p:cNvPr id="57" name="Rettangolo 56"/>
          <p:cNvSpPr/>
          <p:nvPr/>
        </p:nvSpPr>
        <p:spPr>
          <a:xfrm>
            <a:off x="3266775" y="1964018"/>
            <a:ext cx="697628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P&amp;C HLD</a:t>
            </a:r>
          </a:p>
        </p:txBody>
      </p:sp>
      <p:pic>
        <p:nvPicPr>
          <p:cNvPr id="59" name="Immagine 5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5506" y="1647431"/>
            <a:ext cx="266850" cy="334850"/>
          </a:xfrm>
          <a:prstGeom prst="rect">
            <a:avLst/>
          </a:prstGeom>
        </p:spPr>
      </p:pic>
      <p:sp>
        <p:nvSpPr>
          <p:cNvPr id="60" name="Rettangolo 59"/>
          <p:cNvSpPr/>
          <p:nvPr/>
        </p:nvSpPr>
        <p:spPr>
          <a:xfrm>
            <a:off x="4001553" y="1958675"/>
            <a:ext cx="162737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P&amp;O Planning e Reporting</a:t>
            </a:r>
          </a:p>
        </p:txBody>
      </p:sp>
      <p:pic>
        <p:nvPicPr>
          <p:cNvPr id="73" name="Immagine 7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1126" y="1630031"/>
            <a:ext cx="266850" cy="334850"/>
          </a:xfrm>
          <a:prstGeom prst="rect">
            <a:avLst/>
          </a:prstGeom>
        </p:spPr>
      </p:pic>
      <p:cxnSp>
        <p:nvCxnSpPr>
          <p:cNvPr id="75" name="Connettore 2 19"/>
          <p:cNvCxnSpPr>
            <a:stCxn id="55" idx="2"/>
            <a:endCxn id="35" idx="0"/>
          </p:cNvCxnSpPr>
          <p:nvPr/>
        </p:nvCxnSpPr>
        <p:spPr>
          <a:xfrm rot="5400000">
            <a:off x="2432091" y="2929582"/>
            <a:ext cx="1007408" cy="608786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ttangolo 75"/>
          <p:cNvSpPr/>
          <p:nvPr/>
        </p:nvSpPr>
        <p:spPr>
          <a:xfrm>
            <a:off x="7530494" y="101818"/>
            <a:ext cx="43877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000" b="1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Processi OFF-LINE di </a:t>
            </a:r>
            <a:r>
              <a:rPr lang="it-IT" sz="2000" b="1" u="sng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contingency</a:t>
            </a:r>
            <a:endParaRPr lang="it-IT" sz="2000" b="1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7" name="Rettangolo arrotondato 76"/>
          <p:cNvSpPr/>
          <p:nvPr/>
        </p:nvSpPr>
        <p:spPr>
          <a:xfrm>
            <a:off x="6872210" y="6099625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ZHR Company su SAP </a:t>
            </a:r>
            <a:r>
              <a:rPr lang="it-IT" sz="900" dirty="0" err="1">
                <a:solidFill>
                  <a:schemeClr val="tx1"/>
                </a:solidFill>
              </a:rPr>
              <a:t>HRglo</a:t>
            </a:r>
            <a:endParaRPr lang="it-IT" sz="900" dirty="0">
              <a:solidFill>
                <a:schemeClr val="tx1"/>
              </a:solidFill>
            </a:endParaRPr>
          </a:p>
        </p:txBody>
      </p:sp>
      <p:cxnSp>
        <p:nvCxnSpPr>
          <p:cNvPr id="78" name="Connettore 2 19"/>
          <p:cNvCxnSpPr>
            <a:endCxn id="77" idx="0"/>
          </p:cNvCxnSpPr>
          <p:nvPr/>
        </p:nvCxnSpPr>
        <p:spPr>
          <a:xfrm>
            <a:off x="5686330" y="5662935"/>
            <a:ext cx="1939294" cy="43669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uppo 82"/>
          <p:cNvGrpSpPr/>
          <p:nvPr/>
        </p:nvGrpSpPr>
        <p:grpSpPr>
          <a:xfrm>
            <a:off x="7835779" y="5544922"/>
            <a:ext cx="428323" cy="528501"/>
            <a:chOff x="170491" y="1378235"/>
            <a:chExt cx="460422" cy="571782"/>
          </a:xfrm>
        </p:grpSpPr>
        <p:sp>
          <p:nvSpPr>
            <p:cNvPr id="84" name="Rettangolo 83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88" name="Immagine 87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89" name="Rettangolo arrotondato 88"/>
          <p:cNvSpPr/>
          <p:nvPr/>
        </p:nvSpPr>
        <p:spPr>
          <a:xfrm>
            <a:off x="8811064" y="6109621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su S.NOW</a:t>
            </a:r>
          </a:p>
        </p:txBody>
      </p:sp>
      <p:cxnSp>
        <p:nvCxnSpPr>
          <p:cNvPr id="90" name="Connettore 2 19"/>
          <p:cNvCxnSpPr>
            <a:endCxn id="89" idx="0"/>
          </p:cNvCxnSpPr>
          <p:nvPr/>
        </p:nvCxnSpPr>
        <p:spPr>
          <a:xfrm>
            <a:off x="7625184" y="5672931"/>
            <a:ext cx="1939294" cy="43669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uppo 90"/>
          <p:cNvGrpSpPr/>
          <p:nvPr/>
        </p:nvGrpSpPr>
        <p:grpSpPr>
          <a:xfrm>
            <a:off x="9774633" y="5554918"/>
            <a:ext cx="428323" cy="528501"/>
            <a:chOff x="170491" y="1378235"/>
            <a:chExt cx="460422" cy="571782"/>
          </a:xfrm>
        </p:grpSpPr>
        <p:sp>
          <p:nvSpPr>
            <p:cNvPr id="92" name="Rettangolo 91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94" name="Immagine 9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95" name="Rettangolo 94"/>
          <p:cNvSpPr/>
          <p:nvPr/>
        </p:nvSpPr>
        <p:spPr>
          <a:xfrm>
            <a:off x="6795578" y="5851356"/>
            <a:ext cx="79380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sp>
        <p:nvSpPr>
          <p:cNvPr id="96" name="Rettangolo 95"/>
          <p:cNvSpPr/>
          <p:nvPr/>
        </p:nvSpPr>
        <p:spPr>
          <a:xfrm>
            <a:off x="8835655" y="5862973"/>
            <a:ext cx="54374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SNOW</a:t>
            </a:r>
          </a:p>
        </p:txBody>
      </p:sp>
      <p:sp>
        <p:nvSpPr>
          <p:cNvPr id="101" name="Rettangolo arrotondato 100"/>
          <p:cNvSpPr/>
          <p:nvPr/>
        </p:nvSpPr>
        <p:spPr>
          <a:xfrm>
            <a:off x="10589426" y="5283542"/>
            <a:ext cx="1506828" cy="6599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Chiusura case (se aperto) automatica per UO in </a:t>
            </a:r>
            <a:r>
              <a:rPr lang="it-IT" sz="900" dirty="0" err="1">
                <a:solidFill>
                  <a:schemeClr val="tx1"/>
                </a:solidFill>
              </a:rPr>
              <a:t>ko</a:t>
            </a:r>
            <a:r>
              <a:rPr lang="it-IT" sz="900" dirty="0">
                <a:solidFill>
                  <a:schemeClr val="tx1"/>
                </a:solidFill>
              </a:rPr>
              <a:t> causa mancato aggiornamento catalogo</a:t>
            </a:r>
          </a:p>
        </p:txBody>
      </p:sp>
      <p:sp>
        <p:nvSpPr>
          <p:cNvPr id="102" name="Rettangolo 101"/>
          <p:cNvSpPr/>
          <p:nvPr/>
        </p:nvSpPr>
        <p:spPr>
          <a:xfrm>
            <a:off x="10855525" y="5054447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  <p:cxnSp>
        <p:nvCxnSpPr>
          <p:cNvPr id="103" name="Connettore 2 19"/>
          <p:cNvCxnSpPr>
            <a:stCxn id="89" idx="3"/>
            <a:endCxn id="101" idx="2"/>
          </p:cNvCxnSpPr>
          <p:nvPr/>
        </p:nvCxnSpPr>
        <p:spPr>
          <a:xfrm flipV="1">
            <a:off x="10317892" y="5943520"/>
            <a:ext cx="1024948" cy="47332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360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9605494" cy="394980"/>
          </a:xfrm>
        </p:spPr>
        <p:txBody>
          <a:bodyPr/>
          <a:lstStyle/>
          <a:p>
            <a:r>
              <a:rPr lang="en-US" dirty="0"/>
              <a:t>Aggiornamento </a:t>
            </a:r>
            <a:r>
              <a:rPr lang="en-US" dirty="0" err="1"/>
              <a:t>catalogo</a:t>
            </a:r>
            <a:r>
              <a:rPr lang="en-US" dirty="0"/>
              <a:t> </a:t>
            </a:r>
            <a:r>
              <a:rPr lang="en-US" dirty="0" err="1"/>
              <a:t>Perimetro</a:t>
            </a:r>
            <a:r>
              <a:rPr lang="en-US" dirty="0"/>
              <a:t> di </a:t>
            </a:r>
            <a:r>
              <a:rPr lang="en-US" dirty="0" err="1"/>
              <a:t>Consolidamento</a:t>
            </a:r>
            <a:br>
              <a:rPr lang="en-US" dirty="0"/>
            </a:br>
            <a:r>
              <a:rPr lang="en-US" dirty="0"/>
              <a:t>AS IS – per </a:t>
            </a:r>
            <a:r>
              <a:rPr lang="en-US" dirty="0" err="1"/>
              <a:t>esigenze</a:t>
            </a:r>
            <a:r>
              <a:rPr lang="en-US" dirty="0"/>
              <a:t> HR (</a:t>
            </a:r>
            <a:r>
              <a:rPr lang="en-US" dirty="0" err="1"/>
              <a:t>società</a:t>
            </a:r>
            <a:r>
              <a:rPr lang="en-US" dirty="0"/>
              <a:t>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lato</a:t>
            </a:r>
            <a:r>
              <a:rPr lang="en-US" dirty="0"/>
              <a:t> AFC)</a:t>
            </a:r>
            <a:endParaRPr lang="en-US" sz="2000" dirty="0"/>
          </a:p>
        </p:txBody>
      </p:sp>
      <p:sp>
        <p:nvSpPr>
          <p:cNvPr id="80" name="CasellaDiTesto 79"/>
          <p:cNvSpPr txBox="1"/>
          <p:nvPr/>
        </p:nvSpPr>
        <p:spPr>
          <a:xfrm>
            <a:off x="58666" y="6720125"/>
            <a:ext cx="52350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/>
              <a:t>* Società già esistente in AFC e già parte del perimetro di consolidamento</a:t>
            </a:r>
          </a:p>
        </p:txBody>
      </p:sp>
      <p:sp>
        <p:nvSpPr>
          <p:cNvPr id="40" name="Rettangolo 39"/>
          <p:cNvSpPr/>
          <p:nvPr/>
        </p:nvSpPr>
        <p:spPr>
          <a:xfrm>
            <a:off x="7530494" y="101818"/>
            <a:ext cx="438774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000" b="1" u="sng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Processi OFF-LINE di </a:t>
            </a:r>
            <a:r>
              <a:rPr lang="it-IT" sz="2000" b="1" u="sng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contingency</a:t>
            </a:r>
            <a:endParaRPr lang="it-IT" sz="2000" b="1" u="sng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ttangolo arrotondato 4"/>
          <p:cNvSpPr/>
          <p:nvPr/>
        </p:nvSpPr>
        <p:spPr>
          <a:xfrm>
            <a:off x="589633" y="2540126"/>
            <a:ext cx="1648496" cy="56667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Richiesta creazione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nuova società in 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SAP </a:t>
            </a:r>
            <a:r>
              <a:rPr lang="it-IT" sz="900" dirty="0" err="1">
                <a:solidFill>
                  <a:schemeClr val="tx1"/>
                </a:solidFill>
              </a:rPr>
              <a:t>HRglo</a:t>
            </a:r>
            <a:r>
              <a:rPr lang="it-IT" sz="9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" name="Rettangolo 5"/>
          <p:cNvSpPr/>
          <p:nvPr/>
        </p:nvSpPr>
        <p:spPr>
          <a:xfrm>
            <a:off x="1469140" y="2860849"/>
            <a:ext cx="7681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P&amp;O Local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3292" y="2555575"/>
            <a:ext cx="266850" cy="334850"/>
          </a:xfrm>
          <a:prstGeom prst="rect">
            <a:avLst/>
          </a:prstGeom>
        </p:spPr>
      </p:pic>
      <p:cxnSp>
        <p:nvCxnSpPr>
          <p:cNvPr id="8" name="Connettore 2 7"/>
          <p:cNvCxnSpPr>
            <a:stCxn id="5" idx="3"/>
            <a:endCxn id="16" idx="1"/>
          </p:cNvCxnSpPr>
          <p:nvPr/>
        </p:nvCxnSpPr>
        <p:spPr>
          <a:xfrm>
            <a:off x="2238129" y="2823462"/>
            <a:ext cx="694815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o 8"/>
          <p:cNvGrpSpPr/>
          <p:nvPr/>
        </p:nvGrpSpPr>
        <p:grpSpPr>
          <a:xfrm>
            <a:off x="3964062" y="1943827"/>
            <a:ext cx="445370" cy="533569"/>
            <a:chOff x="3776349" y="1638398"/>
            <a:chExt cx="445370" cy="533569"/>
          </a:xfrm>
        </p:grpSpPr>
        <p:sp>
          <p:nvSpPr>
            <p:cNvPr id="10" name="Rettangolo 9"/>
            <p:cNvSpPr/>
            <p:nvPr/>
          </p:nvSpPr>
          <p:spPr>
            <a:xfrm>
              <a:off x="3776349" y="1954985"/>
              <a:ext cx="428322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11" name="Immagine 10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grpSp>
        <p:nvGrpSpPr>
          <p:cNvPr id="12" name="Gruppo 11"/>
          <p:cNvGrpSpPr/>
          <p:nvPr/>
        </p:nvGrpSpPr>
        <p:grpSpPr>
          <a:xfrm>
            <a:off x="337402" y="4481572"/>
            <a:ext cx="428323" cy="528501"/>
            <a:chOff x="170491" y="1378235"/>
            <a:chExt cx="460422" cy="571782"/>
          </a:xfrm>
        </p:grpSpPr>
        <p:sp>
          <p:nvSpPr>
            <p:cNvPr id="13" name="Rettangolo 12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14" name="Immagine 1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16" name="Rettangolo arrotondato 15"/>
          <p:cNvSpPr/>
          <p:nvPr/>
        </p:nvSpPr>
        <p:spPr>
          <a:xfrm>
            <a:off x="2932944" y="2518402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Società creata su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SAP </a:t>
            </a:r>
            <a:r>
              <a:rPr lang="it-IT" sz="900" dirty="0" err="1">
                <a:solidFill>
                  <a:schemeClr val="tx1"/>
                </a:solidFill>
              </a:rPr>
              <a:t>HRglo</a:t>
            </a:r>
            <a:endParaRPr lang="it-IT" sz="900" dirty="0">
              <a:solidFill>
                <a:schemeClr val="tx1"/>
              </a:solidFill>
            </a:endParaRPr>
          </a:p>
        </p:txBody>
      </p:sp>
      <p:sp>
        <p:nvSpPr>
          <p:cNvPr id="17" name="Rettangolo arrotondato 16"/>
          <p:cNvSpPr/>
          <p:nvPr/>
        </p:nvSpPr>
        <p:spPr>
          <a:xfrm>
            <a:off x="4989452" y="2516243"/>
            <a:ext cx="1701726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catalogo Perimetro di Consolidamento</a:t>
            </a:r>
          </a:p>
        </p:txBody>
      </p:sp>
      <p:cxnSp>
        <p:nvCxnSpPr>
          <p:cNvPr id="18" name="Connettore 2 17"/>
          <p:cNvCxnSpPr>
            <a:stCxn id="16" idx="3"/>
            <a:endCxn id="17" idx="1"/>
          </p:cNvCxnSpPr>
          <p:nvPr/>
        </p:nvCxnSpPr>
        <p:spPr>
          <a:xfrm flipV="1">
            <a:off x="4439772" y="2823462"/>
            <a:ext cx="549680" cy="2159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tangolo 18"/>
          <p:cNvSpPr/>
          <p:nvPr/>
        </p:nvSpPr>
        <p:spPr>
          <a:xfrm>
            <a:off x="4511522" y="2601031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cxnSp>
        <p:nvCxnSpPr>
          <p:cNvPr id="20" name="Connettore 2 19"/>
          <p:cNvCxnSpPr>
            <a:stCxn id="30" idx="2"/>
            <a:endCxn id="36" idx="0"/>
          </p:cNvCxnSpPr>
          <p:nvPr/>
        </p:nvCxnSpPr>
        <p:spPr>
          <a:xfrm rot="5400000">
            <a:off x="5098882" y="236537"/>
            <a:ext cx="826666" cy="67641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po 26"/>
          <p:cNvGrpSpPr/>
          <p:nvPr/>
        </p:nvGrpSpPr>
        <p:grpSpPr>
          <a:xfrm>
            <a:off x="5921808" y="1942239"/>
            <a:ext cx="445370" cy="533569"/>
            <a:chOff x="3776349" y="1638398"/>
            <a:chExt cx="445370" cy="533569"/>
          </a:xfrm>
        </p:grpSpPr>
        <p:sp>
          <p:nvSpPr>
            <p:cNvPr id="28" name="Rettangolo 27"/>
            <p:cNvSpPr/>
            <p:nvPr/>
          </p:nvSpPr>
          <p:spPr>
            <a:xfrm>
              <a:off x="3776349" y="1954985"/>
              <a:ext cx="428323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29" name="Immagine 28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sp>
        <p:nvSpPr>
          <p:cNvPr id="30" name="Rettangolo arrotondato 29"/>
          <p:cNvSpPr/>
          <p:nvPr/>
        </p:nvSpPr>
        <p:spPr>
          <a:xfrm>
            <a:off x="7421081" y="2441647"/>
            <a:ext cx="2946412" cy="7636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Comunicazione via mail dell’aggiornamento catalogo </a:t>
            </a:r>
          </a:p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(a HR Planning, P&amp;C HLD, AFC DH)</a:t>
            </a:r>
          </a:p>
        </p:txBody>
      </p:sp>
      <p:cxnSp>
        <p:nvCxnSpPr>
          <p:cNvPr id="31" name="Connettore 2 30"/>
          <p:cNvCxnSpPr>
            <a:stCxn id="17" idx="3"/>
            <a:endCxn id="30" idx="1"/>
          </p:cNvCxnSpPr>
          <p:nvPr/>
        </p:nvCxnSpPr>
        <p:spPr>
          <a:xfrm>
            <a:off x="6691178" y="2823462"/>
            <a:ext cx="729903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tangolo 31"/>
          <p:cNvSpPr/>
          <p:nvPr/>
        </p:nvSpPr>
        <p:spPr>
          <a:xfrm>
            <a:off x="6848380" y="2601031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grpSp>
        <p:nvGrpSpPr>
          <p:cNvPr id="33" name="Gruppo 32"/>
          <p:cNvGrpSpPr/>
          <p:nvPr/>
        </p:nvGrpSpPr>
        <p:grpSpPr>
          <a:xfrm>
            <a:off x="8188922" y="1914155"/>
            <a:ext cx="445369" cy="533569"/>
            <a:chOff x="3776350" y="1638398"/>
            <a:chExt cx="445369" cy="533569"/>
          </a:xfrm>
        </p:grpSpPr>
        <p:sp>
          <p:nvSpPr>
            <p:cNvPr id="34" name="Rettangolo 33"/>
            <p:cNvSpPr/>
            <p:nvPr/>
          </p:nvSpPr>
          <p:spPr>
            <a:xfrm>
              <a:off x="3776350" y="1954985"/>
              <a:ext cx="428323" cy="2169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35" name="Immagine 34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4869" y="1638398"/>
              <a:ext cx="266850" cy="334850"/>
            </a:xfrm>
            <a:prstGeom prst="rect">
              <a:avLst/>
            </a:prstGeom>
          </p:spPr>
        </p:pic>
      </p:grpSp>
      <p:sp>
        <p:nvSpPr>
          <p:cNvPr id="36" name="Rettangolo arrotondato 35"/>
          <p:cNvSpPr/>
          <p:nvPr/>
        </p:nvSpPr>
        <p:spPr>
          <a:xfrm>
            <a:off x="917127" y="4031942"/>
            <a:ext cx="2426030" cy="1104080"/>
          </a:xfrm>
          <a:prstGeom prst="roundRect">
            <a:avLst>
              <a:gd name="adj" fmla="val 13525"/>
            </a:avLst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PDH: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1- Comunica l’avvenuto aggiornamento delle soluzioni coinvolte a P&amp;C HLD, AFC DH, P&amp;O HLD</a:t>
            </a:r>
          </a:p>
        </p:txBody>
      </p:sp>
      <p:sp>
        <p:nvSpPr>
          <p:cNvPr id="39" name="Rettangolo 38"/>
          <p:cNvSpPr/>
          <p:nvPr/>
        </p:nvSpPr>
        <p:spPr>
          <a:xfrm>
            <a:off x="566025" y="1994247"/>
            <a:ext cx="1701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900" dirty="0">
                <a:solidFill>
                  <a:srgbClr val="FF0000"/>
                </a:solidFill>
              </a:rPr>
              <a:t>Ad ogni richiesta di creazione nuova società su SAP </a:t>
            </a:r>
            <a:r>
              <a:rPr lang="it-IT" sz="900" dirty="0" err="1">
                <a:solidFill>
                  <a:srgbClr val="FF0000"/>
                </a:solidFill>
              </a:rPr>
              <a:t>HRglo</a:t>
            </a:r>
            <a:endParaRPr lang="it-IT" sz="900" dirty="0">
              <a:solidFill>
                <a:srgbClr val="FF0000"/>
              </a:solidFill>
            </a:endParaRPr>
          </a:p>
        </p:txBody>
      </p:sp>
      <p:sp>
        <p:nvSpPr>
          <p:cNvPr id="41" name="Rettangolo 40"/>
          <p:cNvSpPr/>
          <p:nvPr/>
        </p:nvSpPr>
        <p:spPr>
          <a:xfrm>
            <a:off x="4491965" y="4730825"/>
            <a:ext cx="723275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BW4Hana</a:t>
            </a:r>
          </a:p>
        </p:txBody>
      </p:sp>
      <p:sp>
        <p:nvSpPr>
          <p:cNvPr id="42" name="Rettangolo arrotondato 41"/>
          <p:cNvSpPr/>
          <p:nvPr/>
        </p:nvSpPr>
        <p:spPr>
          <a:xfrm>
            <a:off x="4561394" y="4978102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Catalogo MASTER caricato su BW4Hana</a:t>
            </a:r>
          </a:p>
        </p:txBody>
      </p:sp>
      <p:cxnSp>
        <p:nvCxnSpPr>
          <p:cNvPr id="43" name="Connettore 2 19"/>
          <p:cNvCxnSpPr>
            <a:endCxn id="42" idx="0"/>
          </p:cNvCxnSpPr>
          <p:nvPr/>
        </p:nvCxnSpPr>
        <p:spPr>
          <a:xfrm>
            <a:off x="3375514" y="4541412"/>
            <a:ext cx="1939294" cy="43669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po 43"/>
          <p:cNvGrpSpPr/>
          <p:nvPr/>
        </p:nvGrpSpPr>
        <p:grpSpPr>
          <a:xfrm>
            <a:off x="5387929" y="4415954"/>
            <a:ext cx="620683" cy="528502"/>
            <a:chOff x="67104" y="1378235"/>
            <a:chExt cx="667199" cy="571782"/>
          </a:xfrm>
        </p:grpSpPr>
        <p:sp>
          <p:nvSpPr>
            <p:cNvPr id="45" name="Rettangolo 44"/>
            <p:cNvSpPr/>
            <p:nvPr/>
          </p:nvSpPr>
          <p:spPr>
            <a:xfrm>
              <a:off x="67104" y="1715266"/>
              <a:ext cx="667199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AFC DH</a:t>
              </a:r>
            </a:p>
          </p:txBody>
        </p:sp>
        <p:pic>
          <p:nvPicPr>
            <p:cNvPr id="46" name="Immagine 45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47" name="Rettangolo 46"/>
          <p:cNvSpPr/>
          <p:nvPr/>
        </p:nvSpPr>
        <p:spPr>
          <a:xfrm>
            <a:off x="3587997" y="4353173"/>
            <a:ext cx="41549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mail</a:t>
            </a:r>
          </a:p>
        </p:txBody>
      </p:sp>
      <p:sp>
        <p:nvSpPr>
          <p:cNvPr id="48" name="Rettangolo arrotondato 47"/>
          <p:cNvSpPr/>
          <p:nvPr/>
        </p:nvSpPr>
        <p:spPr>
          <a:xfrm>
            <a:off x="6309742" y="4976514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ZHR Company su SAP </a:t>
            </a:r>
            <a:r>
              <a:rPr lang="it-IT" sz="900" dirty="0" err="1">
                <a:solidFill>
                  <a:schemeClr val="tx1"/>
                </a:solidFill>
              </a:rPr>
              <a:t>HRglo</a:t>
            </a:r>
            <a:endParaRPr lang="it-IT" sz="900" dirty="0">
              <a:solidFill>
                <a:schemeClr val="tx1"/>
              </a:solidFill>
            </a:endParaRPr>
          </a:p>
        </p:txBody>
      </p:sp>
      <p:cxnSp>
        <p:nvCxnSpPr>
          <p:cNvPr id="49" name="Connettore 2 19"/>
          <p:cNvCxnSpPr>
            <a:endCxn id="48" idx="0"/>
          </p:cNvCxnSpPr>
          <p:nvPr/>
        </p:nvCxnSpPr>
        <p:spPr>
          <a:xfrm>
            <a:off x="5123862" y="4539824"/>
            <a:ext cx="1939294" cy="43669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po 49"/>
          <p:cNvGrpSpPr/>
          <p:nvPr/>
        </p:nvGrpSpPr>
        <p:grpSpPr>
          <a:xfrm>
            <a:off x="7273311" y="4421811"/>
            <a:ext cx="428323" cy="528501"/>
            <a:chOff x="170491" y="1378235"/>
            <a:chExt cx="460422" cy="571782"/>
          </a:xfrm>
        </p:grpSpPr>
        <p:sp>
          <p:nvSpPr>
            <p:cNvPr id="51" name="Rettangolo 50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52" name="Immagine 51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53" name="Rettangolo arrotondato 52"/>
          <p:cNvSpPr/>
          <p:nvPr/>
        </p:nvSpPr>
        <p:spPr>
          <a:xfrm>
            <a:off x="8248596" y="4986510"/>
            <a:ext cx="1506828" cy="614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Aggiornamento su S.NOW</a:t>
            </a:r>
          </a:p>
        </p:txBody>
      </p:sp>
      <p:cxnSp>
        <p:nvCxnSpPr>
          <p:cNvPr id="54" name="Connettore 2 19"/>
          <p:cNvCxnSpPr>
            <a:endCxn id="53" idx="0"/>
          </p:cNvCxnSpPr>
          <p:nvPr/>
        </p:nvCxnSpPr>
        <p:spPr>
          <a:xfrm>
            <a:off x="7062716" y="4549820"/>
            <a:ext cx="1939294" cy="43669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po 54"/>
          <p:cNvGrpSpPr/>
          <p:nvPr/>
        </p:nvGrpSpPr>
        <p:grpSpPr>
          <a:xfrm>
            <a:off x="9212165" y="4431807"/>
            <a:ext cx="428323" cy="528501"/>
            <a:chOff x="170491" y="1378235"/>
            <a:chExt cx="460422" cy="571782"/>
          </a:xfrm>
        </p:grpSpPr>
        <p:sp>
          <p:nvSpPr>
            <p:cNvPr id="56" name="Rettangolo 55"/>
            <p:cNvSpPr/>
            <p:nvPr/>
          </p:nvSpPr>
          <p:spPr>
            <a:xfrm>
              <a:off x="170491" y="1715266"/>
              <a:ext cx="460422" cy="2347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t-IT" sz="900" b="1" i="1" dirty="0">
                  <a:solidFill>
                    <a:schemeClr val="accent3"/>
                  </a:solidFill>
                </a:rPr>
                <a:t>PDH</a:t>
              </a:r>
            </a:p>
          </p:txBody>
        </p:sp>
        <p:pic>
          <p:nvPicPr>
            <p:cNvPr id="57" name="Immagine 56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275" y="1378235"/>
              <a:ext cx="266850" cy="320715"/>
            </a:xfrm>
            <a:prstGeom prst="rect">
              <a:avLst/>
            </a:prstGeom>
          </p:spPr>
        </p:pic>
      </p:grpSp>
      <p:sp>
        <p:nvSpPr>
          <p:cNvPr id="58" name="Rettangolo 57"/>
          <p:cNvSpPr/>
          <p:nvPr/>
        </p:nvSpPr>
        <p:spPr>
          <a:xfrm>
            <a:off x="6233110" y="4728245"/>
            <a:ext cx="793807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SAP </a:t>
            </a:r>
            <a:r>
              <a:rPr lang="it-IT" sz="900" b="1" i="1" dirty="0" err="1">
                <a:solidFill>
                  <a:schemeClr val="accent3"/>
                </a:solidFill>
              </a:rPr>
              <a:t>HRglo</a:t>
            </a:r>
            <a:endParaRPr lang="it-IT" sz="900" b="1" i="1" dirty="0">
              <a:solidFill>
                <a:schemeClr val="accent3"/>
              </a:solidFill>
            </a:endParaRPr>
          </a:p>
        </p:txBody>
      </p:sp>
      <p:sp>
        <p:nvSpPr>
          <p:cNvPr id="59" name="Rettangolo 58"/>
          <p:cNvSpPr/>
          <p:nvPr/>
        </p:nvSpPr>
        <p:spPr>
          <a:xfrm>
            <a:off x="8273187" y="4739862"/>
            <a:ext cx="543740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SNOW</a:t>
            </a:r>
          </a:p>
        </p:txBody>
      </p:sp>
      <p:sp>
        <p:nvSpPr>
          <p:cNvPr id="60" name="Rettangolo arrotondato 59"/>
          <p:cNvSpPr/>
          <p:nvPr/>
        </p:nvSpPr>
        <p:spPr>
          <a:xfrm>
            <a:off x="10026958" y="4160431"/>
            <a:ext cx="1506828" cy="6599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dirty="0">
                <a:solidFill>
                  <a:schemeClr val="tx1"/>
                </a:solidFill>
              </a:rPr>
              <a:t>Chiusura case (se aperto) automatica per UO in </a:t>
            </a:r>
            <a:r>
              <a:rPr lang="it-IT" sz="900" dirty="0" err="1">
                <a:solidFill>
                  <a:schemeClr val="tx1"/>
                </a:solidFill>
              </a:rPr>
              <a:t>ko</a:t>
            </a:r>
            <a:r>
              <a:rPr lang="it-IT" sz="900" dirty="0">
                <a:solidFill>
                  <a:schemeClr val="tx1"/>
                </a:solidFill>
              </a:rPr>
              <a:t> causa mancato aggiornamento catalogo</a:t>
            </a:r>
          </a:p>
        </p:txBody>
      </p:sp>
      <p:sp>
        <p:nvSpPr>
          <p:cNvPr id="61" name="Rettangolo 60"/>
          <p:cNvSpPr/>
          <p:nvPr/>
        </p:nvSpPr>
        <p:spPr>
          <a:xfrm>
            <a:off x="10293057" y="3931336"/>
            <a:ext cx="607859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900" b="1" i="1" dirty="0">
                <a:solidFill>
                  <a:schemeClr val="accent3"/>
                </a:solidFill>
              </a:rPr>
              <a:t>S. NOW</a:t>
            </a:r>
          </a:p>
        </p:txBody>
      </p:sp>
      <p:cxnSp>
        <p:nvCxnSpPr>
          <p:cNvPr id="62" name="Connettore 2 19"/>
          <p:cNvCxnSpPr>
            <a:stCxn id="53" idx="3"/>
            <a:endCxn id="60" idx="2"/>
          </p:cNvCxnSpPr>
          <p:nvPr/>
        </p:nvCxnSpPr>
        <p:spPr>
          <a:xfrm flipV="1">
            <a:off x="9755424" y="4820409"/>
            <a:ext cx="1024948" cy="473320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8821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nel+PowerPoint+template_printfriendly_DR">
  <a:themeElements>
    <a:clrScheme name="ENEL">
      <a:dk1>
        <a:sysClr val="windowText" lastClr="000000"/>
      </a:dk1>
      <a:lt1>
        <a:sysClr val="window" lastClr="FFFFFF"/>
      </a:lt1>
      <a:dk2>
        <a:srgbClr val="C6C6C6"/>
      </a:dk2>
      <a:lt2>
        <a:srgbClr val="EDEEE8"/>
      </a:lt2>
      <a:accent1>
        <a:srgbClr val="0655FA"/>
      </a:accent1>
      <a:accent2>
        <a:srgbClr val="40B9E6"/>
      </a:accent2>
      <a:accent3>
        <a:srgbClr val="E71401"/>
      </a:accent3>
      <a:accent4>
        <a:srgbClr val="FE0F64"/>
      </a:accent4>
      <a:accent5>
        <a:srgbClr val="028C59"/>
      </a:accent5>
      <a:accent6>
        <a:srgbClr val="55BD5A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</a:spPr>
      <a:bodyPr spcFirstLastPara="0" vert="horz" wrap="square" lIns="36000" tIns="36000" rIns="36000" bIns="36000" numCol="1" spcCol="1270" rtlCol="0" anchor="ctr" anchorCtr="0">
        <a:noAutofit/>
      </a:bodyPr>
      <a:lstStyle>
        <a:defPPr algn="ctr" defTabSz="666750">
          <a:lnSpc>
            <a:spcPct val="90000"/>
          </a:lnSpc>
          <a:spcBef>
            <a:spcPct val="0"/>
          </a:spcBef>
          <a:spcAft>
            <a:spcPct val="35000"/>
          </a:spcAft>
          <a:defRPr sz="1000" kern="1200" dirty="0" smtClean="0">
            <a:solidFill>
              <a:schemeClr val="tx1"/>
            </a:solidFill>
          </a:defRPr>
        </a:defPPr>
      </a:lstStyle>
      <a:style>
        <a:lnRef idx="0">
          <a:schemeClr val="lt1">
            <a:hueOff val="0"/>
            <a:satOff val="0"/>
            <a:lumOff val="0"/>
            <a:alphaOff val="0"/>
          </a:schemeClr>
        </a:lnRef>
        <a:fillRef idx="1">
          <a:schemeClr val="accent4">
            <a:hueOff val="0"/>
            <a:satOff val="0"/>
            <a:lumOff val="0"/>
            <a:alphaOff val="0"/>
          </a:schemeClr>
        </a:fillRef>
        <a:effectRef idx="0">
          <a:schemeClr val="accent4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8E4D010-1F27-4A82-8F74-3F1761496E3A}" vid="{82C91379-86C5-4FC2-B588-90C0BFC7AC0B}"/>
    </a:ext>
  </a:extLst>
</a:theme>
</file>

<file path=ppt/theme/theme2.xml><?xml version="1.0" encoding="utf-8"?>
<a:theme xmlns:a="http://schemas.openxmlformats.org/drawingml/2006/main" name="1_Enel Template v2.2">
  <a:themeElements>
    <a:clrScheme name="ENEL">
      <a:dk1>
        <a:sysClr val="windowText" lastClr="000000"/>
      </a:dk1>
      <a:lt1>
        <a:sysClr val="window" lastClr="FFFFFF"/>
      </a:lt1>
      <a:dk2>
        <a:srgbClr val="C6C6C6"/>
      </a:dk2>
      <a:lt2>
        <a:srgbClr val="EDEEE8"/>
      </a:lt2>
      <a:accent1>
        <a:srgbClr val="0655FA"/>
      </a:accent1>
      <a:accent2>
        <a:srgbClr val="40B9E6"/>
      </a:accent2>
      <a:accent3>
        <a:srgbClr val="E71401"/>
      </a:accent3>
      <a:accent4>
        <a:srgbClr val="FE0F64"/>
      </a:accent4>
      <a:accent5>
        <a:srgbClr val="028C59"/>
      </a:accent5>
      <a:accent6>
        <a:srgbClr val="55BD5A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8E4D010-1F27-4A82-8F74-3F1761496E3A}" vid="{18D66783-A63F-4EA3-9EB7-07C3A372964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Application xmlns="http://www.sap.com/cof/powerpoint/application">
  <Version>2</Version>
  <Revision>2.7.500.88128</Revision>
</Application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D0D5D769FB1F4C8C82693089BEBB8C" ma:contentTypeVersion="9" ma:contentTypeDescription="Creare un nuovo documento." ma:contentTypeScope="" ma:versionID="ff44f9b8e5d3da09289cf45e9632fac2">
  <xsd:schema xmlns:xsd="http://www.w3.org/2001/XMLSchema" xmlns:xs="http://www.w3.org/2001/XMLSchema" xmlns:p="http://schemas.microsoft.com/office/2006/metadata/properties" xmlns:ns2="e0291adc-2074-491e-a4e6-dd327137f4a4" targetNamespace="http://schemas.microsoft.com/office/2006/metadata/properties" ma:root="true" ma:fieldsID="e658bf84badca2c6b72ecb7bac72fa61" ns2:_="">
    <xsd:import namespace="e0291adc-2074-491e-a4e6-dd327137f4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291adc-2074-491e-a4e6-dd327137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86B43F-386B-4964-8FF6-49BF86E062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4ECCEC-CCDD-4E6F-86DA-99B40D8F0224}">
  <ds:schemaRefs>
    <ds:schemaRef ds:uri="http://www.sap.com/cof/powerpoint/application"/>
  </ds:schemaRefs>
</ds:datastoreItem>
</file>

<file path=customXml/itemProps3.xml><?xml version="1.0" encoding="utf-8"?>
<ds:datastoreItem xmlns:ds="http://schemas.openxmlformats.org/officeDocument/2006/customXml" ds:itemID="{9AAD35B5-73F3-4DDF-8CDD-0F78E7E5AC9B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59467a20-5d1c-4d6e-b265-fc308a978b2f"/>
    <ds:schemaRef ds:uri="http://purl.org/dc/dcmitype/"/>
    <ds:schemaRef ds:uri="03b52533-f8b8-4662-892d-543fe6dba163"/>
    <ds:schemaRef ds:uri="http://schemas.microsoft.com/office/2006/metadata/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0F6D18AA-43D8-48B5-9539-0CB0D3AEB8B1}"/>
</file>

<file path=docProps/app.xml><?xml version="1.0" encoding="utf-8"?>
<Properties xmlns="http://schemas.openxmlformats.org/officeDocument/2006/extended-properties" xmlns:vt="http://schemas.openxmlformats.org/officeDocument/2006/docPropsVTypes">
  <Template>Enel+PowerPoint+template_printfriendly_DR</Template>
  <TotalTime>0</TotalTime>
  <Words>4223</Words>
  <Application>Microsoft Office PowerPoint</Application>
  <PresentationFormat>Widescreen</PresentationFormat>
  <Paragraphs>695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Lucida Grande</vt:lpstr>
      <vt:lpstr>SourceSansPro</vt:lpstr>
      <vt:lpstr>Wingdings</vt:lpstr>
      <vt:lpstr>Enel+PowerPoint+template_printfriendly_DR</vt:lpstr>
      <vt:lpstr>1_Enel Template v2.2</vt:lpstr>
      <vt:lpstr>Diapositiva think-cell</vt:lpstr>
      <vt:lpstr>Room HR-AFC Integration</vt:lpstr>
      <vt:lpstr>Creazione UO e richiesta CC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Cruscotto Aggancio UO-CC</vt:lpstr>
      <vt:lpstr>Cruscotto aggancio UO-CC – casistica 1/2 OK - Uno o più CC idonei esistenti </vt:lpstr>
      <vt:lpstr>PowerPoint Presentation</vt:lpstr>
      <vt:lpstr>Modifica attributi UO 1/2 e richiesta CC</vt:lpstr>
      <vt:lpstr>Cruscotto Aggancio UO-CC  Modifica attributi UO 2/2</vt:lpstr>
      <vt:lpstr>Sgancio UO-CC</vt:lpstr>
      <vt:lpstr>Aggiornamento catalogo transcodifica attività Nuovo/Modifica attributo HR</vt:lpstr>
      <vt:lpstr>Aggiornamento catalogo transcodifica attività Modifica attributo CC</vt:lpstr>
      <vt:lpstr>Aggiornamento catalogo Perimetro di Consolidamento AS IS – nuova/uscita società nel consolidato</vt:lpstr>
      <vt:lpstr>Aggiornamento catalogo Perimetro di Consolidamento AS IS – per esigenze HR (società esistente lato AFC)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System Integration</dc:title>
  <dc:creator/>
  <cp:lastModifiedBy/>
  <cp:revision>2</cp:revision>
  <cp:lastPrinted>2016-01-18T12:45:27Z</cp:lastPrinted>
  <dcterms:created xsi:type="dcterms:W3CDTF">2016-01-29T08:04:45Z</dcterms:created>
  <dcterms:modified xsi:type="dcterms:W3CDTF">2024-07-02T16:59:59Z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0x0101006AD0D5D769FB1F4C8C82693089BEBB8C</vt:lpwstr>
  </property>
  <property fmtid="{D5CDD505-2E9C-101B-9397-08002B2CF9AE}" pid="3" name="AuthorIds_UIVersion_512">
    <vt:lpwstr>213</vt:lpwstr>
  </property>
  <property fmtid="{D5CDD505-2E9C-101B-9397-08002B2CF9AE}" pid="4" name="AuthorIds_UIVersion_1024">
    <vt:lpwstr>213</vt:lpwstr>
  </property>
  <property fmtid="{D5CDD505-2E9C-101B-9397-08002B2CF9AE}" pid="5" name="SharedWithUsers">
    <vt:lpwstr>1321;#Ammannati Anna Maria (DS&amp;G);#712;#Sganga Daniele (E-GI&amp;N P&amp;C);#1779;#Angioletti Luca (AFC DH);#1759;#Nascitini Mario (P&amp;O DH);#723;#Pisano Marina (P&amp;C TGX);#734;#Tenerini Fausto (AFC DH);#724;#Favazza Gianpaolo (P&amp;O DH)</vt:lpwstr>
  </property>
  <property fmtid="{D5CDD505-2E9C-101B-9397-08002B2CF9AE}" pid="6" name="MSIP_Label_00183ae1-726f-4969-b787-1995b26b5e2f_Enabled">
    <vt:lpwstr>True</vt:lpwstr>
  </property>
  <property fmtid="{D5CDD505-2E9C-101B-9397-08002B2CF9AE}" pid="7" name="MSIP_Label_00183ae1-726f-4969-b787-1995b26b5e2f_SiteId">
    <vt:lpwstr>d539d4bf-5610-471a-afc2-1c76685cfefa</vt:lpwstr>
  </property>
  <property fmtid="{D5CDD505-2E9C-101B-9397-08002B2CF9AE}" pid="8" name="MSIP_Label_00183ae1-726f-4969-b787-1995b26b5e2f_Owner">
    <vt:lpwstr>Fausto.tenerini@enel.com</vt:lpwstr>
  </property>
  <property fmtid="{D5CDD505-2E9C-101B-9397-08002B2CF9AE}" pid="9" name="MSIP_Label_00183ae1-726f-4969-b787-1995b26b5e2f_SetDate">
    <vt:lpwstr>2021-08-03T11:41:51.1788942Z</vt:lpwstr>
  </property>
  <property fmtid="{D5CDD505-2E9C-101B-9397-08002B2CF9AE}" pid="10" name="MSIP_Label_00183ae1-726f-4969-b787-1995b26b5e2f_Name">
    <vt:lpwstr>Internal</vt:lpwstr>
  </property>
  <property fmtid="{D5CDD505-2E9C-101B-9397-08002B2CF9AE}" pid="11" name="MSIP_Label_00183ae1-726f-4969-b787-1995b26b5e2f_Application">
    <vt:lpwstr>Microsoft Azure Information Protection</vt:lpwstr>
  </property>
  <property fmtid="{D5CDD505-2E9C-101B-9397-08002B2CF9AE}" pid="12" name="MSIP_Label_00183ae1-726f-4969-b787-1995b26b5e2f_ActionId">
    <vt:lpwstr>ced52745-04c0-4ac0-af95-3dcf47feec8b</vt:lpwstr>
  </property>
  <property fmtid="{D5CDD505-2E9C-101B-9397-08002B2CF9AE}" pid="13" name="MSIP_Label_00183ae1-726f-4969-b787-1995b26b5e2f_Extended_MSFT_Method">
    <vt:lpwstr>Automatic</vt:lpwstr>
  </property>
  <property fmtid="{D5CDD505-2E9C-101B-9397-08002B2CF9AE}" pid="14" name="MSIP_Label_797ad33d-ed35-43c0-b526-22bc83c17deb_Enabled">
    <vt:lpwstr>True</vt:lpwstr>
  </property>
  <property fmtid="{D5CDD505-2E9C-101B-9397-08002B2CF9AE}" pid="15" name="MSIP_Label_797ad33d-ed35-43c0-b526-22bc83c17deb_SiteId">
    <vt:lpwstr>d539d4bf-5610-471a-afc2-1c76685cfefa</vt:lpwstr>
  </property>
  <property fmtid="{D5CDD505-2E9C-101B-9397-08002B2CF9AE}" pid="16" name="MSIP_Label_797ad33d-ed35-43c0-b526-22bc83c17deb_Owner">
    <vt:lpwstr>Fausto.tenerini@enel.com</vt:lpwstr>
  </property>
  <property fmtid="{D5CDD505-2E9C-101B-9397-08002B2CF9AE}" pid="17" name="MSIP_Label_797ad33d-ed35-43c0-b526-22bc83c17deb_SetDate">
    <vt:lpwstr>2021-08-03T11:41:51.1798950Z</vt:lpwstr>
  </property>
  <property fmtid="{D5CDD505-2E9C-101B-9397-08002B2CF9AE}" pid="18" name="MSIP_Label_797ad33d-ed35-43c0-b526-22bc83c17deb_Name">
    <vt:lpwstr>Not Encrypted</vt:lpwstr>
  </property>
  <property fmtid="{D5CDD505-2E9C-101B-9397-08002B2CF9AE}" pid="19" name="MSIP_Label_797ad33d-ed35-43c0-b526-22bc83c17deb_Application">
    <vt:lpwstr>Microsoft Azure Information Protection</vt:lpwstr>
  </property>
  <property fmtid="{D5CDD505-2E9C-101B-9397-08002B2CF9AE}" pid="20" name="MSIP_Label_797ad33d-ed35-43c0-b526-22bc83c17deb_ActionId">
    <vt:lpwstr>ced52745-04c0-4ac0-af95-3dcf47feec8b</vt:lpwstr>
  </property>
  <property fmtid="{D5CDD505-2E9C-101B-9397-08002B2CF9AE}" pid="21" name="MSIP_Label_797ad33d-ed35-43c0-b526-22bc83c17deb_Parent">
    <vt:lpwstr>00183ae1-726f-4969-b787-1995b26b5e2f</vt:lpwstr>
  </property>
  <property fmtid="{D5CDD505-2E9C-101B-9397-08002B2CF9AE}" pid="22" name="MSIP_Label_797ad33d-ed35-43c0-b526-22bc83c17deb_Extended_MSFT_Method">
    <vt:lpwstr>Automatic</vt:lpwstr>
  </property>
  <property fmtid="{D5CDD505-2E9C-101B-9397-08002B2CF9AE}" pid="23" name="Sensitivity">
    <vt:lpwstr>Internal Not Encrypted</vt:lpwstr>
  </property>
</Properties>
</file>