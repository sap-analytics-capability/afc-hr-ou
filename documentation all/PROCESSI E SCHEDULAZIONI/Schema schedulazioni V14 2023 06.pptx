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 id="2147483671" r:id="rId5"/>
  </p:sldMasterIdLst>
  <p:notesMasterIdLst>
    <p:notesMasterId r:id="rId17"/>
  </p:notesMasterIdLst>
  <p:handoutMasterIdLst>
    <p:handoutMasterId r:id="rId18"/>
  </p:handoutMasterIdLst>
  <p:sldIdLst>
    <p:sldId id="612" r:id="rId6"/>
    <p:sldId id="613" r:id="rId7"/>
    <p:sldId id="609" r:id="rId8"/>
    <p:sldId id="611" r:id="rId9"/>
    <p:sldId id="607" r:id="rId10"/>
    <p:sldId id="625" r:id="rId11"/>
    <p:sldId id="620" r:id="rId12"/>
    <p:sldId id="622" r:id="rId13"/>
    <p:sldId id="623" r:id="rId14"/>
    <p:sldId id="624" r:id="rId15"/>
    <p:sldId id="626" r:id="rId16"/>
  </p:sldIdLst>
  <p:sldSz cx="12192000" cy="6858000"/>
  <p:notesSz cx="6794500" cy="9906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predefinita" id="{3A032C5B-C48A-4256-8128-1A7E2FC663D3}">
          <p14:sldIdLst>
            <p14:sldId id="612"/>
            <p14:sldId id="613"/>
            <p14:sldId id="609"/>
            <p14:sldId id="611"/>
            <p14:sldId id="607"/>
            <p14:sldId id="625"/>
            <p14:sldId id="620"/>
            <p14:sldId id="622"/>
            <p14:sldId id="623"/>
            <p14:sldId id="624"/>
            <p14:sldId id="626"/>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guide id="3" orient="horz" pos="1728" userDrawn="1">
          <p15:clr>
            <a:srgbClr val="A4A3A4"/>
          </p15:clr>
        </p15:guide>
        <p15:guide id="4" orient="horz" pos="1296" userDrawn="1">
          <p15:clr>
            <a:srgbClr val="A4A3A4"/>
          </p15:clr>
        </p15:guide>
        <p15:guide id="5" orient="horz" pos="864" userDrawn="1">
          <p15:clr>
            <a:srgbClr val="A4A3A4"/>
          </p15:clr>
        </p15:guide>
        <p15:guide id="6" orient="horz" pos="434" userDrawn="1">
          <p15:clr>
            <a:srgbClr val="A4A3A4"/>
          </p15:clr>
        </p15:guide>
        <p15:guide id="7" orient="horz" pos="2590" userDrawn="1">
          <p15:clr>
            <a:srgbClr val="A4A3A4"/>
          </p15:clr>
        </p15:guide>
        <p15:guide id="8" orient="horz" pos="3022" userDrawn="1">
          <p15:clr>
            <a:srgbClr val="A4A3A4"/>
          </p15:clr>
        </p15:guide>
        <p15:guide id="9" orient="horz" pos="3454" userDrawn="1">
          <p15:clr>
            <a:srgbClr val="A4A3A4"/>
          </p15:clr>
        </p15:guide>
        <p15:guide id="10" orient="horz" pos="3884" userDrawn="1">
          <p15:clr>
            <a:srgbClr val="A4A3A4"/>
          </p15:clr>
        </p15:guide>
        <p15:guide id="11" pos="3359" userDrawn="1">
          <p15:clr>
            <a:srgbClr val="A4A3A4"/>
          </p15:clr>
        </p15:guide>
        <p15:guide id="12" pos="2880" userDrawn="1">
          <p15:clr>
            <a:srgbClr val="A4A3A4"/>
          </p15:clr>
        </p15:guide>
        <p15:guide id="13" pos="2398" userDrawn="1">
          <p15:clr>
            <a:srgbClr val="A4A3A4"/>
          </p15:clr>
        </p15:guide>
        <p15:guide id="14" pos="1920" userDrawn="1">
          <p15:clr>
            <a:srgbClr val="A4A3A4"/>
          </p15:clr>
        </p15:guide>
        <p15:guide id="15" pos="1438" userDrawn="1">
          <p15:clr>
            <a:srgbClr val="A4A3A4"/>
          </p15:clr>
        </p15:guide>
        <p15:guide id="16" pos="960" userDrawn="1">
          <p15:clr>
            <a:srgbClr val="A4A3A4"/>
          </p15:clr>
        </p15:guide>
        <p15:guide id="17" pos="479" userDrawn="1">
          <p15:clr>
            <a:srgbClr val="A4A3A4"/>
          </p15:clr>
        </p15:guide>
        <p15:guide id="18" pos="4320" userDrawn="1">
          <p15:clr>
            <a:srgbClr val="A4A3A4"/>
          </p15:clr>
        </p15:guide>
        <p15:guide id="19" pos="4798" userDrawn="1">
          <p15:clr>
            <a:srgbClr val="A4A3A4"/>
          </p15:clr>
        </p15:guide>
        <p15:guide id="20" pos="5278" userDrawn="1">
          <p15:clr>
            <a:srgbClr val="A4A3A4"/>
          </p15:clr>
        </p15:guide>
        <p15:guide id="21" pos="5756" userDrawn="1">
          <p15:clr>
            <a:srgbClr val="A4A3A4"/>
          </p15:clr>
        </p15:guide>
        <p15:guide id="22" pos="6236" userDrawn="1">
          <p15:clr>
            <a:srgbClr val="A4A3A4"/>
          </p15:clr>
        </p15:guide>
        <p15:guide id="23" pos="6718" userDrawn="1">
          <p15:clr>
            <a:srgbClr val="A4A3A4"/>
          </p15:clr>
        </p15:guide>
        <p15:guide id="24" pos="7198" userDrawn="1">
          <p15:clr>
            <a:srgbClr val="A4A3A4"/>
          </p15:clr>
        </p15:guide>
        <p15:guide id="25" orient="horz" pos="2152">
          <p15:clr>
            <a:srgbClr val="A4A3A4"/>
          </p15:clr>
        </p15:guide>
        <p15:guide id="26" orient="horz" pos="87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80F0"/>
    <a:srgbClr val="0555FA"/>
    <a:srgbClr val="40BCEF"/>
    <a:srgbClr val="FF5A0E"/>
    <a:srgbClr val="28A35A"/>
    <a:srgbClr val="FF1B6C"/>
    <a:srgbClr val="36B25F"/>
    <a:srgbClr val="DEE9FE"/>
    <a:srgbClr val="000000"/>
    <a:srgbClr val="3BB05B"/>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D5A066-5CD2-455D-8E99-CB7A7ED9456A}" v="13" dt="2023-06-23T13:21:34.8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956" autoAdjust="0"/>
    <p:restoredTop sz="65889" autoAdjust="0"/>
  </p:normalViewPr>
  <p:slideViewPr>
    <p:cSldViewPr snapToGrid="0" snapToObjects="1">
      <p:cViewPr varScale="1">
        <p:scale>
          <a:sx n="82" d="100"/>
          <a:sy n="82" d="100"/>
        </p:scale>
        <p:origin x="1326" y="96"/>
      </p:cViewPr>
      <p:guideLst>
        <p:guide pos="3840"/>
        <p:guide orient="horz" pos="2160"/>
        <p:guide orient="horz" pos="1728"/>
        <p:guide orient="horz" pos="1296"/>
        <p:guide orient="horz" pos="864"/>
        <p:guide orient="horz" pos="434"/>
        <p:guide orient="horz" pos="2590"/>
        <p:guide orient="horz" pos="3022"/>
        <p:guide orient="horz" pos="3454"/>
        <p:guide orient="horz" pos="3884"/>
        <p:guide pos="3359"/>
        <p:guide pos="2880"/>
        <p:guide pos="2398"/>
        <p:guide pos="1920"/>
        <p:guide pos="1438"/>
        <p:guide pos="960"/>
        <p:guide pos="479"/>
        <p:guide pos="4320"/>
        <p:guide pos="4798"/>
        <p:guide pos="5278"/>
        <p:guide pos="5756"/>
        <p:guide pos="6236"/>
        <p:guide pos="6718"/>
        <p:guide pos="7198"/>
        <p:guide orient="horz" pos="2152"/>
        <p:guide orient="horz" pos="870"/>
      </p:guideLst>
    </p:cSldViewPr>
  </p:slideViewPr>
  <p:outlineViewPr>
    <p:cViewPr>
      <p:scale>
        <a:sx n="33" d="100"/>
        <a:sy n="33" d="100"/>
      </p:scale>
      <p:origin x="270" y="49248"/>
    </p:cViewPr>
  </p:outlineViewPr>
  <p:notesTextViewPr>
    <p:cViewPr>
      <p:scale>
        <a:sx n="3" d="2"/>
        <a:sy n="3" d="2"/>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82BE04-9F8A-4B4B-976C-3332D16981BC}" type="doc">
      <dgm:prSet loTypeId="urn:microsoft.com/office/officeart/2005/8/layout/process1" loCatId="process" qsTypeId="urn:microsoft.com/office/officeart/2005/8/quickstyle/simple1" qsCatId="simple" csTypeId="urn:microsoft.com/office/officeart/2005/8/colors/accent1_2" csCatId="accent1" phldr="1"/>
      <dgm:spPr/>
    </dgm:pt>
    <dgm:pt modelId="{DF6B92E0-B478-4F8C-984C-9F784B883550}">
      <dgm:prSet phldrT="[Testo]" custT="1"/>
      <dgm:spPr/>
      <dgm:t>
        <a:bodyPr/>
        <a:lstStyle/>
        <a:p>
          <a:r>
            <a:rPr lang="it-IT" sz="1600" b="1" i="1" dirty="0"/>
            <a:t>Avvio processo (SNOW)</a:t>
          </a:r>
          <a:endParaRPr lang="it-IT" sz="1600" dirty="0"/>
        </a:p>
      </dgm:t>
    </dgm:pt>
    <dgm:pt modelId="{34CB695B-9770-4CE2-8E43-6009A208B673}" type="parTrans" cxnId="{C6778D1B-14F3-4411-AE87-1EC0D3161E91}">
      <dgm:prSet/>
      <dgm:spPr/>
      <dgm:t>
        <a:bodyPr/>
        <a:lstStyle/>
        <a:p>
          <a:endParaRPr lang="it-IT" sz="900"/>
        </a:p>
      </dgm:t>
    </dgm:pt>
    <dgm:pt modelId="{F805EC3A-CEBC-4478-8541-26A323395F0F}" type="sibTrans" cxnId="{C6778D1B-14F3-4411-AE87-1EC0D3161E91}">
      <dgm:prSet/>
      <dgm:spPr/>
      <dgm:t>
        <a:bodyPr/>
        <a:lstStyle/>
        <a:p>
          <a:endParaRPr lang="it-IT" sz="900"/>
        </a:p>
      </dgm:t>
    </dgm:pt>
    <dgm:pt modelId="{04FAC73C-DADB-44C6-99C1-323BCB0FA27C}">
      <dgm:prSet phldrT="[Testo]" custT="1"/>
      <dgm:spPr/>
      <dgm:t>
        <a:bodyPr/>
        <a:lstStyle/>
        <a:p>
          <a:r>
            <a:rPr lang="it-IT" sz="1600" b="1" i="1" dirty="0"/>
            <a:t>Elaborazione FULL (AWS)*</a:t>
          </a:r>
          <a:endParaRPr lang="it-IT" sz="1600" dirty="0"/>
        </a:p>
      </dgm:t>
    </dgm:pt>
    <dgm:pt modelId="{FB00C745-FE80-4E52-B4A5-E0611AD7471D}" type="parTrans" cxnId="{E6D2C592-D7F8-4030-BFEB-11142FA42F40}">
      <dgm:prSet/>
      <dgm:spPr/>
      <dgm:t>
        <a:bodyPr/>
        <a:lstStyle/>
        <a:p>
          <a:endParaRPr lang="it-IT"/>
        </a:p>
      </dgm:t>
    </dgm:pt>
    <dgm:pt modelId="{A966113E-A371-4DE1-A1FA-F82DEB4F2AE6}" type="sibTrans" cxnId="{E6D2C592-D7F8-4030-BFEB-11142FA42F40}">
      <dgm:prSet/>
      <dgm:spPr/>
      <dgm:t>
        <a:bodyPr/>
        <a:lstStyle/>
        <a:p>
          <a:endParaRPr lang="it-IT"/>
        </a:p>
      </dgm:t>
    </dgm:pt>
    <dgm:pt modelId="{89F0AF7A-D926-491B-9611-671F2746D6B2}" type="pres">
      <dgm:prSet presAssocID="{2D82BE04-9F8A-4B4B-976C-3332D16981BC}" presName="Name0" presStyleCnt="0">
        <dgm:presLayoutVars>
          <dgm:dir/>
          <dgm:resizeHandles val="exact"/>
        </dgm:presLayoutVars>
      </dgm:prSet>
      <dgm:spPr/>
    </dgm:pt>
    <dgm:pt modelId="{370C4B97-4B48-41AD-9564-6BC38ED25CB8}" type="pres">
      <dgm:prSet presAssocID="{04FAC73C-DADB-44C6-99C1-323BCB0FA27C}" presName="node" presStyleLbl="node1" presStyleIdx="0" presStyleCnt="2">
        <dgm:presLayoutVars>
          <dgm:bulletEnabled val="1"/>
        </dgm:presLayoutVars>
      </dgm:prSet>
      <dgm:spPr/>
    </dgm:pt>
    <dgm:pt modelId="{BE655AC8-0B6D-4478-8DBC-614BA9A80FEE}" type="pres">
      <dgm:prSet presAssocID="{A966113E-A371-4DE1-A1FA-F82DEB4F2AE6}" presName="sibTrans" presStyleLbl="sibTrans2D1" presStyleIdx="0" presStyleCnt="1"/>
      <dgm:spPr/>
    </dgm:pt>
    <dgm:pt modelId="{583BC1D9-04A9-4015-9CE8-F0845349D0E9}" type="pres">
      <dgm:prSet presAssocID="{A966113E-A371-4DE1-A1FA-F82DEB4F2AE6}" presName="connectorText" presStyleLbl="sibTrans2D1" presStyleIdx="0" presStyleCnt="1"/>
      <dgm:spPr/>
    </dgm:pt>
    <dgm:pt modelId="{82AB69BB-F73C-4255-8FE1-723E7507B2E5}" type="pres">
      <dgm:prSet presAssocID="{DF6B92E0-B478-4F8C-984C-9F784B883550}" presName="node" presStyleLbl="node1" presStyleIdx="1" presStyleCnt="2" custLinFactNeighborY="-1161">
        <dgm:presLayoutVars>
          <dgm:bulletEnabled val="1"/>
        </dgm:presLayoutVars>
      </dgm:prSet>
      <dgm:spPr/>
    </dgm:pt>
  </dgm:ptLst>
  <dgm:cxnLst>
    <dgm:cxn modelId="{D4E50F17-114B-461E-951A-EF36A089FD1D}" type="presOf" srcId="{A966113E-A371-4DE1-A1FA-F82DEB4F2AE6}" destId="{BE655AC8-0B6D-4478-8DBC-614BA9A80FEE}" srcOrd="0" destOrd="0" presId="urn:microsoft.com/office/officeart/2005/8/layout/process1"/>
    <dgm:cxn modelId="{C6778D1B-14F3-4411-AE87-1EC0D3161E91}" srcId="{2D82BE04-9F8A-4B4B-976C-3332D16981BC}" destId="{DF6B92E0-B478-4F8C-984C-9F784B883550}" srcOrd="1" destOrd="0" parTransId="{34CB695B-9770-4CE2-8E43-6009A208B673}" sibTransId="{F805EC3A-CEBC-4478-8541-26A323395F0F}"/>
    <dgm:cxn modelId="{DB6A418D-30DF-47DF-95C8-8E730F3F0421}" type="presOf" srcId="{DF6B92E0-B478-4F8C-984C-9F784B883550}" destId="{82AB69BB-F73C-4255-8FE1-723E7507B2E5}" srcOrd="0" destOrd="0" presId="urn:microsoft.com/office/officeart/2005/8/layout/process1"/>
    <dgm:cxn modelId="{E6D2C592-D7F8-4030-BFEB-11142FA42F40}" srcId="{2D82BE04-9F8A-4B4B-976C-3332D16981BC}" destId="{04FAC73C-DADB-44C6-99C1-323BCB0FA27C}" srcOrd="0" destOrd="0" parTransId="{FB00C745-FE80-4E52-B4A5-E0611AD7471D}" sibTransId="{A966113E-A371-4DE1-A1FA-F82DEB4F2AE6}"/>
    <dgm:cxn modelId="{545F9DAA-5DFE-47ED-B7D1-2F257B82D5CD}" type="presOf" srcId="{A966113E-A371-4DE1-A1FA-F82DEB4F2AE6}" destId="{583BC1D9-04A9-4015-9CE8-F0845349D0E9}" srcOrd="1" destOrd="0" presId="urn:microsoft.com/office/officeart/2005/8/layout/process1"/>
    <dgm:cxn modelId="{13329CCC-7558-40C3-971F-96A96694BDA2}" type="presOf" srcId="{04FAC73C-DADB-44C6-99C1-323BCB0FA27C}" destId="{370C4B97-4B48-41AD-9564-6BC38ED25CB8}" srcOrd="0" destOrd="0" presId="urn:microsoft.com/office/officeart/2005/8/layout/process1"/>
    <dgm:cxn modelId="{655926E9-436B-4E77-A226-A49BAE31D60A}" type="presOf" srcId="{2D82BE04-9F8A-4B4B-976C-3332D16981BC}" destId="{89F0AF7A-D926-491B-9611-671F2746D6B2}" srcOrd="0" destOrd="0" presId="urn:microsoft.com/office/officeart/2005/8/layout/process1"/>
    <dgm:cxn modelId="{BC12B2AE-329F-49A9-8AA4-BE49A2E9F537}" type="presParOf" srcId="{89F0AF7A-D926-491B-9611-671F2746D6B2}" destId="{370C4B97-4B48-41AD-9564-6BC38ED25CB8}" srcOrd="0" destOrd="0" presId="urn:microsoft.com/office/officeart/2005/8/layout/process1"/>
    <dgm:cxn modelId="{AD73528A-5EAF-4078-9546-0205A1BAF03E}" type="presParOf" srcId="{89F0AF7A-D926-491B-9611-671F2746D6B2}" destId="{BE655AC8-0B6D-4478-8DBC-614BA9A80FEE}" srcOrd="1" destOrd="0" presId="urn:microsoft.com/office/officeart/2005/8/layout/process1"/>
    <dgm:cxn modelId="{7269ECB6-197D-49C4-B746-C2D95FD39C92}" type="presParOf" srcId="{BE655AC8-0B6D-4478-8DBC-614BA9A80FEE}" destId="{583BC1D9-04A9-4015-9CE8-F0845349D0E9}" srcOrd="0" destOrd="0" presId="urn:microsoft.com/office/officeart/2005/8/layout/process1"/>
    <dgm:cxn modelId="{FBE2DCC1-14F7-4EB4-AFA8-E4E78CFBF31B}" type="presParOf" srcId="{89F0AF7A-D926-491B-9611-671F2746D6B2}" destId="{82AB69BB-F73C-4255-8FE1-723E7507B2E5}"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82BE04-9F8A-4B4B-976C-3332D16981BC}" type="doc">
      <dgm:prSet loTypeId="urn:microsoft.com/office/officeart/2005/8/layout/process1" loCatId="process" qsTypeId="urn:microsoft.com/office/officeart/2005/8/quickstyle/simple1" qsCatId="simple" csTypeId="urn:microsoft.com/office/officeart/2005/8/colors/accent1_2" csCatId="accent1" phldr="1"/>
      <dgm:spPr/>
    </dgm:pt>
    <dgm:pt modelId="{89F0AF7A-D926-491B-9611-671F2746D6B2}" type="pres">
      <dgm:prSet presAssocID="{2D82BE04-9F8A-4B4B-976C-3332D16981BC}" presName="Name0" presStyleCnt="0">
        <dgm:presLayoutVars>
          <dgm:dir/>
          <dgm:resizeHandles val="exact"/>
        </dgm:presLayoutVars>
      </dgm:prSet>
      <dgm:spPr/>
    </dgm:pt>
  </dgm:ptLst>
  <dgm:cxnLst>
    <dgm:cxn modelId="{36198F1C-DD8B-4389-8257-DB25C4FD23F1}" type="presOf" srcId="{2D82BE04-9F8A-4B4B-976C-3332D16981BC}" destId="{89F0AF7A-D926-491B-9611-671F2746D6B2}" srcOrd="0"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82BE04-9F8A-4B4B-976C-3332D16981BC}" type="doc">
      <dgm:prSet loTypeId="urn:microsoft.com/office/officeart/2005/8/layout/process1" loCatId="process" qsTypeId="urn:microsoft.com/office/officeart/2005/8/quickstyle/simple1" qsCatId="simple" csTypeId="urn:microsoft.com/office/officeart/2005/8/colors/accent1_2" csCatId="accent1" phldr="1"/>
      <dgm:spPr/>
    </dgm:pt>
    <dgm:pt modelId="{04FAC73C-DADB-44C6-99C1-323BCB0FA27C}">
      <dgm:prSet phldrT="[Testo]" custT="1"/>
      <dgm:spPr/>
      <dgm:t>
        <a:bodyPr/>
        <a:lstStyle/>
        <a:p>
          <a:r>
            <a:rPr lang="it-IT" sz="2000" b="1" i="1" dirty="0"/>
            <a:t>Aggancio automatico a CC </a:t>
          </a:r>
          <a:r>
            <a:rPr lang="it-IT" sz="2000" b="1" i="1" dirty="0" err="1"/>
            <a:t>dummy</a:t>
          </a:r>
          <a:r>
            <a:rPr lang="it-IT" sz="2000" b="1" i="1" dirty="0"/>
            <a:t>  (SNOW) </a:t>
          </a:r>
          <a:endParaRPr lang="it-IT" sz="2000" dirty="0"/>
        </a:p>
      </dgm:t>
    </dgm:pt>
    <dgm:pt modelId="{FB00C745-FE80-4E52-B4A5-E0611AD7471D}" type="parTrans" cxnId="{E6D2C592-D7F8-4030-BFEB-11142FA42F40}">
      <dgm:prSet/>
      <dgm:spPr/>
      <dgm:t>
        <a:bodyPr/>
        <a:lstStyle/>
        <a:p>
          <a:endParaRPr lang="it-IT"/>
        </a:p>
      </dgm:t>
    </dgm:pt>
    <dgm:pt modelId="{A966113E-A371-4DE1-A1FA-F82DEB4F2AE6}" type="sibTrans" cxnId="{E6D2C592-D7F8-4030-BFEB-11142FA42F40}">
      <dgm:prSet/>
      <dgm:spPr/>
      <dgm:t>
        <a:bodyPr/>
        <a:lstStyle/>
        <a:p>
          <a:endParaRPr lang="it-IT"/>
        </a:p>
      </dgm:t>
    </dgm:pt>
    <dgm:pt modelId="{89F0AF7A-D926-491B-9611-671F2746D6B2}" type="pres">
      <dgm:prSet presAssocID="{2D82BE04-9F8A-4B4B-976C-3332D16981BC}" presName="Name0" presStyleCnt="0">
        <dgm:presLayoutVars>
          <dgm:dir/>
          <dgm:resizeHandles val="exact"/>
        </dgm:presLayoutVars>
      </dgm:prSet>
      <dgm:spPr/>
    </dgm:pt>
    <dgm:pt modelId="{370C4B97-4B48-41AD-9564-6BC38ED25CB8}" type="pres">
      <dgm:prSet presAssocID="{04FAC73C-DADB-44C6-99C1-323BCB0FA27C}" presName="node" presStyleLbl="node1" presStyleIdx="0" presStyleCnt="1">
        <dgm:presLayoutVars>
          <dgm:bulletEnabled val="1"/>
        </dgm:presLayoutVars>
      </dgm:prSet>
      <dgm:spPr/>
    </dgm:pt>
  </dgm:ptLst>
  <dgm:cxnLst>
    <dgm:cxn modelId="{650B840F-6183-4CBD-AEA4-B77F8BCDA7A9}" type="presOf" srcId="{04FAC73C-DADB-44C6-99C1-323BCB0FA27C}" destId="{370C4B97-4B48-41AD-9564-6BC38ED25CB8}" srcOrd="0" destOrd="0" presId="urn:microsoft.com/office/officeart/2005/8/layout/process1"/>
    <dgm:cxn modelId="{28006212-A49C-442F-BF35-353202B2048B}" type="presOf" srcId="{2D82BE04-9F8A-4B4B-976C-3332D16981BC}" destId="{89F0AF7A-D926-491B-9611-671F2746D6B2}" srcOrd="0" destOrd="0" presId="urn:microsoft.com/office/officeart/2005/8/layout/process1"/>
    <dgm:cxn modelId="{E6D2C592-D7F8-4030-BFEB-11142FA42F40}" srcId="{2D82BE04-9F8A-4B4B-976C-3332D16981BC}" destId="{04FAC73C-DADB-44C6-99C1-323BCB0FA27C}" srcOrd="0" destOrd="0" parTransId="{FB00C745-FE80-4E52-B4A5-E0611AD7471D}" sibTransId="{A966113E-A371-4DE1-A1FA-F82DEB4F2AE6}"/>
    <dgm:cxn modelId="{3DAA91A2-963C-406E-B995-87BE7ECB4BED}" type="presParOf" srcId="{89F0AF7A-D926-491B-9611-671F2746D6B2}" destId="{370C4B97-4B48-41AD-9564-6BC38ED25CB8}" srcOrd="0"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D82BE04-9F8A-4B4B-976C-3332D16981BC}" type="doc">
      <dgm:prSet loTypeId="urn:microsoft.com/office/officeart/2005/8/layout/process1" loCatId="process" qsTypeId="urn:microsoft.com/office/officeart/2005/8/quickstyle/simple1" qsCatId="simple" csTypeId="urn:microsoft.com/office/officeart/2005/8/colors/accent1_2" csCatId="accent1" phldr="1"/>
      <dgm:spPr/>
    </dgm:pt>
    <dgm:pt modelId="{89F0AF7A-D926-491B-9611-671F2746D6B2}" type="pres">
      <dgm:prSet presAssocID="{2D82BE04-9F8A-4B4B-976C-3332D16981BC}" presName="Name0" presStyleCnt="0">
        <dgm:presLayoutVars>
          <dgm:dir/>
          <dgm:resizeHandles val="exact"/>
        </dgm:presLayoutVars>
      </dgm:prSet>
      <dgm:spPr/>
    </dgm:pt>
  </dgm:ptLst>
  <dgm:cxnLst>
    <dgm:cxn modelId="{C0B31D62-80B1-409F-99DB-F5FEC6E4445B}" type="presOf" srcId="{2D82BE04-9F8A-4B4B-976C-3332D16981BC}" destId="{89F0AF7A-D926-491B-9611-671F2746D6B2}"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D82BE04-9F8A-4B4B-976C-3332D16981BC}" type="doc">
      <dgm:prSet loTypeId="urn:microsoft.com/office/officeart/2005/8/layout/process1" loCatId="process" qsTypeId="urn:microsoft.com/office/officeart/2005/8/quickstyle/simple1" qsCatId="simple" csTypeId="urn:microsoft.com/office/officeart/2005/8/colors/accent1_2" csCatId="accent1" phldr="1"/>
      <dgm:spPr/>
    </dgm:pt>
    <dgm:pt modelId="{89F0AF7A-D926-491B-9611-671F2746D6B2}" type="pres">
      <dgm:prSet presAssocID="{2D82BE04-9F8A-4B4B-976C-3332D16981BC}" presName="Name0" presStyleCnt="0">
        <dgm:presLayoutVars>
          <dgm:dir/>
          <dgm:resizeHandles val="exact"/>
        </dgm:presLayoutVars>
      </dgm:prSet>
      <dgm:spPr/>
    </dgm:pt>
  </dgm:ptLst>
  <dgm:cxnLst>
    <dgm:cxn modelId="{C0B31D62-80B1-409F-99DB-F5FEC6E4445B}" type="presOf" srcId="{2D82BE04-9F8A-4B4B-976C-3332D16981BC}" destId="{89F0AF7A-D926-491B-9611-671F2746D6B2}"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0C4B97-4B48-41AD-9564-6BC38ED25CB8}">
      <dsp:nvSpPr>
        <dsp:cNvPr id="0" name=""/>
        <dsp:cNvSpPr/>
      </dsp:nvSpPr>
      <dsp:spPr>
        <a:xfrm>
          <a:off x="1587" y="0"/>
          <a:ext cx="3385343" cy="70959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it-IT" sz="1600" b="1" i="1" kern="1200" dirty="0"/>
            <a:t>Elaborazione FULL (AWS)*</a:t>
          </a:r>
          <a:endParaRPr lang="it-IT" sz="1600" kern="1200" dirty="0"/>
        </a:p>
      </dsp:txBody>
      <dsp:txXfrm>
        <a:off x="22370" y="20783"/>
        <a:ext cx="3343777" cy="668032"/>
      </dsp:txXfrm>
    </dsp:sp>
    <dsp:sp modelId="{BE655AC8-0B6D-4478-8DBC-614BA9A80FEE}">
      <dsp:nvSpPr>
        <dsp:cNvPr id="0" name=""/>
        <dsp:cNvSpPr/>
      </dsp:nvSpPr>
      <dsp:spPr>
        <a:xfrm>
          <a:off x="3725465" y="0"/>
          <a:ext cx="717692" cy="70959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endParaRPr lang="it-IT" sz="3200" kern="1200"/>
        </a:p>
      </dsp:txBody>
      <dsp:txXfrm>
        <a:off x="3725465" y="141920"/>
        <a:ext cx="504813" cy="425758"/>
      </dsp:txXfrm>
    </dsp:sp>
    <dsp:sp modelId="{82AB69BB-F73C-4255-8FE1-723E7507B2E5}">
      <dsp:nvSpPr>
        <dsp:cNvPr id="0" name=""/>
        <dsp:cNvSpPr/>
      </dsp:nvSpPr>
      <dsp:spPr>
        <a:xfrm>
          <a:off x="4741068" y="0"/>
          <a:ext cx="3385343" cy="70959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it-IT" sz="1600" b="1" i="1" kern="1200" dirty="0"/>
            <a:t>Avvio processo (SNOW)</a:t>
          </a:r>
          <a:endParaRPr lang="it-IT" sz="1600" kern="1200" dirty="0"/>
        </a:p>
      </dsp:txBody>
      <dsp:txXfrm>
        <a:off x="4761851" y="20783"/>
        <a:ext cx="3343777" cy="6680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0C4B97-4B48-41AD-9564-6BC38ED25CB8}">
      <dsp:nvSpPr>
        <dsp:cNvPr id="0" name=""/>
        <dsp:cNvSpPr/>
      </dsp:nvSpPr>
      <dsp:spPr>
        <a:xfrm>
          <a:off x="3968" y="0"/>
          <a:ext cx="8120062" cy="9809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it-IT" sz="2000" b="1" i="1" kern="1200" dirty="0"/>
            <a:t>Aggancio automatico a CC </a:t>
          </a:r>
          <a:r>
            <a:rPr lang="it-IT" sz="2000" b="1" i="1" kern="1200" dirty="0" err="1"/>
            <a:t>dummy</a:t>
          </a:r>
          <a:r>
            <a:rPr lang="it-IT" sz="2000" b="1" i="1" kern="1200" dirty="0"/>
            <a:t>  (SNOW) </a:t>
          </a:r>
          <a:endParaRPr lang="it-IT" sz="2000" kern="1200" dirty="0"/>
        </a:p>
      </dsp:txBody>
      <dsp:txXfrm>
        <a:off x="32698" y="28730"/>
        <a:ext cx="8062602" cy="9234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53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48645" y="0"/>
            <a:ext cx="2944283" cy="495300"/>
          </a:xfrm>
          <a:prstGeom prst="rect">
            <a:avLst/>
          </a:prstGeom>
        </p:spPr>
        <p:txBody>
          <a:bodyPr vert="horz" lIns="91440" tIns="45720" rIns="91440" bIns="45720" rtlCol="0"/>
          <a:lstStyle>
            <a:lvl1pPr algn="r">
              <a:defRPr sz="1200"/>
            </a:lvl1pPr>
          </a:lstStyle>
          <a:p>
            <a:fld id="{4A71F510-2865-AD40-B295-EFE53B47B615}" type="datetimeFigureOut">
              <a:rPr lang="en-US" smtClean="0"/>
              <a:pPr/>
              <a:t>6/23/2023</a:t>
            </a:fld>
            <a:endParaRPr lang="en-US" dirty="0"/>
          </a:p>
        </p:txBody>
      </p:sp>
      <p:sp>
        <p:nvSpPr>
          <p:cNvPr id="4" name="Footer Placeholder 3"/>
          <p:cNvSpPr>
            <a:spLocks noGrp="1"/>
          </p:cNvSpPr>
          <p:nvPr>
            <p:ph type="ftr" sz="quarter" idx="2"/>
          </p:nvPr>
        </p:nvSpPr>
        <p:spPr>
          <a:xfrm>
            <a:off x="0" y="9408981"/>
            <a:ext cx="2944283" cy="4953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48645" y="9408981"/>
            <a:ext cx="2944283" cy="495300"/>
          </a:xfrm>
          <a:prstGeom prst="rect">
            <a:avLst/>
          </a:prstGeom>
        </p:spPr>
        <p:txBody>
          <a:bodyPr vert="horz" lIns="91440" tIns="45720" rIns="91440" bIns="45720" rtlCol="0" anchor="b"/>
          <a:lstStyle>
            <a:lvl1pPr algn="r">
              <a:defRPr sz="1200"/>
            </a:lvl1pPr>
          </a:lstStyle>
          <a:p>
            <a:fld id="{FB7C96FB-A7F6-4D46-979D-BE69A3DE088F}" type="slidenum">
              <a:rPr lang="en-US" smtClean="0"/>
              <a:pPr/>
              <a:t>‹#›</a:t>
            </a:fld>
            <a:endParaRPr lang="en-US" dirty="0"/>
          </a:p>
        </p:txBody>
      </p:sp>
    </p:spTree>
    <p:extLst>
      <p:ext uri="{BB962C8B-B14F-4D97-AF65-F5344CB8AC3E}">
        <p14:creationId xmlns:p14="http://schemas.microsoft.com/office/powerpoint/2010/main" val="42405753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702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48645" y="0"/>
            <a:ext cx="2944283" cy="497020"/>
          </a:xfrm>
          <a:prstGeom prst="rect">
            <a:avLst/>
          </a:prstGeom>
        </p:spPr>
        <p:txBody>
          <a:bodyPr vert="horz" lIns="91440" tIns="45720" rIns="91440" bIns="45720" rtlCol="0"/>
          <a:lstStyle>
            <a:lvl1pPr algn="r">
              <a:defRPr sz="1200"/>
            </a:lvl1pPr>
          </a:lstStyle>
          <a:p>
            <a:fld id="{038A2DA8-FDC1-D147-9E87-8AE9AC161936}" type="datetimeFigureOut">
              <a:rPr lang="en-GB" smtClean="0"/>
              <a:pPr/>
              <a:t>23/06/2023</a:t>
            </a:fld>
            <a:endParaRPr lang="en-GB" dirty="0"/>
          </a:p>
        </p:txBody>
      </p:sp>
      <p:sp>
        <p:nvSpPr>
          <p:cNvPr id="4" name="Slide Image Placeholder 3"/>
          <p:cNvSpPr>
            <a:spLocks noGrp="1" noRot="1" noChangeAspect="1"/>
          </p:cNvSpPr>
          <p:nvPr>
            <p:ph type="sldImg" idx="2"/>
          </p:nvPr>
        </p:nvSpPr>
        <p:spPr>
          <a:xfrm>
            <a:off x="425450" y="1238250"/>
            <a:ext cx="5943600" cy="3343275"/>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79450" y="4767262"/>
            <a:ext cx="5435600" cy="390048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408981"/>
            <a:ext cx="2944283" cy="497019"/>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48645" y="9408981"/>
            <a:ext cx="2944283" cy="497019"/>
          </a:xfrm>
          <a:prstGeom prst="rect">
            <a:avLst/>
          </a:prstGeom>
        </p:spPr>
        <p:txBody>
          <a:bodyPr vert="horz" lIns="91440" tIns="45720" rIns="91440" bIns="45720" rtlCol="0" anchor="b"/>
          <a:lstStyle>
            <a:lvl1pPr algn="r">
              <a:defRPr sz="1200"/>
            </a:lvl1pPr>
          </a:lstStyle>
          <a:p>
            <a:fld id="{1A54B304-E99A-554B-A154-AA493B70D9FA}" type="slidenum">
              <a:rPr lang="en-GB" smtClean="0"/>
              <a:pPr/>
              <a:t>‹#›</a:t>
            </a:fld>
            <a:endParaRPr lang="en-GB" dirty="0"/>
          </a:p>
        </p:txBody>
      </p:sp>
    </p:spTree>
    <p:extLst>
      <p:ext uri="{BB962C8B-B14F-4D97-AF65-F5344CB8AC3E}">
        <p14:creationId xmlns:p14="http://schemas.microsoft.com/office/powerpoint/2010/main" val="19503023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762001" y="1723877"/>
            <a:ext cx="7616824" cy="1368425"/>
          </a:xfrm>
        </p:spPr>
        <p:txBody>
          <a:bodyPr anchor="t">
            <a:noAutofit/>
          </a:bodyPr>
          <a:lstStyle>
            <a:lvl1pPr algn="l">
              <a:defRPr sz="4800">
                <a:solidFill>
                  <a:schemeClr val="tx1"/>
                </a:solidFill>
              </a:defRPr>
            </a:lvl1pPr>
          </a:lstStyle>
          <a:p>
            <a:r>
              <a:rPr lang="it-IT"/>
              <a:t>Fare clic per modificare lo stile del titolo</a:t>
            </a:r>
            <a:endParaRPr lang="en-GB" dirty="0"/>
          </a:p>
        </p:txBody>
      </p:sp>
      <p:sp>
        <p:nvSpPr>
          <p:cNvPr id="3" name="Subtitle 2"/>
          <p:cNvSpPr>
            <a:spLocks noGrp="1"/>
          </p:cNvSpPr>
          <p:nvPr>
            <p:ph type="subTitle" idx="1"/>
          </p:nvPr>
        </p:nvSpPr>
        <p:spPr>
          <a:xfrm>
            <a:off x="2282825" y="3429007"/>
            <a:ext cx="6109388" cy="276999"/>
          </a:xfrm>
        </p:spPr>
        <p:txBody>
          <a:bodyPr anchor="t">
            <a:noAutofit/>
          </a:bodyPr>
          <a:lstStyle>
            <a:lvl1pPr marL="0" indent="0" algn="l">
              <a:lnSpc>
                <a:spcPct val="90000"/>
              </a:lnSpc>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GB" dirty="0"/>
          </a:p>
        </p:txBody>
      </p:sp>
      <p:sp>
        <p:nvSpPr>
          <p:cNvPr id="4" name="Date Placeholder 3"/>
          <p:cNvSpPr>
            <a:spLocks noGrp="1"/>
          </p:cNvSpPr>
          <p:nvPr>
            <p:ph type="dt" sz="half" idx="10"/>
          </p:nvPr>
        </p:nvSpPr>
        <p:spPr>
          <a:xfrm>
            <a:off x="765519" y="3429007"/>
            <a:ext cx="1510613" cy="276999"/>
          </a:xfrm>
        </p:spPr>
        <p:txBody>
          <a:bodyPr anchor="t">
            <a:noAutofit/>
          </a:bodyPr>
          <a:lstStyle>
            <a:lvl1pPr>
              <a:lnSpc>
                <a:spcPct val="90000"/>
              </a:lnSpc>
              <a:defRPr sz="1800">
                <a:solidFill>
                  <a:schemeClr val="tx1"/>
                </a:solidFill>
              </a:defRPr>
            </a:lvl1pPr>
          </a:lstStyle>
          <a:p>
            <a:r>
              <a:rPr lang="it-IT" dirty="0"/>
              <a:t>19/09/2016</a:t>
            </a:r>
            <a:endParaRPr lang="en-GB" dirty="0"/>
          </a:p>
        </p:txBody>
      </p:sp>
      <p:sp>
        <p:nvSpPr>
          <p:cNvPr id="9" name="Rectangle 8"/>
          <p:cNvSpPr/>
          <p:nvPr userDrawn="1"/>
        </p:nvSpPr>
        <p:spPr>
          <a:xfrm rot="16200000">
            <a:off x="1615349" y="-157777"/>
            <a:ext cx="691602" cy="23982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endParaRPr lang="en-GB" dirty="0">
              <a:solidFill>
                <a:schemeClr val="tx1"/>
              </a:solidFill>
            </a:endParaRPr>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948332" y="5638329"/>
            <a:ext cx="1478493" cy="535932"/>
          </a:xfrm>
          <a:prstGeom prst="rect">
            <a:avLst/>
          </a:prstGeom>
        </p:spPr>
      </p:pic>
    </p:spTree>
    <p:extLst>
      <p:ext uri="{BB962C8B-B14F-4D97-AF65-F5344CB8AC3E}">
        <p14:creationId xmlns:p14="http://schemas.microsoft.com/office/powerpoint/2010/main" val="701318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GB" dirty="0"/>
          </a:p>
        </p:txBody>
      </p:sp>
      <p:sp>
        <p:nvSpPr>
          <p:cNvPr id="3" name="Content Placeholder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dirty="0"/>
          </a:p>
        </p:txBody>
      </p:sp>
      <p:sp>
        <p:nvSpPr>
          <p:cNvPr id="4" name="Date Placeholder 3"/>
          <p:cNvSpPr>
            <a:spLocks noGrp="1"/>
          </p:cNvSpPr>
          <p:nvPr>
            <p:ph type="dt" sz="half" idx="10"/>
          </p:nvPr>
        </p:nvSpPr>
        <p:spPr/>
        <p:txBody>
          <a:bodyPr/>
          <a:lstStyle>
            <a:lvl1pPr>
              <a:lnSpc>
                <a:spcPct val="90000"/>
              </a:lnSpc>
              <a:defRPr/>
            </a:lvl1pPr>
          </a:lstStyle>
          <a:p>
            <a:r>
              <a:rPr lang="it-IT" dirty="0"/>
              <a:t>19/09/2016</a:t>
            </a:r>
            <a:endParaRPr lang="en-GB" dirty="0"/>
          </a:p>
        </p:txBody>
      </p:sp>
      <p:sp>
        <p:nvSpPr>
          <p:cNvPr id="5" name="Footer Placeholder 4"/>
          <p:cNvSpPr>
            <a:spLocks noGrp="1"/>
          </p:cNvSpPr>
          <p:nvPr>
            <p:ph type="ftr" sz="quarter" idx="11"/>
          </p:nvPr>
        </p:nvSpPr>
        <p:spPr/>
        <p:txBody>
          <a:bodyPr/>
          <a:lstStyle>
            <a:lvl1pPr>
              <a:lnSpc>
                <a:spcPct val="90000"/>
              </a:lnSpc>
              <a:defRPr/>
            </a:lvl1pPr>
          </a:lstStyle>
          <a:p>
            <a:r>
              <a:rPr lang="en-GB" dirty="0"/>
              <a:t>Reporting &amp; Analytics</a:t>
            </a:r>
          </a:p>
        </p:txBody>
      </p:sp>
      <p:sp>
        <p:nvSpPr>
          <p:cNvPr id="6" name="Slide Number Placeholder 5"/>
          <p:cNvSpPr>
            <a:spLocks noGrp="1"/>
          </p:cNvSpPr>
          <p:nvPr>
            <p:ph type="sldNum" sz="quarter" idx="12"/>
          </p:nvPr>
        </p:nvSpPr>
        <p:spPr/>
        <p:txBody>
          <a:bodyPr/>
          <a:lstStyle>
            <a:lvl1pPr>
              <a:lnSpc>
                <a:spcPct val="90000"/>
              </a:lnSpc>
              <a:defRPr/>
            </a:lvl1pPr>
          </a:lstStyle>
          <a:p>
            <a:fld id="{1ED2235E-0982-3B42-A838-A74550CD4449}" type="slidenum">
              <a:rPr lang="en-GB" smtClean="0"/>
              <a:pPr/>
              <a:t>‹#›</a:t>
            </a:fld>
            <a:endParaRPr lang="en-GB" dirty="0"/>
          </a:p>
        </p:txBody>
      </p:sp>
      <p:sp>
        <p:nvSpPr>
          <p:cNvPr id="8" name="Text Placeholder 7"/>
          <p:cNvSpPr>
            <a:spLocks noGrp="1"/>
          </p:cNvSpPr>
          <p:nvPr>
            <p:ph type="body" sz="quarter" idx="13" hasCustomPrompt="1"/>
          </p:nvPr>
        </p:nvSpPr>
        <p:spPr>
          <a:xfrm>
            <a:off x="761999" y="1085366"/>
            <a:ext cx="8375651" cy="276999"/>
          </a:xfrm>
        </p:spPr>
        <p:txBody>
          <a:bodyPr rIns="0">
            <a:noAutofit/>
          </a:bodyPr>
          <a:lstStyle>
            <a:lvl1pPr>
              <a:defRPr sz="1800"/>
            </a:lvl1pPr>
          </a:lstStyle>
          <a:p>
            <a:pPr lvl="0"/>
            <a:r>
              <a:rPr lang="en-GB" dirty="0"/>
              <a:t>Click to edit Master subtitle style if required</a:t>
            </a:r>
            <a:endParaRPr lang="en-US" dirty="0"/>
          </a:p>
        </p:txBody>
      </p:sp>
    </p:spTree>
    <p:extLst>
      <p:ext uri="{BB962C8B-B14F-4D97-AF65-F5344CB8AC3E}">
        <p14:creationId xmlns:p14="http://schemas.microsoft.com/office/powerpoint/2010/main" val="401995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estazione sezione">
    <p:bg>
      <p:bgPr>
        <a:solidFill>
          <a:schemeClr val="bg1"/>
        </a:solidFill>
        <a:effectLst/>
      </p:bgPr>
    </p:bg>
    <p:spTree>
      <p:nvGrpSpPr>
        <p:cNvPr id="1" name=""/>
        <p:cNvGrpSpPr/>
        <p:nvPr/>
      </p:nvGrpSpPr>
      <p:grpSpPr>
        <a:xfrm>
          <a:off x="0" y="0"/>
          <a:ext cx="0" cy="0"/>
          <a:chOff x="0" y="0"/>
          <a:chExt cx="0" cy="0"/>
        </a:xfrm>
      </p:grpSpPr>
      <p:sp>
        <p:nvSpPr>
          <p:cNvPr id="9" name="Date Placeholder 1"/>
          <p:cNvSpPr>
            <a:spLocks noGrp="1"/>
          </p:cNvSpPr>
          <p:nvPr>
            <p:ph type="dt" sz="half" idx="10"/>
          </p:nvPr>
        </p:nvSpPr>
        <p:spPr>
          <a:xfrm>
            <a:off x="772211" y="6264005"/>
            <a:ext cx="1510613" cy="153888"/>
          </a:xfrm>
        </p:spPr>
        <p:txBody>
          <a:bodyPr/>
          <a:lstStyle>
            <a:lvl1pPr>
              <a:defRPr>
                <a:solidFill>
                  <a:schemeClr val="tx2">
                    <a:lumMod val="75000"/>
                  </a:schemeClr>
                </a:solidFill>
              </a:defRPr>
            </a:lvl1pPr>
          </a:lstStyle>
          <a:p>
            <a:r>
              <a:rPr lang="it-IT" dirty="0"/>
              <a:t>19/09/2016</a:t>
            </a:r>
            <a:endParaRPr lang="en-GB" dirty="0"/>
          </a:p>
        </p:txBody>
      </p:sp>
      <p:sp>
        <p:nvSpPr>
          <p:cNvPr id="12" name="Footer Placeholder 2"/>
          <p:cNvSpPr>
            <a:spLocks noGrp="1"/>
          </p:cNvSpPr>
          <p:nvPr>
            <p:ph type="ftr" sz="quarter" idx="11"/>
          </p:nvPr>
        </p:nvSpPr>
        <p:spPr>
          <a:xfrm>
            <a:off x="2282825" y="6264005"/>
            <a:ext cx="8381999" cy="153888"/>
          </a:xfrm>
        </p:spPr>
        <p:txBody>
          <a:bodyPr/>
          <a:lstStyle>
            <a:lvl1pPr>
              <a:defRPr>
                <a:solidFill>
                  <a:schemeClr val="tx2">
                    <a:lumMod val="75000"/>
                  </a:schemeClr>
                </a:solidFill>
              </a:defRPr>
            </a:lvl1pPr>
          </a:lstStyle>
          <a:p>
            <a:r>
              <a:rPr lang="en-GB" dirty="0"/>
              <a:t>Reporting &amp; Analytics</a:t>
            </a:r>
          </a:p>
        </p:txBody>
      </p:sp>
      <p:sp>
        <p:nvSpPr>
          <p:cNvPr id="13" name="Slide Number Placeholder 3"/>
          <p:cNvSpPr>
            <a:spLocks noGrp="1"/>
          </p:cNvSpPr>
          <p:nvPr>
            <p:ph type="sldNum" sz="quarter" idx="12"/>
          </p:nvPr>
        </p:nvSpPr>
        <p:spPr>
          <a:xfrm>
            <a:off x="10664825" y="6264005"/>
            <a:ext cx="762000" cy="153888"/>
          </a:xfrm>
        </p:spPr>
        <p:txBody>
          <a:bodyPr/>
          <a:lstStyle>
            <a:lvl1pPr>
              <a:defRPr>
                <a:solidFill>
                  <a:schemeClr val="tx2">
                    <a:lumMod val="75000"/>
                  </a:schemeClr>
                </a:solidFill>
              </a:defRPr>
            </a:lvl1pPr>
          </a:lstStyle>
          <a:p>
            <a:fld id="{1ED2235E-0982-3B42-A838-A74550CD4449}" type="slidenum">
              <a:rPr lang="en-GB" smtClean="0"/>
              <a:pPr/>
              <a:t>‹#›</a:t>
            </a:fld>
            <a:endParaRPr lang="en-GB" dirty="0"/>
          </a:p>
        </p:txBody>
      </p:sp>
      <p:sp>
        <p:nvSpPr>
          <p:cNvPr id="10" name="Title 9"/>
          <p:cNvSpPr>
            <a:spLocks noGrp="1"/>
          </p:cNvSpPr>
          <p:nvPr>
            <p:ph type="title" hasCustomPrompt="1"/>
          </p:nvPr>
        </p:nvSpPr>
        <p:spPr>
          <a:xfrm>
            <a:off x="1534496" y="1363678"/>
            <a:ext cx="6076985" cy="2054225"/>
          </a:xfrm>
        </p:spPr>
        <p:txBody>
          <a:bodyPr anchor="b">
            <a:noAutofit/>
          </a:bodyPr>
          <a:lstStyle>
            <a:lvl1pPr>
              <a:defRPr sz="4800">
                <a:solidFill>
                  <a:schemeClr val="tx1"/>
                </a:solidFill>
              </a:defRPr>
            </a:lvl1pPr>
          </a:lstStyle>
          <a:p>
            <a:r>
              <a:rPr lang="en-GB" dirty="0"/>
              <a:t>Click to edit </a:t>
            </a:r>
            <a:br>
              <a:rPr lang="en-GB" dirty="0"/>
            </a:br>
            <a:r>
              <a:rPr lang="en-GB" dirty="0"/>
              <a:t>Master title style</a:t>
            </a:r>
          </a:p>
        </p:txBody>
      </p:sp>
      <p:sp>
        <p:nvSpPr>
          <p:cNvPr id="29" name="Rectangle 28"/>
          <p:cNvSpPr/>
          <p:nvPr userDrawn="1"/>
        </p:nvSpPr>
        <p:spPr>
          <a:xfrm rot="16200000">
            <a:off x="2879087" y="2344098"/>
            <a:ext cx="1098240" cy="3808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endParaRPr lang="en-GB" noProof="0" dirty="0"/>
          </a:p>
        </p:txBody>
      </p:sp>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948333" y="701166"/>
            <a:ext cx="1478493" cy="535932"/>
          </a:xfrm>
          <a:prstGeom prst="rect">
            <a:avLst/>
          </a:prstGeom>
        </p:spPr>
      </p:pic>
    </p:spTree>
    <p:extLst>
      <p:ext uri="{BB962C8B-B14F-4D97-AF65-F5344CB8AC3E}">
        <p14:creationId xmlns:p14="http://schemas.microsoft.com/office/powerpoint/2010/main" val="2826043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GB"/>
          </a:p>
        </p:txBody>
      </p:sp>
      <p:sp>
        <p:nvSpPr>
          <p:cNvPr id="3" name="Content Placeholder 2"/>
          <p:cNvSpPr>
            <a:spLocks noGrp="1"/>
          </p:cNvSpPr>
          <p:nvPr>
            <p:ph sz="half" idx="1"/>
          </p:nvPr>
        </p:nvSpPr>
        <p:spPr>
          <a:xfrm>
            <a:off x="761999" y="2057399"/>
            <a:ext cx="5334001" cy="4108451"/>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dirty="0"/>
          </a:p>
        </p:txBody>
      </p:sp>
      <p:sp>
        <p:nvSpPr>
          <p:cNvPr id="4" name="Content Placeholder 3"/>
          <p:cNvSpPr>
            <a:spLocks noGrp="1"/>
          </p:cNvSpPr>
          <p:nvPr>
            <p:ph sz="half" idx="2"/>
          </p:nvPr>
        </p:nvSpPr>
        <p:spPr>
          <a:xfrm>
            <a:off x="6095999" y="2057399"/>
            <a:ext cx="5330825" cy="4108451"/>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dirty="0"/>
          </a:p>
        </p:txBody>
      </p:sp>
      <p:sp>
        <p:nvSpPr>
          <p:cNvPr id="5" name="Date Placeholder 4"/>
          <p:cNvSpPr>
            <a:spLocks noGrp="1"/>
          </p:cNvSpPr>
          <p:nvPr>
            <p:ph type="dt" sz="half" idx="10"/>
          </p:nvPr>
        </p:nvSpPr>
        <p:spPr/>
        <p:txBody>
          <a:bodyPr/>
          <a:lstStyle/>
          <a:p>
            <a:r>
              <a:rPr lang="it-IT" dirty="0"/>
              <a:t>19/09/2016</a:t>
            </a:r>
            <a:endParaRPr lang="en-GB" dirty="0"/>
          </a:p>
        </p:txBody>
      </p:sp>
      <p:sp>
        <p:nvSpPr>
          <p:cNvPr id="6" name="Footer Placeholder 5"/>
          <p:cNvSpPr>
            <a:spLocks noGrp="1"/>
          </p:cNvSpPr>
          <p:nvPr>
            <p:ph type="ftr" sz="quarter" idx="11"/>
          </p:nvPr>
        </p:nvSpPr>
        <p:spPr/>
        <p:txBody>
          <a:bodyPr/>
          <a:lstStyle/>
          <a:p>
            <a:r>
              <a:rPr lang="en-GB" dirty="0"/>
              <a:t>Reporting &amp; Analytics</a:t>
            </a:r>
          </a:p>
        </p:txBody>
      </p:sp>
      <p:sp>
        <p:nvSpPr>
          <p:cNvPr id="7" name="Slide Number Placeholder 6"/>
          <p:cNvSpPr>
            <a:spLocks noGrp="1"/>
          </p:cNvSpPr>
          <p:nvPr>
            <p:ph type="sldNum" sz="quarter" idx="12"/>
          </p:nvPr>
        </p:nvSpPr>
        <p:spPr/>
        <p:txBody>
          <a:bodyPr/>
          <a:lstStyle/>
          <a:p>
            <a:fld id="{1ED2235E-0982-3B42-A838-A74550CD4449}" type="slidenum">
              <a:rPr lang="en-GB" smtClean="0"/>
              <a:pPr/>
              <a:t>‹#›</a:t>
            </a:fld>
            <a:endParaRPr lang="en-GB" dirty="0"/>
          </a:p>
        </p:txBody>
      </p:sp>
      <p:sp>
        <p:nvSpPr>
          <p:cNvPr id="9" name="Text Placeholder 7"/>
          <p:cNvSpPr>
            <a:spLocks noGrp="1"/>
          </p:cNvSpPr>
          <p:nvPr>
            <p:ph type="body" sz="quarter" idx="13" hasCustomPrompt="1"/>
          </p:nvPr>
        </p:nvSpPr>
        <p:spPr>
          <a:xfrm>
            <a:off x="761999" y="1085366"/>
            <a:ext cx="8375651" cy="276999"/>
          </a:xfrm>
        </p:spPr>
        <p:txBody>
          <a:bodyPr rIns="0">
            <a:noAutofit/>
          </a:bodyPr>
          <a:lstStyle>
            <a:lvl1pPr>
              <a:defRPr sz="1800"/>
            </a:lvl1pPr>
          </a:lstStyle>
          <a:p>
            <a:pPr lvl="0"/>
            <a:r>
              <a:rPr lang="en-GB" dirty="0"/>
              <a:t>Click to edit Master subtitle style if required</a:t>
            </a:r>
            <a:endParaRPr lang="en-US" dirty="0"/>
          </a:p>
        </p:txBody>
      </p:sp>
    </p:spTree>
    <p:extLst>
      <p:ext uri="{BB962C8B-B14F-4D97-AF65-F5344CB8AC3E}">
        <p14:creationId xmlns:p14="http://schemas.microsoft.com/office/powerpoint/2010/main" val="1658372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GB"/>
          </a:p>
        </p:txBody>
      </p:sp>
      <p:sp>
        <p:nvSpPr>
          <p:cNvPr id="3" name="Content Placeholder 2"/>
          <p:cNvSpPr>
            <a:spLocks noGrp="1"/>
          </p:cNvSpPr>
          <p:nvPr>
            <p:ph sz="half" idx="1"/>
          </p:nvPr>
        </p:nvSpPr>
        <p:spPr>
          <a:xfrm>
            <a:off x="762000" y="2057399"/>
            <a:ext cx="3554412" cy="4108451"/>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dirty="0"/>
          </a:p>
        </p:txBody>
      </p:sp>
      <p:sp>
        <p:nvSpPr>
          <p:cNvPr id="4" name="Content Placeholder 3"/>
          <p:cNvSpPr>
            <a:spLocks noGrp="1"/>
          </p:cNvSpPr>
          <p:nvPr>
            <p:ph sz="half" idx="2"/>
          </p:nvPr>
        </p:nvSpPr>
        <p:spPr>
          <a:xfrm>
            <a:off x="4316413" y="2057399"/>
            <a:ext cx="3554411" cy="4108451"/>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dirty="0"/>
          </a:p>
        </p:txBody>
      </p:sp>
      <p:sp>
        <p:nvSpPr>
          <p:cNvPr id="5" name="Date Placeholder 4"/>
          <p:cNvSpPr>
            <a:spLocks noGrp="1"/>
          </p:cNvSpPr>
          <p:nvPr>
            <p:ph type="dt" sz="half" idx="10"/>
          </p:nvPr>
        </p:nvSpPr>
        <p:spPr/>
        <p:txBody>
          <a:bodyPr/>
          <a:lstStyle/>
          <a:p>
            <a:r>
              <a:rPr lang="it-IT" dirty="0"/>
              <a:t>19/09/2016</a:t>
            </a:r>
            <a:endParaRPr lang="en-GB" dirty="0"/>
          </a:p>
        </p:txBody>
      </p:sp>
      <p:sp>
        <p:nvSpPr>
          <p:cNvPr id="6" name="Footer Placeholder 5"/>
          <p:cNvSpPr>
            <a:spLocks noGrp="1"/>
          </p:cNvSpPr>
          <p:nvPr>
            <p:ph type="ftr" sz="quarter" idx="11"/>
          </p:nvPr>
        </p:nvSpPr>
        <p:spPr/>
        <p:txBody>
          <a:bodyPr/>
          <a:lstStyle/>
          <a:p>
            <a:r>
              <a:rPr lang="en-GB" dirty="0"/>
              <a:t>Reporting &amp; Analytics</a:t>
            </a:r>
          </a:p>
        </p:txBody>
      </p:sp>
      <p:sp>
        <p:nvSpPr>
          <p:cNvPr id="7" name="Slide Number Placeholder 6"/>
          <p:cNvSpPr>
            <a:spLocks noGrp="1"/>
          </p:cNvSpPr>
          <p:nvPr>
            <p:ph type="sldNum" sz="quarter" idx="12"/>
          </p:nvPr>
        </p:nvSpPr>
        <p:spPr/>
        <p:txBody>
          <a:bodyPr/>
          <a:lstStyle/>
          <a:p>
            <a:fld id="{1ED2235E-0982-3B42-A838-A74550CD4449}" type="slidenum">
              <a:rPr lang="en-GB" smtClean="0"/>
              <a:pPr/>
              <a:t>‹#›</a:t>
            </a:fld>
            <a:endParaRPr lang="en-GB" dirty="0"/>
          </a:p>
        </p:txBody>
      </p:sp>
      <p:sp>
        <p:nvSpPr>
          <p:cNvPr id="12" name="Content Placeholder 3"/>
          <p:cNvSpPr>
            <a:spLocks noGrp="1"/>
          </p:cNvSpPr>
          <p:nvPr>
            <p:ph sz="half" idx="13"/>
          </p:nvPr>
        </p:nvSpPr>
        <p:spPr>
          <a:xfrm>
            <a:off x="7870824" y="2057400"/>
            <a:ext cx="3554411" cy="4108451"/>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dirty="0"/>
          </a:p>
        </p:txBody>
      </p:sp>
      <p:sp>
        <p:nvSpPr>
          <p:cNvPr id="10" name="Text Placeholder 7"/>
          <p:cNvSpPr>
            <a:spLocks noGrp="1"/>
          </p:cNvSpPr>
          <p:nvPr>
            <p:ph type="body" sz="quarter" idx="14" hasCustomPrompt="1"/>
          </p:nvPr>
        </p:nvSpPr>
        <p:spPr>
          <a:xfrm>
            <a:off x="761999" y="1085366"/>
            <a:ext cx="8375651" cy="276999"/>
          </a:xfrm>
        </p:spPr>
        <p:txBody>
          <a:bodyPr rIns="0">
            <a:noAutofit/>
          </a:bodyPr>
          <a:lstStyle>
            <a:lvl1pPr>
              <a:defRPr sz="1800"/>
            </a:lvl1pPr>
          </a:lstStyle>
          <a:p>
            <a:pPr lvl="0"/>
            <a:r>
              <a:rPr lang="en-GB" dirty="0"/>
              <a:t>Click to edit Master subtitle style if required</a:t>
            </a:r>
            <a:endParaRPr lang="en-US" dirty="0"/>
          </a:p>
        </p:txBody>
      </p:sp>
    </p:spTree>
    <p:extLst>
      <p:ext uri="{BB962C8B-B14F-4D97-AF65-F5344CB8AC3E}">
        <p14:creationId xmlns:p14="http://schemas.microsoft.com/office/powerpoint/2010/main" val="3821594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ey Mess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GB" dirty="0"/>
          </a:p>
        </p:txBody>
      </p:sp>
      <p:sp>
        <p:nvSpPr>
          <p:cNvPr id="3" name="Content Placeholder 2"/>
          <p:cNvSpPr>
            <a:spLocks noGrp="1"/>
          </p:cNvSpPr>
          <p:nvPr>
            <p:ph idx="1"/>
          </p:nvPr>
        </p:nvSpPr>
        <p:spPr/>
        <p:txBody>
          <a:bodyPr/>
          <a:lstStyle>
            <a:lvl1pPr>
              <a:spcBef>
                <a:spcPts val="1200"/>
              </a:spcBef>
              <a:spcAft>
                <a:spcPts val="1200"/>
              </a:spcAft>
              <a:defRPr sz="3800"/>
            </a:lvl1pPr>
            <a:lvl2pPr>
              <a:defRPr i="1"/>
            </a:lvl2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dirty="0"/>
          </a:p>
        </p:txBody>
      </p:sp>
      <p:sp>
        <p:nvSpPr>
          <p:cNvPr id="4" name="Date Placeholder 3"/>
          <p:cNvSpPr>
            <a:spLocks noGrp="1"/>
          </p:cNvSpPr>
          <p:nvPr>
            <p:ph type="dt" sz="half" idx="10"/>
          </p:nvPr>
        </p:nvSpPr>
        <p:spPr/>
        <p:txBody>
          <a:bodyPr/>
          <a:lstStyle/>
          <a:p>
            <a:r>
              <a:rPr lang="it-IT" dirty="0"/>
              <a:t>19/09/2016</a:t>
            </a:r>
            <a:endParaRPr lang="en-GB" dirty="0"/>
          </a:p>
        </p:txBody>
      </p:sp>
      <p:sp>
        <p:nvSpPr>
          <p:cNvPr id="5" name="Footer Placeholder 4"/>
          <p:cNvSpPr>
            <a:spLocks noGrp="1"/>
          </p:cNvSpPr>
          <p:nvPr>
            <p:ph type="ftr" sz="quarter" idx="11"/>
          </p:nvPr>
        </p:nvSpPr>
        <p:spPr/>
        <p:txBody>
          <a:bodyPr/>
          <a:lstStyle/>
          <a:p>
            <a:r>
              <a:rPr lang="en-GB" dirty="0"/>
              <a:t>Reporting &amp; Analytics</a:t>
            </a:r>
          </a:p>
        </p:txBody>
      </p:sp>
      <p:sp>
        <p:nvSpPr>
          <p:cNvPr id="6" name="Slide Number Placeholder 5"/>
          <p:cNvSpPr>
            <a:spLocks noGrp="1"/>
          </p:cNvSpPr>
          <p:nvPr>
            <p:ph type="sldNum" sz="quarter" idx="12"/>
          </p:nvPr>
        </p:nvSpPr>
        <p:spPr/>
        <p:txBody>
          <a:bodyPr/>
          <a:lstStyle/>
          <a:p>
            <a:fld id="{1ED2235E-0982-3B42-A838-A74550CD4449}" type="slidenum">
              <a:rPr lang="en-GB" smtClean="0"/>
              <a:pPr/>
              <a:t>‹#›</a:t>
            </a:fld>
            <a:endParaRPr lang="en-GB" dirty="0"/>
          </a:p>
        </p:txBody>
      </p:sp>
      <p:sp>
        <p:nvSpPr>
          <p:cNvPr id="8" name="Text Placeholder 7"/>
          <p:cNvSpPr>
            <a:spLocks noGrp="1"/>
          </p:cNvSpPr>
          <p:nvPr>
            <p:ph type="body" sz="quarter" idx="13" hasCustomPrompt="1"/>
          </p:nvPr>
        </p:nvSpPr>
        <p:spPr>
          <a:xfrm>
            <a:off x="761999" y="1085366"/>
            <a:ext cx="8375651" cy="276999"/>
          </a:xfrm>
        </p:spPr>
        <p:txBody>
          <a:bodyPr rIns="0">
            <a:noAutofit/>
          </a:bodyPr>
          <a:lstStyle>
            <a:lvl1pPr>
              <a:defRPr sz="1800"/>
            </a:lvl1pPr>
          </a:lstStyle>
          <a:p>
            <a:pPr lvl="0"/>
            <a:r>
              <a:rPr lang="en-GB" dirty="0"/>
              <a:t>Click to edit Master subtitle style if required</a:t>
            </a:r>
            <a:endParaRPr lang="en-US" dirty="0"/>
          </a:p>
        </p:txBody>
      </p:sp>
    </p:spTree>
    <p:extLst>
      <p:ext uri="{BB962C8B-B14F-4D97-AF65-F5344CB8AC3E}">
        <p14:creationId xmlns:p14="http://schemas.microsoft.com/office/powerpoint/2010/main" val="2043215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graphicFrame>
        <p:nvGraphicFramePr>
          <p:cNvPr id="6" name="Oggetto 5" hidden="1"/>
          <p:cNvGraphicFramePr>
            <a:graphicFrameLocks noChangeAspect="1"/>
          </p:cNvGraphicFramePr>
          <p:nvPr userDrawn="1">
            <p:custDataLst>
              <p:tags r:id="rId1"/>
            </p:custDataLst>
            <p:extLst>
              <p:ext uri="{D42A27DB-BD31-4B8C-83A1-F6EECF244321}">
                <p14:modId xmlns:p14="http://schemas.microsoft.com/office/powerpoint/2010/main" val="30876431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3" imgW="270" imgH="270" progId="TCLayout.ActiveDocument.1">
                  <p:embed/>
                </p:oleObj>
              </mc:Choice>
              <mc:Fallback>
                <p:oleObj name="Diapositiva think-cell" r:id="rId3" imgW="270" imgH="270" progId="TCLayout.ActiveDocument.1">
                  <p:embed/>
                  <p:pic>
                    <p:nvPicPr>
                      <p:cNvPr id="6" name="Oggetto 5"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it-IT"/>
              <a:t>Fare clic per modificare lo stile del titolo</a:t>
            </a:r>
            <a:endParaRPr lang="en-GB"/>
          </a:p>
        </p:txBody>
      </p:sp>
      <p:sp>
        <p:nvSpPr>
          <p:cNvPr id="3" name="Date Placeholder 2"/>
          <p:cNvSpPr>
            <a:spLocks noGrp="1"/>
          </p:cNvSpPr>
          <p:nvPr>
            <p:ph type="dt" sz="half" idx="10"/>
          </p:nvPr>
        </p:nvSpPr>
        <p:spPr/>
        <p:txBody>
          <a:bodyPr/>
          <a:lstStyle/>
          <a:p>
            <a:r>
              <a:rPr lang="it-IT" dirty="0"/>
              <a:t>19/09/2016</a:t>
            </a:r>
            <a:endParaRPr lang="en-GB" dirty="0"/>
          </a:p>
        </p:txBody>
      </p:sp>
      <p:sp>
        <p:nvSpPr>
          <p:cNvPr id="4" name="Footer Placeholder 3"/>
          <p:cNvSpPr>
            <a:spLocks noGrp="1"/>
          </p:cNvSpPr>
          <p:nvPr>
            <p:ph type="ftr" sz="quarter" idx="11"/>
          </p:nvPr>
        </p:nvSpPr>
        <p:spPr/>
        <p:txBody>
          <a:bodyPr/>
          <a:lstStyle/>
          <a:p>
            <a:r>
              <a:rPr lang="en-GB" dirty="0"/>
              <a:t>Reporting &amp; Analytics</a:t>
            </a:r>
          </a:p>
        </p:txBody>
      </p:sp>
      <p:sp>
        <p:nvSpPr>
          <p:cNvPr id="5" name="Slide Number Placeholder 4"/>
          <p:cNvSpPr>
            <a:spLocks noGrp="1"/>
          </p:cNvSpPr>
          <p:nvPr>
            <p:ph type="sldNum" sz="quarter" idx="12"/>
          </p:nvPr>
        </p:nvSpPr>
        <p:spPr/>
        <p:txBody>
          <a:bodyPr/>
          <a:lstStyle/>
          <a:p>
            <a:fld id="{1ED2235E-0982-3B42-A838-A74550CD4449}" type="slidenum">
              <a:rPr lang="en-GB" smtClean="0"/>
              <a:pPr/>
              <a:t>‹#›</a:t>
            </a:fld>
            <a:endParaRPr lang="en-GB" dirty="0"/>
          </a:p>
        </p:txBody>
      </p:sp>
      <p:sp>
        <p:nvSpPr>
          <p:cNvPr id="7" name="Text Placeholder 7"/>
          <p:cNvSpPr>
            <a:spLocks noGrp="1"/>
          </p:cNvSpPr>
          <p:nvPr>
            <p:ph type="body" sz="quarter" idx="13" hasCustomPrompt="1"/>
          </p:nvPr>
        </p:nvSpPr>
        <p:spPr>
          <a:xfrm>
            <a:off x="761999" y="1085366"/>
            <a:ext cx="8375651" cy="276999"/>
          </a:xfrm>
        </p:spPr>
        <p:txBody>
          <a:bodyPr rIns="0">
            <a:noAutofit/>
          </a:bodyPr>
          <a:lstStyle>
            <a:lvl1pPr>
              <a:defRPr sz="1800"/>
            </a:lvl1pPr>
          </a:lstStyle>
          <a:p>
            <a:pPr lvl="0"/>
            <a:r>
              <a:rPr lang="en-GB" dirty="0"/>
              <a:t>Click to edit Master subtitle style if required</a:t>
            </a:r>
            <a:endParaRPr lang="en-US" dirty="0"/>
          </a:p>
        </p:txBody>
      </p:sp>
    </p:spTree>
    <p:extLst>
      <p:ext uri="{BB962C8B-B14F-4D97-AF65-F5344CB8AC3E}">
        <p14:creationId xmlns:p14="http://schemas.microsoft.com/office/powerpoint/2010/main" val="1745860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it-IT" dirty="0"/>
              <a:t>19/09/2016</a:t>
            </a:r>
            <a:endParaRPr lang="en-GB" dirty="0"/>
          </a:p>
        </p:txBody>
      </p:sp>
      <p:sp>
        <p:nvSpPr>
          <p:cNvPr id="3" name="Footer Placeholder 2"/>
          <p:cNvSpPr>
            <a:spLocks noGrp="1"/>
          </p:cNvSpPr>
          <p:nvPr>
            <p:ph type="ftr" sz="quarter" idx="11"/>
          </p:nvPr>
        </p:nvSpPr>
        <p:spPr/>
        <p:txBody>
          <a:bodyPr/>
          <a:lstStyle/>
          <a:p>
            <a:r>
              <a:rPr lang="en-GB" dirty="0"/>
              <a:t>Reporting &amp; Analytics</a:t>
            </a:r>
          </a:p>
        </p:txBody>
      </p:sp>
      <p:sp>
        <p:nvSpPr>
          <p:cNvPr id="4" name="Slide Number Placeholder 3"/>
          <p:cNvSpPr>
            <a:spLocks noGrp="1"/>
          </p:cNvSpPr>
          <p:nvPr>
            <p:ph type="sldNum" sz="quarter" idx="12"/>
          </p:nvPr>
        </p:nvSpPr>
        <p:spPr/>
        <p:txBody>
          <a:bodyPr/>
          <a:lstStyle/>
          <a:p>
            <a:fld id="{1ED2235E-0982-3B42-A838-A74550CD4449}" type="slidenum">
              <a:rPr lang="en-GB" smtClean="0"/>
              <a:pPr/>
              <a:t>‹#›</a:t>
            </a:fld>
            <a:endParaRPr lang="en-GB" dirty="0"/>
          </a:p>
        </p:txBody>
      </p:sp>
    </p:spTree>
    <p:extLst>
      <p:ext uri="{BB962C8B-B14F-4D97-AF65-F5344CB8AC3E}">
        <p14:creationId xmlns:p14="http://schemas.microsoft.com/office/powerpoint/2010/main" val="1608808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lvl1pPr>
              <a:lnSpc>
                <a:spcPct val="90000"/>
              </a:lnSpc>
              <a:defRPr/>
            </a:lvl1pPr>
          </a:lstStyle>
          <a:p>
            <a:fld id="{BBC2FA9F-3F3F-4C7A-A70C-56D90B962855}" type="datetime1">
              <a:rPr lang="en-GB" smtClean="0"/>
              <a:pPr/>
              <a:t>23/06/2023</a:t>
            </a:fld>
            <a:endParaRPr lang="en-GB" dirty="0"/>
          </a:p>
        </p:txBody>
      </p:sp>
      <p:sp>
        <p:nvSpPr>
          <p:cNvPr id="5" name="Footer Placeholder 4"/>
          <p:cNvSpPr>
            <a:spLocks noGrp="1"/>
          </p:cNvSpPr>
          <p:nvPr>
            <p:ph type="ftr" sz="quarter" idx="11"/>
          </p:nvPr>
        </p:nvSpPr>
        <p:spPr/>
        <p:txBody>
          <a:bodyPr/>
          <a:lstStyle>
            <a:lvl1pPr>
              <a:lnSpc>
                <a:spcPct val="90000"/>
              </a:lnSpc>
              <a:defRPr/>
            </a:lvl1pPr>
          </a:lstStyle>
          <a:p>
            <a:r>
              <a:rPr lang="en-US" dirty="0"/>
              <a:t>Enel Global ICT – Holding &amp; Global Service Function</a:t>
            </a:r>
            <a:endParaRPr lang="en-GB" dirty="0"/>
          </a:p>
        </p:txBody>
      </p:sp>
      <p:sp>
        <p:nvSpPr>
          <p:cNvPr id="6" name="Slide Number Placeholder 5"/>
          <p:cNvSpPr>
            <a:spLocks noGrp="1"/>
          </p:cNvSpPr>
          <p:nvPr>
            <p:ph type="sldNum" sz="quarter" idx="12"/>
          </p:nvPr>
        </p:nvSpPr>
        <p:spPr/>
        <p:txBody>
          <a:bodyPr/>
          <a:lstStyle>
            <a:lvl1pPr>
              <a:lnSpc>
                <a:spcPct val="90000"/>
              </a:lnSpc>
              <a:defRPr/>
            </a:lvl1pPr>
          </a:lstStyle>
          <a:p>
            <a:fld id="{1ED2235E-0982-3B42-A838-A74550CD4449}" type="slidenum">
              <a:rPr lang="en-GB" smtClean="0"/>
              <a:pPr/>
              <a:t>‹#›</a:t>
            </a:fld>
            <a:endParaRPr lang="en-GB" dirty="0"/>
          </a:p>
        </p:txBody>
      </p:sp>
      <p:sp>
        <p:nvSpPr>
          <p:cNvPr id="8" name="Text Placeholder 7"/>
          <p:cNvSpPr>
            <a:spLocks noGrp="1"/>
          </p:cNvSpPr>
          <p:nvPr>
            <p:ph type="body" sz="quarter" idx="13" hasCustomPrompt="1"/>
          </p:nvPr>
        </p:nvSpPr>
        <p:spPr>
          <a:xfrm>
            <a:off x="761999" y="1085366"/>
            <a:ext cx="8375651" cy="276999"/>
          </a:xfrm>
        </p:spPr>
        <p:txBody>
          <a:bodyPr rIns="0">
            <a:noAutofit/>
          </a:bodyPr>
          <a:lstStyle>
            <a:lvl1pPr>
              <a:defRPr sz="1800"/>
            </a:lvl1pPr>
          </a:lstStyle>
          <a:p>
            <a:pPr lvl="0"/>
            <a:r>
              <a:rPr lang="en-GB" dirty="0"/>
              <a:t>Click to edit Master subtitle style if required</a:t>
            </a:r>
            <a:endParaRPr lang="en-US" dirty="0"/>
          </a:p>
        </p:txBody>
      </p:sp>
      <p:pic>
        <p:nvPicPr>
          <p:cNvPr id="10" name="Picture 4" descr="BIP_LOGO_esecutivo CMYK"/>
          <p:cNvPicPr>
            <a:picLocks noChangeAspect="1" noChangeArrowheads="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25917" y="6166934"/>
            <a:ext cx="622675" cy="360000"/>
          </a:xfrm>
          <a:prstGeom prst="rect">
            <a:avLst/>
          </a:prstGeom>
          <a:noFill/>
          <a:ln w="9525">
            <a:noFill/>
            <a:miter lim="800000"/>
            <a:headEnd/>
            <a:tailEnd/>
          </a:ln>
        </p:spPr>
      </p:pic>
      <p:grpSp>
        <p:nvGrpSpPr>
          <p:cNvPr id="15" name="Group 14"/>
          <p:cNvGrpSpPr/>
          <p:nvPr userDrawn="1"/>
        </p:nvGrpSpPr>
        <p:grpSpPr>
          <a:xfrm>
            <a:off x="-147208" y="97675"/>
            <a:ext cx="1944000" cy="232166"/>
            <a:chOff x="8526483" y="249383"/>
            <a:chExt cx="1944000" cy="232166"/>
          </a:xfrm>
        </p:grpSpPr>
        <p:sp>
          <p:nvSpPr>
            <p:cNvPr id="11" name="TextBox 10"/>
            <p:cNvSpPr txBox="1"/>
            <p:nvPr userDrawn="1"/>
          </p:nvSpPr>
          <p:spPr>
            <a:xfrm>
              <a:off x="8526483" y="285008"/>
              <a:ext cx="1944000" cy="184666"/>
            </a:xfrm>
            <a:prstGeom prst="rect">
              <a:avLst/>
            </a:prstGeom>
            <a:noFill/>
          </p:spPr>
          <p:txBody>
            <a:bodyPr wrap="square" lIns="0" tIns="0" rIns="0" bIns="0" rtlCol="0">
              <a:spAutoFit/>
            </a:bodyPr>
            <a:lstStyle/>
            <a:p>
              <a:pPr algn="ctr"/>
              <a:r>
                <a:rPr lang="en-US" sz="1200" noProof="0" dirty="0">
                  <a:solidFill>
                    <a:schemeClr val="tx1">
                      <a:lumMod val="85000"/>
                      <a:lumOff val="15000"/>
                    </a:schemeClr>
                  </a:solidFill>
                </a:rPr>
                <a:t>Draft</a:t>
              </a:r>
              <a:r>
                <a:rPr lang="en-US" sz="1200" baseline="0" noProof="0" dirty="0">
                  <a:solidFill>
                    <a:schemeClr val="tx1">
                      <a:lumMod val="85000"/>
                      <a:lumOff val="15000"/>
                    </a:schemeClr>
                  </a:solidFill>
                </a:rPr>
                <a:t> for discussion</a:t>
              </a:r>
              <a:endParaRPr lang="en-US" sz="1200" noProof="0" dirty="0">
                <a:solidFill>
                  <a:schemeClr val="tx1">
                    <a:lumMod val="85000"/>
                    <a:lumOff val="15000"/>
                  </a:schemeClr>
                </a:solidFill>
              </a:endParaRPr>
            </a:p>
          </p:txBody>
        </p:sp>
        <p:cxnSp>
          <p:nvCxnSpPr>
            <p:cNvPr id="13" name="Straight Connector 12"/>
            <p:cNvCxnSpPr/>
            <p:nvPr userDrawn="1"/>
          </p:nvCxnSpPr>
          <p:spPr>
            <a:xfrm>
              <a:off x="8763990" y="249383"/>
              <a:ext cx="144878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8763990" y="481549"/>
              <a:ext cx="1448789" cy="0"/>
            </a:xfrm>
            <a:prstGeom prst="line">
              <a:avLst/>
            </a:prstGeom>
            <a:ln w="28575"/>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933616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62001" y="1723877"/>
            <a:ext cx="7616824" cy="1368425"/>
          </a:xfrm>
        </p:spPr>
        <p:txBody>
          <a:bodyPr anchor="t">
            <a:noAutofit/>
          </a:bodyPr>
          <a:lstStyle>
            <a:lvl1pPr algn="l">
              <a:defRPr sz="4800">
                <a:solidFill>
                  <a:schemeClr val="tx1"/>
                </a:solidFill>
              </a:defRPr>
            </a:lvl1pPr>
          </a:lstStyle>
          <a:p>
            <a:r>
              <a:rPr lang="en-GB"/>
              <a:t>Click to edit Master title style</a:t>
            </a:r>
            <a:endParaRPr lang="en-GB" dirty="0"/>
          </a:p>
        </p:txBody>
      </p:sp>
      <p:sp>
        <p:nvSpPr>
          <p:cNvPr id="3" name="Subtitle 2"/>
          <p:cNvSpPr>
            <a:spLocks noGrp="1"/>
          </p:cNvSpPr>
          <p:nvPr>
            <p:ph type="subTitle" idx="1"/>
          </p:nvPr>
        </p:nvSpPr>
        <p:spPr>
          <a:xfrm>
            <a:off x="2282825" y="3429007"/>
            <a:ext cx="6109388" cy="276999"/>
          </a:xfrm>
        </p:spPr>
        <p:txBody>
          <a:bodyPr anchor="t">
            <a:noAutofit/>
          </a:bodyPr>
          <a:lstStyle>
            <a:lvl1pPr marL="0" indent="0" algn="l">
              <a:lnSpc>
                <a:spcPct val="90000"/>
              </a:lnSpc>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p>
        </p:txBody>
      </p:sp>
      <p:sp>
        <p:nvSpPr>
          <p:cNvPr id="4" name="Date Placeholder 3"/>
          <p:cNvSpPr>
            <a:spLocks noGrp="1"/>
          </p:cNvSpPr>
          <p:nvPr>
            <p:ph type="dt" sz="half" idx="10"/>
          </p:nvPr>
        </p:nvSpPr>
        <p:spPr>
          <a:xfrm>
            <a:off x="765519" y="3429007"/>
            <a:ext cx="1510613" cy="276999"/>
          </a:xfrm>
        </p:spPr>
        <p:txBody>
          <a:bodyPr anchor="t">
            <a:noAutofit/>
          </a:bodyPr>
          <a:lstStyle>
            <a:lvl1pPr>
              <a:lnSpc>
                <a:spcPct val="90000"/>
              </a:lnSpc>
              <a:defRPr sz="1800">
                <a:solidFill>
                  <a:schemeClr val="tx1"/>
                </a:solidFill>
              </a:defRPr>
            </a:lvl1pPr>
          </a:lstStyle>
          <a:p>
            <a:r>
              <a:rPr lang="it-IT" dirty="0"/>
              <a:t>19/09/2016</a:t>
            </a:r>
            <a:endParaRPr lang="en-GB" dirty="0"/>
          </a:p>
        </p:txBody>
      </p:sp>
      <p:sp>
        <p:nvSpPr>
          <p:cNvPr id="9" name="Rectangle 8"/>
          <p:cNvSpPr/>
          <p:nvPr userDrawn="1"/>
        </p:nvSpPr>
        <p:spPr>
          <a:xfrm rot="16200000">
            <a:off x="1615349" y="-157777"/>
            <a:ext cx="691602" cy="23982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endParaRPr lang="en-GB" dirty="0">
              <a:solidFill>
                <a:schemeClr val="tx1"/>
              </a:solidFill>
            </a:endParaRPr>
          </a:p>
        </p:txBody>
      </p:sp>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948332" y="5638329"/>
            <a:ext cx="1478493" cy="535932"/>
          </a:xfrm>
          <a:prstGeom prst="rect">
            <a:avLst/>
          </a:prstGeom>
        </p:spPr>
      </p:pic>
    </p:spTree>
    <p:extLst>
      <p:ext uri="{BB962C8B-B14F-4D97-AF65-F5344CB8AC3E}">
        <p14:creationId xmlns:p14="http://schemas.microsoft.com/office/powerpoint/2010/main" val="3951181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p>
        </p:txBody>
      </p:sp>
      <p:sp>
        <p:nvSpPr>
          <p:cNvPr id="3" name="Content Placeholder 2"/>
          <p:cNvSpPr>
            <a:spLocks noGrp="1"/>
          </p:cNvSpPr>
          <p:nvPr>
            <p:ph idx="1"/>
          </p:nvPr>
        </p:nvSpPr>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p:cNvSpPr>
            <a:spLocks noGrp="1"/>
          </p:cNvSpPr>
          <p:nvPr>
            <p:ph type="dt" sz="half" idx="10"/>
          </p:nvPr>
        </p:nvSpPr>
        <p:spPr/>
        <p:txBody>
          <a:bodyPr/>
          <a:lstStyle>
            <a:lvl1pPr>
              <a:lnSpc>
                <a:spcPct val="90000"/>
              </a:lnSpc>
              <a:defRPr/>
            </a:lvl1pPr>
          </a:lstStyle>
          <a:p>
            <a:r>
              <a:rPr lang="it-IT" dirty="0"/>
              <a:t>19/09/2016</a:t>
            </a:r>
            <a:endParaRPr lang="en-GB" dirty="0"/>
          </a:p>
        </p:txBody>
      </p:sp>
      <p:sp>
        <p:nvSpPr>
          <p:cNvPr id="5" name="Footer Placeholder 4"/>
          <p:cNvSpPr>
            <a:spLocks noGrp="1"/>
          </p:cNvSpPr>
          <p:nvPr>
            <p:ph type="ftr" sz="quarter" idx="11"/>
          </p:nvPr>
        </p:nvSpPr>
        <p:spPr/>
        <p:txBody>
          <a:bodyPr/>
          <a:lstStyle>
            <a:lvl1pPr>
              <a:lnSpc>
                <a:spcPct val="90000"/>
              </a:lnSpc>
              <a:defRPr/>
            </a:lvl1pPr>
          </a:lstStyle>
          <a:p>
            <a:r>
              <a:rPr lang="en-GB" dirty="0"/>
              <a:t>Reporting &amp; Analytics</a:t>
            </a:r>
          </a:p>
        </p:txBody>
      </p:sp>
      <p:sp>
        <p:nvSpPr>
          <p:cNvPr id="6" name="Slide Number Placeholder 5"/>
          <p:cNvSpPr>
            <a:spLocks noGrp="1"/>
          </p:cNvSpPr>
          <p:nvPr>
            <p:ph type="sldNum" sz="quarter" idx="12"/>
          </p:nvPr>
        </p:nvSpPr>
        <p:spPr/>
        <p:txBody>
          <a:bodyPr/>
          <a:lstStyle>
            <a:lvl1pPr>
              <a:lnSpc>
                <a:spcPct val="90000"/>
              </a:lnSpc>
              <a:defRPr/>
            </a:lvl1pPr>
          </a:lstStyle>
          <a:p>
            <a:fld id="{1ED2235E-0982-3B42-A838-A74550CD4449}" type="slidenum">
              <a:rPr lang="en-GB" smtClean="0"/>
              <a:pPr/>
              <a:t>‹#›</a:t>
            </a:fld>
            <a:endParaRPr lang="en-GB" dirty="0"/>
          </a:p>
        </p:txBody>
      </p:sp>
      <p:sp>
        <p:nvSpPr>
          <p:cNvPr id="8" name="Text Placeholder 7"/>
          <p:cNvSpPr>
            <a:spLocks noGrp="1"/>
          </p:cNvSpPr>
          <p:nvPr>
            <p:ph type="body" sz="quarter" idx="13" hasCustomPrompt="1"/>
          </p:nvPr>
        </p:nvSpPr>
        <p:spPr>
          <a:xfrm>
            <a:off x="761999" y="1085366"/>
            <a:ext cx="8375651" cy="276999"/>
          </a:xfrm>
        </p:spPr>
        <p:txBody>
          <a:bodyPr rIns="0">
            <a:noAutofit/>
          </a:bodyPr>
          <a:lstStyle>
            <a:lvl1pPr>
              <a:defRPr sz="1800"/>
            </a:lvl1pPr>
          </a:lstStyle>
          <a:p>
            <a:pPr lvl="0"/>
            <a:r>
              <a:rPr lang="en-GB" dirty="0"/>
              <a:t>Click to edit Master subtitle style if required</a:t>
            </a:r>
            <a:endParaRPr lang="en-US" dirty="0"/>
          </a:p>
        </p:txBody>
      </p:sp>
    </p:spTree>
    <p:extLst>
      <p:ext uri="{BB962C8B-B14F-4D97-AF65-F5344CB8AC3E}">
        <p14:creationId xmlns:p14="http://schemas.microsoft.com/office/powerpoint/2010/main" val="15765436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9" name="Date Placeholder 1"/>
          <p:cNvSpPr>
            <a:spLocks noGrp="1"/>
          </p:cNvSpPr>
          <p:nvPr>
            <p:ph type="dt" sz="half" idx="10"/>
          </p:nvPr>
        </p:nvSpPr>
        <p:spPr>
          <a:xfrm>
            <a:off x="772211" y="6264005"/>
            <a:ext cx="1510613" cy="153888"/>
          </a:xfrm>
        </p:spPr>
        <p:txBody>
          <a:bodyPr/>
          <a:lstStyle>
            <a:lvl1pPr>
              <a:defRPr>
                <a:solidFill>
                  <a:schemeClr val="tx2">
                    <a:lumMod val="75000"/>
                  </a:schemeClr>
                </a:solidFill>
              </a:defRPr>
            </a:lvl1pPr>
          </a:lstStyle>
          <a:p>
            <a:r>
              <a:rPr lang="it-IT" dirty="0"/>
              <a:t>19/09/2016</a:t>
            </a:r>
            <a:endParaRPr lang="en-GB" dirty="0"/>
          </a:p>
        </p:txBody>
      </p:sp>
      <p:sp>
        <p:nvSpPr>
          <p:cNvPr id="12" name="Footer Placeholder 2"/>
          <p:cNvSpPr>
            <a:spLocks noGrp="1"/>
          </p:cNvSpPr>
          <p:nvPr>
            <p:ph type="ftr" sz="quarter" idx="11"/>
          </p:nvPr>
        </p:nvSpPr>
        <p:spPr>
          <a:xfrm>
            <a:off x="2282825" y="6264005"/>
            <a:ext cx="8381999" cy="153888"/>
          </a:xfrm>
        </p:spPr>
        <p:txBody>
          <a:bodyPr/>
          <a:lstStyle>
            <a:lvl1pPr>
              <a:defRPr>
                <a:solidFill>
                  <a:schemeClr val="tx2">
                    <a:lumMod val="75000"/>
                  </a:schemeClr>
                </a:solidFill>
              </a:defRPr>
            </a:lvl1pPr>
          </a:lstStyle>
          <a:p>
            <a:r>
              <a:rPr lang="en-GB" dirty="0"/>
              <a:t>Reporting &amp; Analytics</a:t>
            </a:r>
          </a:p>
        </p:txBody>
      </p:sp>
      <p:sp>
        <p:nvSpPr>
          <p:cNvPr id="13" name="Slide Number Placeholder 3"/>
          <p:cNvSpPr>
            <a:spLocks noGrp="1"/>
          </p:cNvSpPr>
          <p:nvPr>
            <p:ph type="sldNum" sz="quarter" idx="12"/>
          </p:nvPr>
        </p:nvSpPr>
        <p:spPr>
          <a:xfrm>
            <a:off x="10664825" y="6264005"/>
            <a:ext cx="762000" cy="153888"/>
          </a:xfrm>
        </p:spPr>
        <p:txBody>
          <a:bodyPr/>
          <a:lstStyle>
            <a:lvl1pPr>
              <a:defRPr>
                <a:solidFill>
                  <a:schemeClr val="tx2">
                    <a:lumMod val="75000"/>
                  </a:schemeClr>
                </a:solidFill>
              </a:defRPr>
            </a:lvl1pPr>
          </a:lstStyle>
          <a:p>
            <a:fld id="{1ED2235E-0982-3B42-A838-A74550CD4449}" type="slidenum">
              <a:rPr lang="en-GB" smtClean="0"/>
              <a:pPr/>
              <a:t>‹#›</a:t>
            </a:fld>
            <a:endParaRPr lang="en-GB" dirty="0"/>
          </a:p>
        </p:txBody>
      </p:sp>
      <p:sp>
        <p:nvSpPr>
          <p:cNvPr id="10" name="Title 9"/>
          <p:cNvSpPr>
            <a:spLocks noGrp="1"/>
          </p:cNvSpPr>
          <p:nvPr>
            <p:ph type="title" hasCustomPrompt="1"/>
          </p:nvPr>
        </p:nvSpPr>
        <p:spPr>
          <a:xfrm>
            <a:off x="1534496" y="1363678"/>
            <a:ext cx="6076985" cy="2054225"/>
          </a:xfrm>
        </p:spPr>
        <p:txBody>
          <a:bodyPr anchor="b">
            <a:noAutofit/>
          </a:bodyPr>
          <a:lstStyle>
            <a:lvl1pPr>
              <a:defRPr sz="4800">
                <a:solidFill>
                  <a:schemeClr val="tx1"/>
                </a:solidFill>
              </a:defRPr>
            </a:lvl1pPr>
          </a:lstStyle>
          <a:p>
            <a:r>
              <a:rPr lang="en-GB" dirty="0"/>
              <a:t>Click to edit </a:t>
            </a:r>
            <a:br>
              <a:rPr lang="en-GB" dirty="0"/>
            </a:br>
            <a:r>
              <a:rPr lang="en-GB" dirty="0"/>
              <a:t>Master title style</a:t>
            </a:r>
          </a:p>
        </p:txBody>
      </p:sp>
      <p:sp>
        <p:nvSpPr>
          <p:cNvPr id="29" name="Rectangle 28"/>
          <p:cNvSpPr/>
          <p:nvPr userDrawn="1"/>
        </p:nvSpPr>
        <p:spPr>
          <a:xfrm rot="16200000">
            <a:off x="2879087" y="2344098"/>
            <a:ext cx="1098240" cy="3808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endParaRPr lang="en-GB" noProof="0" dirty="0"/>
          </a:p>
        </p:txBody>
      </p:sp>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948333" y="701166"/>
            <a:ext cx="1478493" cy="535932"/>
          </a:xfrm>
          <a:prstGeom prst="rect">
            <a:avLst/>
          </a:prstGeom>
        </p:spPr>
      </p:pic>
    </p:spTree>
    <p:extLst>
      <p:ext uri="{BB962C8B-B14F-4D97-AF65-F5344CB8AC3E}">
        <p14:creationId xmlns:p14="http://schemas.microsoft.com/office/powerpoint/2010/main" val="21647874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761999" y="2057399"/>
            <a:ext cx="5334001" cy="41084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095999" y="2057399"/>
            <a:ext cx="5330825" cy="41084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r>
              <a:rPr lang="it-IT" dirty="0"/>
              <a:t>19/09/2016</a:t>
            </a:r>
            <a:endParaRPr lang="en-GB" dirty="0"/>
          </a:p>
        </p:txBody>
      </p:sp>
      <p:sp>
        <p:nvSpPr>
          <p:cNvPr id="6" name="Footer Placeholder 5"/>
          <p:cNvSpPr>
            <a:spLocks noGrp="1"/>
          </p:cNvSpPr>
          <p:nvPr>
            <p:ph type="ftr" sz="quarter" idx="11"/>
          </p:nvPr>
        </p:nvSpPr>
        <p:spPr/>
        <p:txBody>
          <a:bodyPr/>
          <a:lstStyle/>
          <a:p>
            <a:r>
              <a:rPr lang="en-GB" dirty="0"/>
              <a:t>Reporting &amp; Analytics</a:t>
            </a:r>
          </a:p>
        </p:txBody>
      </p:sp>
      <p:sp>
        <p:nvSpPr>
          <p:cNvPr id="7" name="Slide Number Placeholder 6"/>
          <p:cNvSpPr>
            <a:spLocks noGrp="1"/>
          </p:cNvSpPr>
          <p:nvPr>
            <p:ph type="sldNum" sz="quarter" idx="12"/>
          </p:nvPr>
        </p:nvSpPr>
        <p:spPr/>
        <p:txBody>
          <a:bodyPr/>
          <a:lstStyle/>
          <a:p>
            <a:fld id="{1ED2235E-0982-3B42-A838-A74550CD4449}" type="slidenum">
              <a:rPr lang="en-GB" smtClean="0"/>
              <a:pPr/>
              <a:t>‹#›</a:t>
            </a:fld>
            <a:endParaRPr lang="en-GB" dirty="0"/>
          </a:p>
        </p:txBody>
      </p:sp>
      <p:sp>
        <p:nvSpPr>
          <p:cNvPr id="9" name="Text Placeholder 7"/>
          <p:cNvSpPr>
            <a:spLocks noGrp="1"/>
          </p:cNvSpPr>
          <p:nvPr>
            <p:ph type="body" sz="quarter" idx="13" hasCustomPrompt="1"/>
          </p:nvPr>
        </p:nvSpPr>
        <p:spPr>
          <a:xfrm>
            <a:off x="761999" y="1085366"/>
            <a:ext cx="8375651" cy="276999"/>
          </a:xfrm>
        </p:spPr>
        <p:txBody>
          <a:bodyPr rIns="0">
            <a:noAutofit/>
          </a:bodyPr>
          <a:lstStyle>
            <a:lvl1pPr>
              <a:defRPr sz="1800"/>
            </a:lvl1pPr>
          </a:lstStyle>
          <a:p>
            <a:pPr lvl="0"/>
            <a:r>
              <a:rPr lang="en-GB" dirty="0"/>
              <a:t>Click to edit Master subtitle style if required</a:t>
            </a:r>
            <a:endParaRPr lang="en-US" dirty="0"/>
          </a:p>
        </p:txBody>
      </p:sp>
    </p:spTree>
    <p:extLst>
      <p:ext uri="{BB962C8B-B14F-4D97-AF65-F5344CB8AC3E}">
        <p14:creationId xmlns:p14="http://schemas.microsoft.com/office/powerpoint/2010/main" val="5340504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762000" y="2057399"/>
            <a:ext cx="3554412" cy="41084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4316413" y="2057399"/>
            <a:ext cx="3554411" cy="41084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r>
              <a:rPr lang="it-IT" dirty="0"/>
              <a:t>19/09/2016</a:t>
            </a:r>
            <a:endParaRPr lang="en-GB" dirty="0"/>
          </a:p>
        </p:txBody>
      </p:sp>
      <p:sp>
        <p:nvSpPr>
          <p:cNvPr id="6" name="Footer Placeholder 5"/>
          <p:cNvSpPr>
            <a:spLocks noGrp="1"/>
          </p:cNvSpPr>
          <p:nvPr>
            <p:ph type="ftr" sz="quarter" idx="11"/>
          </p:nvPr>
        </p:nvSpPr>
        <p:spPr/>
        <p:txBody>
          <a:bodyPr/>
          <a:lstStyle/>
          <a:p>
            <a:r>
              <a:rPr lang="en-GB" dirty="0"/>
              <a:t>Reporting &amp; Analytics</a:t>
            </a:r>
          </a:p>
        </p:txBody>
      </p:sp>
      <p:sp>
        <p:nvSpPr>
          <p:cNvPr id="7" name="Slide Number Placeholder 6"/>
          <p:cNvSpPr>
            <a:spLocks noGrp="1"/>
          </p:cNvSpPr>
          <p:nvPr>
            <p:ph type="sldNum" sz="quarter" idx="12"/>
          </p:nvPr>
        </p:nvSpPr>
        <p:spPr/>
        <p:txBody>
          <a:bodyPr/>
          <a:lstStyle/>
          <a:p>
            <a:fld id="{1ED2235E-0982-3B42-A838-A74550CD4449}" type="slidenum">
              <a:rPr lang="en-GB" smtClean="0"/>
              <a:pPr/>
              <a:t>‹#›</a:t>
            </a:fld>
            <a:endParaRPr lang="en-GB" dirty="0"/>
          </a:p>
        </p:txBody>
      </p:sp>
      <p:sp>
        <p:nvSpPr>
          <p:cNvPr id="12" name="Content Placeholder 3"/>
          <p:cNvSpPr>
            <a:spLocks noGrp="1"/>
          </p:cNvSpPr>
          <p:nvPr>
            <p:ph sz="half" idx="13"/>
          </p:nvPr>
        </p:nvSpPr>
        <p:spPr>
          <a:xfrm>
            <a:off x="7870824" y="2057400"/>
            <a:ext cx="3554411" cy="41084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Text Placeholder 7"/>
          <p:cNvSpPr>
            <a:spLocks noGrp="1"/>
          </p:cNvSpPr>
          <p:nvPr>
            <p:ph type="body" sz="quarter" idx="14" hasCustomPrompt="1"/>
          </p:nvPr>
        </p:nvSpPr>
        <p:spPr>
          <a:xfrm>
            <a:off x="761999" y="1085366"/>
            <a:ext cx="8375651" cy="276999"/>
          </a:xfrm>
        </p:spPr>
        <p:txBody>
          <a:bodyPr rIns="0">
            <a:noAutofit/>
          </a:bodyPr>
          <a:lstStyle>
            <a:lvl1pPr>
              <a:defRPr sz="1800"/>
            </a:lvl1pPr>
          </a:lstStyle>
          <a:p>
            <a:pPr lvl="0"/>
            <a:r>
              <a:rPr lang="en-GB" dirty="0"/>
              <a:t>Click to edit Master subtitle style if required</a:t>
            </a:r>
            <a:endParaRPr lang="en-US" dirty="0"/>
          </a:p>
        </p:txBody>
      </p:sp>
    </p:spTree>
    <p:extLst>
      <p:ext uri="{BB962C8B-B14F-4D97-AF65-F5344CB8AC3E}">
        <p14:creationId xmlns:p14="http://schemas.microsoft.com/office/powerpoint/2010/main" val="14134673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Mess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p>
        </p:txBody>
      </p:sp>
      <p:sp>
        <p:nvSpPr>
          <p:cNvPr id="3" name="Content Placeholder 2"/>
          <p:cNvSpPr>
            <a:spLocks noGrp="1"/>
          </p:cNvSpPr>
          <p:nvPr>
            <p:ph idx="1"/>
          </p:nvPr>
        </p:nvSpPr>
        <p:spPr/>
        <p:txBody>
          <a:bodyPr/>
          <a:lstStyle>
            <a:lvl1pPr>
              <a:spcBef>
                <a:spcPts val="1200"/>
              </a:spcBef>
              <a:spcAft>
                <a:spcPts val="1200"/>
              </a:spcAft>
              <a:defRPr sz="3800"/>
            </a:lvl1pPr>
            <a:lvl2pPr>
              <a:defRPr i="1"/>
            </a:lvl2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p:cNvSpPr>
            <a:spLocks noGrp="1"/>
          </p:cNvSpPr>
          <p:nvPr>
            <p:ph type="dt" sz="half" idx="10"/>
          </p:nvPr>
        </p:nvSpPr>
        <p:spPr/>
        <p:txBody>
          <a:bodyPr/>
          <a:lstStyle/>
          <a:p>
            <a:r>
              <a:rPr lang="it-IT" dirty="0"/>
              <a:t>19/09/2016</a:t>
            </a:r>
            <a:endParaRPr lang="en-GB" dirty="0"/>
          </a:p>
        </p:txBody>
      </p:sp>
      <p:sp>
        <p:nvSpPr>
          <p:cNvPr id="5" name="Footer Placeholder 4"/>
          <p:cNvSpPr>
            <a:spLocks noGrp="1"/>
          </p:cNvSpPr>
          <p:nvPr>
            <p:ph type="ftr" sz="quarter" idx="11"/>
          </p:nvPr>
        </p:nvSpPr>
        <p:spPr/>
        <p:txBody>
          <a:bodyPr/>
          <a:lstStyle/>
          <a:p>
            <a:r>
              <a:rPr lang="en-GB" dirty="0"/>
              <a:t>Reporting &amp; Analytics</a:t>
            </a:r>
          </a:p>
        </p:txBody>
      </p:sp>
      <p:sp>
        <p:nvSpPr>
          <p:cNvPr id="6" name="Slide Number Placeholder 5"/>
          <p:cNvSpPr>
            <a:spLocks noGrp="1"/>
          </p:cNvSpPr>
          <p:nvPr>
            <p:ph type="sldNum" sz="quarter" idx="12"/>
          </p:nvPr>
        </p:nvSpPr>
        <p:spPr/>
        <p:txBody>
          <a:bodyPr/>
          <a:lstStyle/>
          <a:p>
            <a:fld id="{1ED2235E-0982-3B42-A838-A74550CD4449}" type="slidenum">
              <a:rPr lang="en-GB" smtClean="0"/>
              <a:pPr/>
              <a:t>‹#›</a:t>
            </a:fld>
            <a:endParaRPr lang="en-GB" dirty="0"/>
          </a:p>
        </p:txBody>
      </p:sp>
      <p:sp>
        <p:nvSpPr>
          <p:cNvPr id="8" name="Text Placeholder 7"/>
          <p:cNvSpPr>
            <a:spLocks noGrp="1"/>
          </p:cNvSpPr>
          <p:nvPr>
            <p:ph type="body" sz="quarter" idx="13" hasCustomPrompt="1"/>
          </p:nvPr>
        </p:nvSpPr>
        <p:spPr>
          <a:xfrm>
            <a:off x="761999" y="1085366"/>
            <a:ext cx="8375651" cy="276999"/>
          </a:xfrm>
        </p:spPr>
        <p:txBody>
          <a:bodyPr rIns="0">
            <a:noAutofit/>
          </a:bodyPr>
          <a:lstStyle>
            <a:lvl1pPr>
              <a:defRPr sz="1800"/>
            </a:lvl1pPr>
          </a:lstStyle>
          <a:p>
            <a:pPr lvl="0"/>
            <a:r>
              <a:rPr lang="en-GB" dirty="0"/>
              <a:t>Click to edit Master subtitle style if required</a:t>
            </a:r>
            <a:endParaRPr lang="en-US" dirty="0"/>
          </a:p>
        </p:txBody>
      </p:sp>
    </p:spTree>
    <p:extLst>
      <p:ext uri="{BB962C8B-B14F-4D97-AF65-F5344CB8AC3E}">
        <p14:creationId xmlns:p14="http://schemas.microsoft.com/office/powerpoint/2010/main" val="25119880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r>
              <a:rPr lang="it-IT" dirty="0"/>
              <a:t>19/09/2016</a:t>
            </a:r>
            <a:endParaRPr lang="en-GB" dirty="0"/>
          </a:p>
        </p:txBody>
      </p:sp>
      <p:sp>
        <p:nvSpPr>
          <p:cNvPr id="4" name="Footer Placeholder 3"/>
          <p:cNvSpPr>
            <a:spLocks noGrp="1"/>
          </p:cNvSpPr>
          <p:nvPr>
            <p:ph type="ftr" sz="quarter" idx="11"/>
          </p:nvPr>
        </p:nvSpPr>
        <p:spPr/>
        <p:txBody>
          <a:bodyPr/>
          <a:lstStyle/>
          <a:p>
            <a:r>
              <a:rPr lang="en-GB" dirty="0"/>
              <a:t>Reporting &amp; Analytics</a:t>
            </a:r>
          </a:p>
        </p:txBody>
      </p:sp>
      <p:sp>
        <p:nvSpPr>
          <p:cNvPr id="5" name="Slide Number Placeholder 4"/>
          <p:cNvSpPr>
            <a:spLocks noGrp="1"/>
          </p:cNvSpPr>
          <p:nvPr>
            <p:ph type="sldNum" sz="quarter" idx="12"/>
          </p:nvPr>
        </p:nvSpPr>
        <p:spPr/>
        <p:txBody>
          <a:bodyPr/>
          <a:lstStyle/>
          <a:p>
            <a:fld id="{1ED2235E-0982-3B42-A838-A74550CD4449}" type="slidenum">
              <a:rPr lang="en-GB" smtClean="0"/>
              <a:pPr/>
              <a:t>‹#›</a:t>
            </a:fld>
            <a:endParaRPr lang="en-GB" dirty="0"/>
          </a:p>
        </p:txBody>
      </p:sp>
      <p:sp>
        <p:nvSpPr>
          <p:cNvPr id="7" name="Text Placeholder 7"/>
          <p:cNvSpPr>
            <a:spLocks noGrp="1"/>
          </p:cNvSpPr>
          <p:nvPr>
            <p:ph type="body" sz="quarter" idx="13" hasCustomPrompt="1"/>
          </p:nvPr>
        </p:nvSpPr>
        <p:spPr>
          <a:xfrm>
            <a:off x="761999" y="1085366"/>
            <a:ext cx="8375651" cy="276999"/>
          </a:xfrm>
        </p:spPr>
        <p:txBody>
          <a:bodyPr rIns="0">
            <a:noAutofit/>
          </a:bodyPr>
          <a:lstStyle>
            <a:lvl1pPr>
              <a:defRPr sz="1800"/>
            </a:lvl1pPr>
          </a:lstStyle>
          <a:p>
            <a:pPr lvl="0"/>
            <a:r>
              <a:rPr lang="en-GB" dirty="0"/>
              <a:t>Click to edit Master subtitle style if required</a:t>
            </a:r>
            <a:endParaRPr lang="en-US" dirty="0"/>
          </a:p>
        </p:txBody>
      </p:sp>
    </p:spTree>
    <p:extLst>
      <p:ext uri="{BB962C8B-B14F-4D97-AF65-F5344CB8AC3E}">
        <p14:creationId xmlns:p14="http://schemas.microsoft.com/office/powerpoint/2010/main" val="3645586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it-IT" dirty="0"/>
              <a:t>19/09/2016</a:t>
            </a:r>
            <a:endParaRPr lang="en-GB" dirty="0"/>
          </a:p>
        </p:txBody>
      </p:sp>
      <p:sp>
        <p:nvSpPr>
          <p:cNvPr id="3" name="Footer Placeholder 2"/>
          <p:cNvSpPr>
            <a:spLocks noGrp="1"/>
          </p:cNvSpPr>
          <p:nvPr>
            <p:ph type="ftr" sz="quarter" idx="11"/>
          </p:nvPr>
        </p:nvSpPr>
        <p:spPr/>
        <p:txBody>
          <a:bodyPr/>
          <a:lstStyle/>
          <a:p>
            <a:r>
              <a:rPr lang="en-GB" dirty="0"/>
              <a:t>Reporting &amp; Analytics</a:t>
            </a:r>
          </a:p>
        </p:txBody>
      </p:sp>
      <p:sp>
        <p:nvSpPr>
          <p:cNvPr id="4" name="Slide Number Placeholder 3"/>
          <p:cNvSpPr>
            <a:spLocks noGrp="1"/>
          </p:cNvSpPr>
          <p:nvPr>
            <p:ph type="sldNum" sz="quarter" idx="12"/>
          </p:nvPr>
        </p:nvSpPr>
        <p:spPr/>
        <p:txBody>
          <a:bodyPr/>
          <a:lstStyle/>
          <a:p>
            <a:fld id="{1ED2235E-0982-3B42-A838-A74550CD4449}" type="slidenum">
              <a:rPr lang="en-GB" smtClean="0"/>
              <a:pPr/>
              <a:t>‹#›</a:t>
            </a:fld>
            <a:endParaRPr lang="en-GB" dirty="0"/>
          </a:p>
        </p:txBody>
      </p:sp>
    </p:spTree>
    <p:extLst>
      <p:ext uri="{BB962C8B-B14F-4D97-AF65-F5344CB8AC3E}">
        <p14:creationId xmlns:p14="http://schemas.microsoft.com/office/powerpoint/2010/main" val="1855332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image" Target="../media/image2.png"/><Relationship Id="rId4" Type="http://schemas.openxmlformats.org/officeDocument/2006/relationships/slideLayout" Target="../slideLayouts/slideLayout13.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ggetto 6" hidden="1"/>
          <p:cNvGraphicFramePr>
            <a:graphicFrameLocks noChangeAspect="1"/>
          </p:cNvGraphicFramePr>
          <p:nvPr userDrawn="1">
            <p:custDataLst>
              <p:tags r:id="rId11"/>
            </p:custDataLst>
            <p:extLst>
              <p:ext uri="{D42A27DB-BD31-4B8C-83A1-F6EECF244321}">
                <p14:modId xmlns:p14="http://schemas.microsoft.com/office/powerpoint/2010/main" val="37824704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12" imgW="270" imgH="270" progId="TCLayout.ActiveDocument.1">
                  <p:embed/>
                </p:oleObj>
              </mc:Choice>
              <mc:Fallback>
                <p:oleObj name="Diapositiva think-cell" r:id="rId12" imgW="270" imgH="270" progId="TCLayout.ActiveDocument.1">
                  <p:embed/>
                  <p:pic>
                    <p:nvPicPr>
                      <p:cNvPr id="7" name="Oggetto 6" hidden="1"/>
                      <p:cNvPicPr/>
                      <p:nvPr/>
                    </p:nvPicPr>
                    <p:blipFill>
                      <a:blip r:embed="rId13"/>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761999" y="670121"/>
            <a:ext cx="8375651" cy="394980"/>
          </a:xfrm>
          <a:prstGeom prst="rect">
            <a:avLst/>
          </a:prstGeom>
        </p:spPr>
        <p:txBody>
          <a:bodyPr vert="horz" wrap="square" lIns="0" tIns="0" rIns="0" bIns="0" rtlCol="0" anchor="t">
            <a:noAutofit/>
          </a:bodyPr>
          <a:lstStyle/>
          <a:p>
            <a:r>
              <a:rPr lang="it-IT" noProof="0"/>
              <a:t>Fare clic per modificare lo stile del titolo</a:t>
            </a:r>
            <a:endParaRPr lang="en-GB" noProof="0"/>
          </a:p>
        </p:txBody>
      </p:sp>
      <p:sp>
        <p:nvSpPr>
          <p:cNvPr id="3" name="Text Placeholder 2"/>
          <p:cNvSpPr>
            <a:spLocks noGrp="1"/>
          </p:cNvSpPr>
          <p:nvPr>
            <p:ph type="body" idx="1"/>
          </p:nvPr>
        </p:nvSpPr>
        <p:spPr>
          <a:xfrm>
            <a:off x="761999" y="2055703"/>
            <a:ext cx="10664825" cy="4110147"/>
          </a:xfrm>
          <a:prstGeom prst="rect">
            <a:avLst/>
          </a:prstGeom>
        </p:spPr>
        <p:txBody>
          <a:bodyPr vert="horz" wrap="square" lIns="0" tIns="0" rIns="180000" bIns="0" rtlCol="0">
            <a:noAutofit/>
          </a:bodyPr>
          <a:lstStyle/>
          <a:p>
            <a:pPr lvl="0"/>
            <a:r>
              <a:rPr lang="it-IT" noProof="0"/>
              <a:t>Fare clic per modificare stili del testo dello schema</a:t>
            </a:r>
          </a:p>
          <a:p>
            <a:pPr lvl="1"/>
            <a:r>
              <a:rPr lang="it-IT" noProof="0"/>
              <a:t>Secondo livello</a:t>
            </a:r>
          </a:p>
          <a:p>
            <a:pPr lvl="2"/>
            <a:r>
              <a:rPr lang="it-IT" noProof="0"/>
              <a:t>Terzo livello</a:t>
            </a:r>
          </a:p>
          <a:p>
            <a:pPr lvl="3"/>
            <a:r>
              <a:rPr lang="it-IT" noProof="0"/>
              <a:t>Quarto livello</a:t>
            </a:r>
          </a:p>
          <a:p>
            <a:pPr lvl="4"/>
            <a:r>
              <a:rPr lang="it-IT" noProof="0"/>
              <a:t>Quinto livello</a:t>
            </a:r>
            <a:endParaRPr lang="en-GB" noProof="0"/>
          </a:p>
        </p:txBody>
      </p:sp>
      <p:sp>
        <p:nvSpPr>
          <p:cNvPr id="4" name="Date Placeholder 3"/>
          <p:cNvSpPr>
            <a:spLocks noGrp="1"/>
          </p:cNvSpPr>
          <p:nvPr>
            <p:ph type="dt" sz="half" idx="2"/>
          </p:nvPr>
        </p:nvSpPr>
        <p:spPr>
          <a:xfrm>
            <a:off x="772211" y="6264005"/>
            <a:ext cx="1510613" cy="153888"/>
          </a:xfrm>
          <a:prstGeom prst="rect">
            <a:avLst/>
          </a:prstGeom>
        </p:spPr>
        <p:txBody>
          <a:bodyPr vert="horz" wrap="square" lIns="0" tIns="0" rIns="0" bIns="0" rtlCol="0" anchor="ctr">
            <a:noAutofit/>
          </a:bodyPr>
          <a:lstStyle>
            <a:lvl1pPr algn="l">
              <a:defRPr sz="1000">
                <a:solidFill>
                  <a:schemeClr val="tx2">
                    <a:lumMod val="75000"/>
                  </a:schemeClr>
                </a:solidFill>
              </a:defRPr>
            </a:lvl1pPr>
          </a:lstStyle>
          <a:p>
            <a:r>
              <a:rPr lang="it-IT" noProof="0" dirty="0"/>
              <a:t>19/09/2016</a:t>
            </a:r>
            <a:endParaRPr lang="en-GB" noProof="0" dirty="0"/>
          </a:p>
        </p:txBody>
      </p:sp>
      <p:sp>
        <p:nvSpPr>
          <p:cNvPr id="5" name="Footer Placeholder 4"/>
          <p:cNvSpPr>
            <a:spLocks noGrp="1"/>
          </p:cNvSpPr>
          <p:nvPr>
            <p:ph type="ftr" sz="quarter" idx="3"/>
          </p:nvPr>
        </p:nvSpPr>
        <p:spPr>
          <a:xfrm>
            <a:off x="2282825" y="6264005"/>
            <a:ext cx="8381999" cy="153888"/>
          </a:xfrm>
          <a:prstGeom prst="rect">
            <a:avLst/>
          </a:prstGeom>
        </p:spPr>
        <p:txBody>
          <a:bodyPr vert="horz" wrap="square" lIns="0" tIns="0" rIns="0" bIns="0" rtlCol="0" anchor="ctr">
            <a:noAutofit/>
          </a:bodyPr>
          <a:lstStyle>
            <a:lvl1pPr algn="l">
              <a:defRPr sz="1000">
                <a:solidFill>
                  <a:schemeClr val="tx2">
                    <a:lumMod val="75000"/>
                  </a:schemeClr>
                </a:solidFill>
              </a:defRPr>
            </a:lvl1pPr>
          </a:lstStyle>
          <a:p>
            <a:r>
              <a:rPr lang="en-GB" noProof="0" dirty="0"/>
              <a:t>Reporting &amp; Analytics</a:t>
            </a:r>
          </a:p>
        </p:txBody>
      </p:sp>
      <p:sp>
        <p:nvSpPr>
          <p:cNvPr id="6" name="Slide Number Placeholder 5"/>
          <p:cNvSpPr>
            <a:spLocks noGrp="1"/>
          </p:cNvSpPr>
          <p:nvPr>
            <p:ph type="sldNum" sz="quarter" idx="4"/>
          </p:nvPr>
        </p:nvSpPr>
        <p:spPr>
          <a:xfrm>
            <a:off x="10664825" y="6264005"/>
            <a:ext cx="762000" cy="153888"/>
          </a:xfrm>
          <a:prstGeom prst="rect">
            <a:avLst/>
          </a:prstGeom>
        </p:spPr>
        <p:txBody>
          <a:bodyPr vert="horz" wrap="square" lIns="0" tIns="0" rIns="0" bIns="0" rtlCol="0" anchor="ctr">
            <a:noAutofit/>
          </a:bodyPr>
          <a:lstStyle>
            <a:lvl1pPr algn="r">
              <a:defRPr sz="1000">
                <a:solidFill>
                  <a:schemeClr val="tx2">
                    <a:lumMod val="75000"/>
                  </a:schemeClr>
                </a:solidFill>
              </a:defRPr>
            </a:lvl1pPr>
          </a:lstStyle>
          <a:p>
            <a:fld id="{1ED2235E-0982-3B42-A838-A74550CD4449}" type="slidenum">
              <a:rPr lang="en-GB" noProof="0" smtClean="0"/>
              <a:pPr/>
              <a:t>‹#›</a:t>
            </a:fld>
            <a:endParaRPr lang="en-GB" noProof="0" dirty="0"/>
          </a:p>
        </p:txBody>
      </p:sp>
      <p:sp>
        <p:nvSpPr>
          <p:cNvPr id="10" name="Rectangle 9"/>
          <p:cNvSpPr/>
          <p:nvPr/>
        </p:nvSpPr>
        <p:spPr>
          <a:xfrm>
            <a:off x="403225" y="688975"/>
            <a:ext cx="196850" cy="6826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endParaRPr lang="en-GB" noProof="0" dirty="0"/>
          </a:p>
        </p:txBody>
      </p:sp>
      <p:pic>
        <p:nvPicPr>
          <p:cNvPr id="11" name="Picture 10"/>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9948333" y="701166"/>
            <a:ext cx="1478493" cy="535932"/>
          </a:xfrm>
          <a:prstGeom prst="rect">
            <a:avLst/>
          </a:prstGeom>
        </p:spPr>
      </p:pic>
      <p:sp>
        <p:nvSpPr>
          <p:cNvPr id="8" name="MSIPCMContentMarking" descr="{&quot;HashCode&quot;:-75512786,&quot;Placement&quot;:&quot;Header&quot;}">
            <a:extLst>
              <a:ext uri="{FF2B5EF4-FFF2-40B4-BE49-F238E27FC236}">
                <a16:creationId xmlns:a16="http://schemas.microsoft.com/office/drawing/2014/main" id="{071293E3-C7D8-4740-BF27-B65B7EA63C68}"/>
              </a:ext>
            </a:extLst>
          </p:cNvPr>
          <p:cNvSpPr txBox="1"/>
          <p:nvPr userDrawn="1"/>
        </p:nvSpPr>
        <p:spPr>
          <a:xfrm>
            <a:off x="5723809" y="0"/>
            <a:ext cx="744382" cy="217646"/>
          </a:xfrm>
          <a:prstGeom prst="rect">
            <a:avLst/>
          </a:prstGeom>
          <a:noFill/>
        </p:spPr>
        <p:txBody>
          <a:bodyPr vert="horz" wrap="square" lIns="0" tIns="0" rIns="0" bIns="0" rtlCol="0" anchor="ctr" anchorCtr="1">
            <a:spAutoFit/>
          </a:bodyPr>
          <a:lstStyle/>
          <a:p>
            <a:pPr algn="ctr">
              <a:spcBef>
                <a:spcPts val="0"/>
              </a:spcBef>
              <a:spcAft>
                <a:spcPts val="0"/>
              </a:spcAft>
            </a:pPr>
            <a:r>
              <a:rPr lang="en-GB" sz="800">
                <a:solidFill>
                  <a:srgbClr val="000000"/>
                </a:solidFill>
                <a:latin typeface="Arial" panose="020B0604020202020204" pitchFamily="34" charset="0"/>
              </a:rPr>
              <a:t>INTERNAL</a:t>
            </a:r>
            <a:endParaRPr lang="en-GB" sz="800" dirty="0">
              <a:solidFill>
                <a:srgbClr val="000000"/>
              </a:solidFill>
              <a:latin typeface="Arial" panose="020B0604020202020204" pitchFamily="34" charset="0"/>
            </a:endParaRPr>
          </a:p>
        </p:txBody>
      </p:sp>
    </p:spTree>
    <p:extLst>
      <p:ext uri="{BB962C8B-B14F-4D97-AF65-F5344CB8AC3E}">
        <p14:creationId xmlns:p14="http://schemas.microsoft.com/office/powerpoint/2010/main" val="308222520"/>
      </p:ext>
    </p:extLst>
  </p:cSld>
  <p:clrMap bg1="lt1" tx1="dk1" bg2="lt2" tx2="dk2" accent1="accent1" accent2="accent2" accent3="accent3" accent4="accent4" accent5="accent5" accent6="accent6" hlink="hlink" folHlink="folHlink"/>
  <p:sldLayoutIdLst>
    <p:sldLayoutId id="2147483661" r:id="rId1"/>
    <p:sldLayoutId id="2147483650" r:id="rId2"/>
    <p:sldLayoutId id="2147483665" r:id="rId3"/>
    <p:sldLayoutId id="2147483652" r:id="rId4"/>
    <p:sldLayoutId id="2147483657" r:id="rId5"/>
    <p:sldLayoutId id="2147483658" r:id="rId6"/>
    <p:sldLayoutId id="2147483654" r:id="rId7"/>
    <p:sldLayoutId id="2147483655" r:id="rId8"/>
    <p:sldLayoutId id="2147483698" r:id="rId9"/>
  </p:sldLayoutIdLst>
  <p:hf hdr="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600"/>
        </a:spcAft>
        <a:buFont typeface="Arial"/>
        <a:buNone/>
        <a:tabLst>
          <a:tab pos="1057275" algn="l"/>
        </a:tabLst>
        <a:defRPr sz="1800" kern="1200">
          <a:solidFill>
            <a:schemeClr val="tx1"/>
          </a:solidFill>
          <a:latin typeface="+mn-lt"/>
          <a:ea typeface="+mn-ea"/>
          <a:cs typeface="+mn-cs"/>
        </a:defRPr>
      </a:lvl1pPr>
      <a:lvl2pPr marL="285750" indent="-285750" algn="l" defTabSz="914400" rtl="0" eaLnBrk="1" latinLnBrk="0" hangingPunct="1">
        <a:lnSpc>
          <a:spcPct val="100000"/>
        </a:lnSpc>
        <a:spcBef>
          <a:spcPts val="0"/>
        </a:spcBef>
        <a:spcAft>
          <a:spcPts val="600"/>
        </a:spcAft>
        <a:buFont typeface="Lucida Grande"/>
        <a:buChar char="-"/>
        <a:tabLst>
          <a:tab pos="1057275" algn="l"/>
        </a:tabLst>
        <a:defRPr sz="1800" i="0" kern="1200">
          <a:solidFill>
            <a:schemeClr val="tx1"/>
          </a:solidFill>
          <a:latin typeface="+mn-lt"/>
          <a:ea typeface="+mn-ea"/>
          <a:cs typeface="+mn-cs"/>
        </a:defRPr>
      </a:lvl2pPr>
      <a:lvl3pPr marL="539750" indent="-269875" algn="l" defTabSz="914400" rtl="0" eaLnBrk="1" latinLnBrk="0" hangingPunct="1">
        <a:lnSpc>
          <a:spcPct val="100000"/>
        </a:lnSpc>
        <a:spcBef>
          <a:spcPts val="0"/>
        </a:spcBef>
        <a:spcAft>
          <a:spcPts val="600"/>
        </a:spcAft>
        <a:buFont typeface="Lucida Grande"/>
        <a:buChar char="-"/>
        <a:tabLst>
          <a:tab pos="1057275" algn="l"/>
        </a:tabLst>
        <a:defRPr sz="1800" kern="1200">
          <a:solidFill>
            <a:schemeClr val="tx1"/>
          </a:solidFill>
          <a:latin typeface="+mn-lt"/>
          <a:ea typeface="+mn-ea"/>
          <a:cs typeface="+mn-cs"/>
        </a:defRPr>
      </a:lvl3pPr>
      <a:lvl4pPr marL="541338" indent="-271463" algn="l" defTabSz="914400" rtl="0" eaLnBrk="1" latinLnBrk="0" hangingPunct="1">
        <a:lnSpc>
          <a:spcPct val="100000"/>
        </a:lnSpc>
        <a:spcBef>
          <a:spcPts val="0"/>
        </a:spcBef>
        <a:spcAft>
          <a:spcPts val="600"/>
        </a:spcAft>
        <a:buFont typeface="Lucida Grande"/>
        <a:buChar char="-"/>
        <a:tabLst>
          <a:tab pos="1057275" algn="l"/>
        </a:tabLst>
        <a:defRPr sz="1800" kern="1200">
          <a:solidFill>
            <a:schemeClr val="tx1"/>
          </a:solidFill>
          <a:latin typeface="+mn-lt"/>
          <a:ea typeface="+mn-ea"/>
          <a:cs typeface="+mn-cs"/>
        </a:defRPr>
      </a:lvl4pPr>
      <a:lvl5pPr marL="541338" indent="-271463" algn="l" defTabSz="914400" rtl="0" eaLnBrk="1" latinLnBrk="0" hangingPunct="1">
        <a:lnSpc>
          <a:spcPct val="100000"/>
        </a:lnSpc>
        <a:spcBef>
          <a:spcPts val="0"/>
        </a:spcBef>
        <a:spcAft>
          <a:spcPts val="600"/>
        </a:spcAft>
        <a:buFont typeface="Lucida Grande"/>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80">
          <p15:clr>
            <a:srgbClr val="F26B43"/>
          </p15:clr>
        </p15:guide>
        <p15:guide id="4" pos="1920">
          <p15:clr>
            <a:srgbClr val="F26B43"/>
          </p15:clr>
        </p15:guide>
        <p15:guide id="5" pos="960">
          <p15:clr>
            <a:srgbClr val="F26B43"/>
          </p15:clr>
        </p15:guide>
        <p15:guide id="6" pos="1438">
          <p15:clr>
            <a:srgbClr val="F26B43"/>
          </p15:clr>
        </p15:guide>
        <p15:guide id="7" pos="2398">
          <p15:clr>
            <a:srgbClr val="F26B43"/>
          </p15:clr>
        </p15:guide>
        <p15:guide id="8" pos="2880">
          <p15:clr>
            <a:srgbClr val="F26B43"/>
          </p15:clr>
        </p15:guide>
        <p15:guide id="9" pos="3360">
          <p15:clr>
            <a:srgbClr val="F26B43"/>
          </p15:clr>
        </p15:guide>
        <p15:guide id="10" pos="4320">
          <p15:clr>
            <a:srgbClr val="F26B43"/>
          </p15:clr>
        </p15:guide>
        <p15:guide id="11" pos="4798">
          <p15:clr>
            <a:srgbClr val="F26B43"/>
          </p15:clr>
        </p15:guide>
        <p15:guide id="12" pos="5278">
          <p15:clr>
            <a:srgbClr val="F26B43"/>
          </p15:clr>
        </p15:guide>
        <p15:guide id="13" pos="5756">
          <p15:clr>
            <a:srgbClr val="F26B43"/>
          </p15:clr>
        </p15:guide>
        <p15:guide id="14" pos="6236">
          <p15:clr>
            <a:srgbClr val="F26B43"/>
          </p15:clr>
        </p15:guide>
        <p15:guide id="15" pos="6718">
          <p15:clr>
            <a:srgbClr val="F26B43"/>
          </p15:clr>
        </p15:guide>
        <p15:guide id="16" pos="7197">
          <p15:clr>
            <a:srgbClr val="F26B43"/>
          </p15:clr>
        </p15:guide>
        <p15:guide id="17" orient="horz" pos="1728">
          <p15:clr>
            <a:srgbClr val="F26B43"/>
          </p15:clr>
        </p15:guide>
        <p15:guide id="18" orient="horz" pos="1296">
          <p15:clr>
            <a:srgbClr val="F26B43"/>
          </p15:clr>
        </p15:guide>
        <p15:guide id="19" orient="horz" pos="864">
          <p15:clr>
            <a:srgbClr val="F26B43"/>
          </p15:clr>
        </p15:guide>
        <p15:guide id="20" orient="horz" pos="434">
          <p15:clr>
            <a:srgbClr val="F26B43"/>
          </p15:clr>
        </p15:guide>
        <p15:guide id="21" orient="horz" pos="2590">
          <p15:clr>
            <a:srgbClr val="F26B43"/>
          </p15:clr>
        </p15:guide>
        <p15:guide id="22" orient="horz" pos="3022">
          <p15:clr>
            <a:srgbClr val="F26B43"/>
          </p15:clr>
        </p15:guide>
        <p15:guide id="23" orient="horz" pos="3454">
          <p15:clr>
            <a:srgbClr val="F26B43"/>
          </p15:clr>
        </p15:guide>
        <p15:guide id="24" orient="horz" pos="388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1999" y="670121"/>
            <a:ext cx="8375651" cy="394980"/>
          </a:xfrm>
          <a:prstGeom prst="rect">
            <a:avLst/>
          </a:prstGeom>
        </p:spPr>
        <p:txBody>
          <a:bodyPr vert="horz" wrap="square" lIns="0" tIns="0" rIns="0" bIns="0" rtlCol="0" anchor="t">
            <a:noAutofit/>
          </a:bodyPr>
          <a:lstStyle/>
          <a:p>
            <a:r>
              <a:rPr lang="en-GB" noProof="0"/>
              <a:t>Click to edit Master title style</a:t>
            </a:r>
          </a:p>
        </p:txBody>
      </p:sp>
      <p:sp>
        <p:nvSpPr>
          <p:cNvPr id="3" name="Text Placeholder 2"/>
          <p:cNvSpPr>
            <a:spLocks noGrp="1"/>
          </p:cNvSpPr>
          <p:nvPr>
            <p:ph type="body" idx="1"/>
          </p:nvPr>
        </p:nvSpPr>
        <p:spPr>
          <a:xfrm>
            <a:off x="761999" y="2055703"/>
            <a:ext cx="10664825" cy="4110147"/>
          </a:xfrm>
          <a:prstGeom prst="rect">
            <a:avLst/>
          </a:prstGeom>
        </p:spPr>
        <p:txBody>
          <a:bodyPr vert="horz" wrap="square" lIns="0" tIns="0" rIns="18000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Date Placeholder 3"/>
          <p:cNvSpPr>
            <a:spLocks noGrp="1"/>
          </p:cNvSpPr>
          <p:nvPr>
            <p:ph type="dt" sz="half" idx="2"/>
          </p:nvPr>
        </p:nvSpPr>
        <p:spPr>
          <a:xfrm>
            <a:off x="772211" y="6264005"/>
            <a:ext cx="1510613" cy="153888"/>
          </a:xfrm>
          <a:prstGeom prst="rect">
            <a:avLst/>
          </a:prstGeom>
        </p:spPr>
        <p:txBody>
          <a:bodyPr vert="horz" wrap="square" lIns="0" tIns="0" rIns="0" bIns="0" rtlCol="0" anchor="ctr">
            <a:noAutofit/>
          </a:bodyPr>
          <a:lstStyle>
            <a:lvl1pPr algn="l">
              <a:defRPr sz="1000">
                <a:solidFill>
                  <a:schemeClr val="tx2">
                    <a:lumMod val="75000"/>
                  </a:schemeClr>
                </a:solidFill>
              </a:defRPr>
            </a:lvl1pPr>
          </a:lstStyle>
          <a:p>
            <a:r>
              <a:rPr lang="it-IT" noProof="0" dirty="0"/>
              <a:t>19/09/2016</a:t>
            </a:r>
            <a:endParaRPr lang="en-GB" noProof="0" dirty="0"/>
          </a:p>
        </p:txBody>
      </p:sp>
      <p:sp>
        <p:nvSpPr>
          <p:cNvPr id="5" name="Footer Placeholder 4"/>
          <p:cNvSpPr>
            <a:spLocks noGrp="1"/>
          </p:cNvSpPr>
          <p:nvPr>
            <p:ph type="ftr" sz="quarter" idx="3"/>
          </p:nvPr>
        </p:nvSpPr>
        <p:spPr>
          <a:xfrm>
            <a:off x="2282825" y="6264005"/>
            <a:ext cx="8381999" cy="153888"/>
          </a:xfrm>
          <a:prstGeom prst="rect">
            <a:avLst/>
          </a:prstGeom>
        </p:spPr>
        <p:txBody>
          <a:bodyPr vert="horz" wrap="square" lIns="0" tIns="0" rIns="0" bIns="0" rtlCol="0" anchor="ctr">
            <a:noAutofit/>
          </a:bodyPr>
          <a:lstStyle>
            <a:lvl1pPr algn="l">
              <a:defRPr sz="1000">
                <a:solidFill>
                  <a:schemeClr val="tx2">
                    <a:lumMod val="75000"/>
                  </a:schemeClr>
                </a:solidFill>
              </a:defRPr>
            </a:lvl1pPr>
          </a:lstStyle>
          <a:p>
            <a:r>
              <a:rPr lang="en-GB" noProof="0" dirty="0"/>
              <a:t>Reporting &amp; Analytics</a:t>
            </a:r>
          </a:p>
        </p:txBody>
      </p:sp>
      <p:sp>
        <p:nvSpPr>
          <p:cNvPr id="6" name="Slide Number Placeholder 5"/>
          <p:cNvSpPr>
            <a:spLocks noGrp="1"/>
          </p:cNvSpPr>
          <p:nvPr>
            <p:ph type="sldNum" sz="quarter" idx="4"/>
          </p:nvPr>
        </p:nvSpPr>
        <p:spPr>
          <a:xfrm>
            <a:off x="10664825" y="6264005"/>
            <a:ext cx="762000" cy="153888"/>
          </a:xfrm>
          <a:prstGeom prst="rect">
            <a:avLst/>
          </a:prstGeom>
        </p:spPr>
        <p:txBody>
          <a:bodyPr vert="horz" wrap="square" lIns="0" tIns="0" rIns="0" bIns="0" rtlCol="0" anchor="ctr">
            <a:noAutofit/>
          </a:bodyPr>
          <a:lstStyle>
            <a:lvl1pPr algn="r">
              <a:defRPr sz="1000">
                <a:solidFill>
                  <a:schemeClr val="tx2">
                    <a:lumMod val="75000"/>
                  </a:schemeClr>
                </a:solidFill>
              </a:defRPr>
            </a:lvl1pPr>
          </a:lstStyle>
          <a:p>
            <a:fld id="{1ED2235E-0982-3B42-A838-A74550CD4449}" type="slidenum">
              <a:rPr lang="en-GB" noProof="0" smtClean="0"/>
              <a:pPr/>
              <a:t>‹#›</a:t>
            </a:fld>
            <a:endParaRPr lang="en-GB" noProof="0" dirty="0"/>
          </a:p>
        </p:txBody>
      </p:sp>
      <p:sp>
        <p:nvSpPr>
          <p:cNvPr id="10" name="Rectangle 9"/>
          <p:cNvSpPr/>
          <p:nvPr/>
        </p:nvSpPr>
        <p:spPr>
          <a:xfrm>
            <a:off x="403225" y="688975"/>
            <a:ext cx="196850" cy="6826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endParaRPr lang="en-GB" noProof="0" dirty="0"/>
          </a:p>
        </p:txBody>
      </p:sp>
      <p:pic>
        <p:nvPicPr>
          <p:cNvPr id="9" name="Picture 8"/>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9948333" y="701166"/>
            <a:ext cx="1478493" cy="535932"/>
          </a:xfrm>
          <a:prstGeom prst="rect">
            <a:avLst/>
          </a:prstGeom>
        </p:spPr>
      </p:pic>
      <p:sp>
        <p:nvSpPr>
          <p:cNvPr id="7" name="MSIPCMContentMarking" descr="{&quot;HashCode&quot;:-75512786,&quot;Placement&quot;:&quot;Header&quot;}">
            <a:extLst>
              <a:ext uri="{FF2B5EF4-FFF2-40B4-BE49-F238E27FC236}">
                <a16:creationId xmlns:a16="http://schemas.microsoft.com/office/drawing/2014/main" id="{FC172B7F-CBF7-4FFE-A2A0-41076A703382}"/>
              </a:ext>
            </a:extLst>
          </p:cNvPr>
          <p:cNvSpPr txBox="1"/>
          <p:nvPr userDrawn="1"/>
        </p:nvSpPr>
        <p:spPr>
          <a:xfrm>
            <a:off x="5723809" y="0"/>
            <a:ext cx="744382" cy="217646"/>
          </a:xfrm>
          <a:prstGeom prst="rect">
            <a:avLst/>
          </a:prstGeom>
          <a:noFill/>
        </p:spPr>
        <p:txBody>
          <a:bodyPr vert="horz" wrap="square" lIns="0" tIns="0" rIns="0" bIns="0" rtlCol="0" anchor="ctr" anchorCtr="1">
            <a:spAutoFit/>
          </a:bodyPr>
          <a:lstStyle/>
          <a:p>
            <a:pPr algn="ctr">
              <a:spcBef>
                <a:spcPts val="0"/>
              </a:spcBef>
              <a:spcAft>
                <a:spcPts val="0"/>
              </a:spcAft>
            </a:pPr>
            <a:r>
              <a:rPr lang="en-GB" sz="800">
                <a:solidFill>
                  <a:srgbClr val="000000"/>
                </a:solidFill>
                <a:latin typeface="Arial" panose="020B0604020202020204" pitchFamily="34" charset="0"/>
              </a:rPr>
              <a:t>INTERNAL</a:t>
            </a:r>
            <a:endParaRPr lang="en-GB" sz="800" dirty="0">
              <a:solidFill>
                <a:srgbClr val="000000"/>
              </a:solidFill>
              <a:latin typeface="Arial" panose="020B0604020202020204" pitchFamily="34" charset="0"/>
            </a:endParaRPr>
          </a:p>
        </p:txBody>
      </p:sp>
    </p:spTree>
    <p:extLst>
      <p:ext uri="{BB962C8B-B14F-4D97-AF65-F5344CB8AC3E}">
        <p14:creationId xmlns:p14="http://schemas.microsoft.com/office/powerpoint/2010/main" val="3425190829"/>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6" r:id="rId3"/>
    <p:sldLayoutId id="2147483681" r:id="rId4"/>
    <p:sldLayoutId id="2147483682" r:id="rId5"/>
    <p:sldLayoutId id="2147483683" r:id="rId6"/>
    <p:sldLayoutId id="2147483685" r:id="rId7"/>
    <p:sldLayoutId id="2147483686" r:id="rId8"/>
  </p:sldLayoutIdLst>
  <p:hf hdr="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600"/>
        </a:spcAft>
        <a:buFont typeface="Arial"/>
        <a:buNone/>
        <a:tabLst>
          <a:tab pos="1057275" algn="l"/>
        </a:tabLst>
        <a:defRPr sz="1800" kern="1200">
          <a:solidFill>
            <a:schemeClr val="tx1"/>
          </a:solidFill>
          <a:latin typeface="+mn-lt"/>
          <a:ea typeface="+mn-ea"/>
          <a:cs typeface="+mn-cs"/>
        </a:defRPr>
      </a:lvl1pPr>
      <a:lvl2pPr marL="285750" indent="-285750" algn="l" defTabSz="914400" rtl="0" eaLnBrk="1" latinLnBrk="0" hangingPunct="1">
        <a:lnSpc>
          <a:spcPct val="100000"/>
        </a:lnSpc>
        <a:spcBef>
          <a:spcPts val="0"/>
        </a:spcBef>
        <a:spcAft>
          <a:spcPts val="600"/>
        </a:spcAft>
        <a:buFont typeface="Lucida Grande"/>
        <a:buChar char="-"/>
        <a:tabLst>
          <a:tab pos="1057275" algn="l"/>
        </a:tabLst>
        <a:defRPr sz="1800" i="0" kern="1200">
          <a:solidFill>
            <a:schemeClr val="tx1"/>
          </a:solidFill>
          <a:latin typeface="+mn-lt"/>
          <a:ea typeface="+mn-ea"/>
          <a:cs typeface="+mn-cs"/>
        </a:defRPr>
      </a:lvl2pPr>
      <a:lvl3pPr marL="539750" indent="-269875" algn="l" defTabSz="914400" rtl="0" eaLnBrk="1" latinLnBrk="0" hangingPunct="1">
        <a:lnSpc>
          <a:spcPct val="100000"/>
        </a:lnSpc>
        <a:spcBef>
          <a:spcPts val="0"/>
        </a:spcBef>
        <a:spcAft>
          <a:spcPts val="600"/>
        </a:spcAft>
        <a:buFont typeface="Lucida Grande"/>
        <a:buChar char="-"/>
        <a:tabLst>
          <a:tab pos="1057275" algn="l"/>
        </a:tabLst>
        <a:defRPr sz="1800" kern="1200">
          <a:solidFill>
            <a:schemeClr val="tx1"/>
          </a:solidFill>
          <a:latin typeface="+mn-lt"/>
          <a:ea typeface="+mn-ea"/>
          <a:cs typeface="+mn-cs"/>
        </a:defRPr>
      </a:lvl3pPr>
      <a:lvl4pPr marL="541338" indent="-271463" algn="l" defTabSz="914400" rtl="0" eaLnBrk="1" latinLnBrk="0" hangingPunct="1">
        <a:lnSpc>
          <a:spcPct val="100000"/>
        </a:lnSpc>
        <a:spcBef>
          <a:spcPts val="0"/>
        </a:spcBef>
        <a:spcAft>
          <a:spcPts val="600"/>
        </a:spcAft>
        <a:buFont typeface="Lucida Grande"/>
        <a:buChar char="-"/>
        <a:tabLst>
          <a:tab pos="1057275" algn="l"/>
        </a:tabLst>
        <a:defRPr sz="1800" kern="1200">
          <a:solidFill>
            <a:schemeClr val="tx1"/>
          </a:solidFill>
          <a:latin typeface="+mn-lt"/>
          <a:ea typeface="+mn-ea"/>
          <a:cs typeface="+mn-cs"/>
        </a:defRPr>
      </a:lvl4pPr>
      <a:lvl5pPr marL="541338" indent="-271463" algn="l" defTabSz="914400" rtl="0" eaLnBrk="1" latinLnBrk="0" hangingPunct="1">
        <a:lnSpc>
          <a:spcPct val="100000"/>
        </a:lnSpc>
        <a:spcBef>
          <a:spcPts val="0"/>
        </a:spcBef>
        <a:spcAft>
          <a:spcPts val="600"/>
        </a:spcAft>
        <a:buFont typeface="Lucida Grande"/>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80" userDrawn="1">
          <p15:clr>
            <a:srgbClr val="F26B43"/>
          </p15:clr>
        </p15:guide>
        <p15:guide id="4" pos="1920" userDrawn="1">
          <p15:clr>
            <a:srgbClr val="F26B43"/>
          </p15:clr>
        </p15:guide>
        <p15:guide id="5" pos="960" userDrawn="1">
          <p15:clr>
            <a:srgbClr val="F26B43"/>
          </p15:clr>
        </p15:guide>
        <p15:guide id="6" pos="1438" userDrawn="1">
          <p15:clr>
            <a:srgbClr val="F26B43"/>
          </p15:clr>
        </p15:guide>
        <p15:guide id="7" pos="2398" userDrawn="1">
          <p15:clr>
            <a:srgbClr val="F26B43"/>
          </p15:clr>
        </p15:guide>
        <p15:guide id="8" pos="2880" userDrawn="1">
          <p15:clr>
            <a:srgbClr val="F26B43"/>
          </p15:clr>
        </p15:guide>
        <p15:guide id="9" pos="3360" userDrawn="1">
          <p15:clr>
            <a:srgbClr val="F26B43"/>
          </p15:clr>
        </p15:guide>
        <p15:guide id="10" pos="4320" userDrawn="1">
          <p15:clr>
            <a:srgbClr val="F26B43"/>
          </p15:clr>
        </p15:guide>
        <p15:guide id="11" pos="4798" userDrawn="1">
          <p15:clr>
            <a:srgbClr val="F26B43"/>
          </p15:clr>
        </p15:guide>
        <p15:guide id="12" pos="5278" userDrawn="1">
          <p15:clr>
            <a:srgbClr val="F26B43"/>
          </p15:clr>
        </p15:guide>
        <p15:guide id="13" pos="5756" userDrawn="1">
          <p15:clr>
            <a:srgbClr val="F26B43"/>
          </p15:clr>
        </p15:guide>
        <p15:guide id="14" pos="6236" userDrawn="1">
          <p15:clr>
            <a:srgbClr val="F26B43"/>
          </p15:clr>
        </p15:guide>
        <p15:guide id="15" pos="6718" userDrawn="1">
          <p15:clr>
            <a:srgbClr val="F26B43"/>
          </p15:clr>
        </p15:guide>
        <p15:guide id="16" pos="7197" userDrawn="1">
          <p15:clr>
            <a:srgbClr val="F26B43"/>
          </p15:clr>
        </p15:guide>
        <p15:guide id="17" orient="horz" pos="1728" userDrawn="1">
          <p15:clr>
            <a:srgbClr val="F26B43"/>
          </p15:clr>
        </p15:guide>
        <p15:guide id="18" orient="horz" pos="1296" userDrawn="1">
          <p15:clr>
            <a:srgbClr val="F26B43"/>
          </p15:clr>
        </p15:guide>
        <p15:guide id="19" orient="horz" pos="864" userDrawn="1">
          <p15:clr>
            <a:srgbClr val="F26B43"/>
          </p15:clr>
        </p15:guide>
        <p15:guide id="20" orient="horz" pos="434" userDrawn="1">
          <p15:clr>
            <a:srgbClr val="F26B43"/>
          </p15:clr>
        </p15:guide>
        <p15:guide id="21" orient="horz" pos="2590" userDrawn="1">
          <p15:clr>
            <a:srgbClr val="F26B43"/>
          </p15:clr>
        </p15:guide>
        <p15:guide id="22" orient="horz" pos="3022" userDrawn="1">
          <p15:clr>
            <a:srgbClr val="F26B43"/>
          </p15:clr>
        </p15:guide>
        <p15:guide id="23" orient="horz" pos="3454" userDrawn="1">
          <p15:clr>
            <a:srgbClr val="F26B43"/>
          </p15:clr>
        </p15:guide>
        <p15:guide id="24" orient="horz" pos="38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Layout" Target="../diagrams/layout1.xml"/><Relationship Id="rId7" Type="http://schemas.openxmlformats.org/officeDocument/2006/relationships/image" Target="../media/image4.jpeg"/><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diagramData" Target="../diagrams/data1.xml"/><Relationship Id="rId16" Type="http://schemas.openxmlformats.org/officeDocument/2006/relationships/diagramColors" Target="../diagrams/colors3.xml"/><Relationship Id="rId1" Type="http://schemas.openxmlformats.org/officeDocument/2006/relationships/slideLayout" Target="../slideLayouts/slideLayout7.xml"/><Relationship Id="rId6" Type="http://schemas.microsoft.com/office/2007/relationships/diagramDrawing" Target="../diagrams/drawing1.xml"/><Relationship Id="rId11" Type="http://schemas.openxmlformats.org/officeDocument/2006/relationships/diagramColors" Target="../diagrams/colors2.xml"/><Relationship Id="rId5" Type="http://schemas.openxmlformats.org/officeDocument/2006/relationships/diagramColors" Target="../diagrams/colors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QuickStyle" Target="../diagrams/quickStyle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4.jpeg"/><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diagramLayout" Target="../diagrams/layout5.xml"/><Relationship Id="rId7" Type="http://schemas.openxmlformats.org/officeDocument/2006/relationships/image" Target="../media/image5.emf"/><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10" Type="http://schemas.openxmlformats.org/officeDocument/2006/relationships/image" Target="../media/image7.emf"/><Relationship Id="rId4" Type="http://schemas.openxmlformats.org/officeDocument/2006/relationships/diagramQuickStyle" Target="../diagrams/quickStyle5.xml"/><Relationship Id="rId9" Type="http://schemas.openxmlformats.org/officeDocument/2006/relationships/package" Target="../embeddings/Microsoft_Excel_Worksheet.xlsx"/></Relationships>
</file>

<file path=ppt/slides/_rels/slide10.xml.rels><?xml version="1.0" encoding="UTF-8" standalone="yes"?>
<Relationships xmlns="http://schemas.openxmlformats.org/package/2006/relationships"><Relationship Id="rId3" Type="http://schemas.openxmlformats.org/officeDocument/2006/relationships/hyperlink" Target="http://reporting-afc.enelint.global/" TargetMode="External"/><Relationship Id="rId2" Type="http://schemas.openxmlformats.org/officeDocument/2006/relationships/hyperlink" Target="https://enel.service-now.com/" TargetMode="External"/><Relationship Id="rId1" Type="http://schemas.openxmlformats.org/officeDocument/2006/relationships/slideLayout" Target="../slideLayouts/slideLayout7.xml"/><Relationship Id="rId5" Type="http://schemas.openxmlformats.org/officeDocument/2006/relationships/hyperlink" Target="https://xwp.enelint.global:44331/sap/opu/odata/sap/ZODATA_OR_Q1_CDC_CDP_PAR_SRV/ZODATA_OR_Q1_CDC_CDP_PAR(ZVAR_MACRO_ORG1='BSER',ZVAR_MACRO_ORG2='ACTSEIT01',ZVAR_VCS='')/Results/?saml2=disabled&amp;$format=json" TargetMode="External"/><Relationship Id="rId4" Type="http://schemas.openxmlformats.org/officeDocument/2006/relationships/hyperlink" Target="https://xwp.enelint.global:44331/sap/opu/odata/sap/ZODATA_OR_Q1_CDC_CDP_AWS_SRV/ZODATA_OR_Q1_CDC_CDP_AWS(ZVAR_MACRO_ORG1='BSER',ZVAR_MACRO_ORG2='ACTSEIT01',ZVAR_VCS='',ZVAR_COMPANY_FILTER='IT1C')/Results/?saml2=disabled&amp;$format=json"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xwp.enelint.global:44331/sap/opu/odata/sap/ZODATA_OR_Q1_CDC_CDP_AWS_V2_SRV/ZODATA_OR_Q1_CDC_CDP_AWS_V2(ZVAR_MACRO_ORG1=%27BESO%27,ZVAR_MACRO_ORG2=%27ACTES01%27,ZVAR_VCS=%27%27,ZVAR_COMPANY_FILTER=%27IE11%27,ZVAR_PROCESS_CODE=%27%27,ZVAR_ORGANIZ_CODE=%27%27)/Results/?saml2=disabled&amp;$format=json" TargetMode="External"/><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ttangolo 12"/>
          <p:cNvSpPr/>
          <p:nvPr/>
        </p:nvSpPr>
        <p:spPr>
          <a:xfrm>
            <a:off x="7971010" y="1374733"/>
            <a:ext cx="3422656" cy="2326858"/>
          </a:xfrm>
          <a:prstGeom prst="rect">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sp>
        <p:nvSpPr>
          <p:cNvPr id="5" name="Segnaposto numero diapositiva 4"/>
          <p:cNvSpPr>
            <a:spLocks noGrp="1"/>
          </p:cNvSpPr>
          <p:nvPr>
            <p:ph type="sldNum" sz="quarter" idx="12"/>
          </p:nvPr>
        </p:nvSpPr>
        <p:spPr/>
        <p:txBody>
          <a:bodyPr/>
          <a:lstStyle/>
          <a:p>
            <a:fld id="{1ED2235E-0982-3B42-A838-A74550CD4449}" type="slidenum">
              <a:rPr lang="en-GB" smtClean="0"/>
              <a:pPr/>
              <a:t>1</a:t>
            </a:fld>
            <a:endParaRPr lang="en-GB" dirty="0"/>
          </a:p>
        </p:txBody>
      </p:sp>
      <p:sp>
        <p:nvSpPr>
          <p:cNvPr id="8" name="Elaborazione 7"/>
          <p:cNvSpPr/>
          <p:nvPr/>
        </p:nvSpPr>
        <p:spPr>
          <a:xfrm>
            <a:off x="2535888" y="3061733"/>
            <a:ext cx="1091904" cy="664151"/>
          </a:xfrm>
          <a:prstGeom prst="flowChartProcess">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AWS</a:t>
            </a:r>
          </a:p>
        </p:txBody>
      </p:sp>
      <p:sp>
        <p:nvSpPr>
          <p:cNvPr id="9" name="Elaborazione 8"/>
          <p:cNvSpPr/>
          <p:nvPr/>
        </p:nvSpPr>
        <p:spPr>
          <a:xfrm>
            <a:off x="2546839" y="4999466"/>
            <a:ext cx="1091904" cy="664151"/>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SNOW</a:t>
            </a:r>
          </a:p>
        </p:txBody>
      </p:sp>
      <p:sp>
        <p:nvSpPr>
          <p:cNvPr id="10" name="Elaborazione 9"/>
          <p:cNvSpPr/>
          <p:nvPr/>
        </p:nvSpPr>
        <p:spPr>
          <a:xfrm>
            <a:off x="5589198" y="1572930"/>
            <a:ext cx="1161029" cy="664151"/>
          </a:xfrm>
          <a:prstGeom prst="flowChartProcess">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BW4HANA</a:t>
            </a:r>
          </a:p>
        </p:txBody>
      </p:sp>
      <p:sp>
        <p:nvSpPr>
          <p:cNvPr id="11" name="Elaborazione 10"/>
          <p:cNvSpPr/>
          <p:nvPr/>
        </p:nvSpPr>
        <p:spPr>
          <a:xfrm>
            <a:off x="399808" y="1633292"/>
            <a:ext cx="1091904" cy="664151"/>
          </a:xfrm>
          <a:prstGeom prst="flowChartProcess">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SAP HR </a:t>
            </a:r>
          </a:p>
        </p:txBody>
      </p:sp>
      <p:sp>
        <p:nvSpPr>
          <p:cNvPr id="20" name="CasellaDiTesto 19"/>
          <p:cNvSpPr txBox="1"/>
          <p:nvPr/>
        </p:nvSpPr>
        <p:spPr>
          <a:xfrm>
            <a:off x="3819627" y="4612392"/>
            <a:ext cx="826042" cy="246221"/>
          </a:xfrm>
          <a:prstGeom prst="rect">
            <a:avLst/>
          </a:prstGeom>
          <a:noFill/>
        </p:spPr>
        <p:txBody>
          <a:bodyPr wrap="square" lIns="0" tIns="0" rIns="0" bIns="0" rtlCol="0">
            <a:spAutoFit/>
          </a:bodyPr>
          <a:lstStyle/>
          <a:p>
            <a:r>
              <a:rPr lang="it-IT" sz="800" b="1" i="1" dirty="0"/>
              <a:t>Avvio processo </a:t>
            </a:r>
          </a:p>
          <a:p>
            <a:r>
              <a:rPr lang="it-IT" sz="800" i="1" dirty="0"/>
              <a:t>4,12,24 del mese</a:t>
            </a:r>
          </a:p>
        </p:txBody>
      </p:sp>
      <p:cxnSp>
        <p:nvCxnSpPr>
          <p:cNvPr id="31" name="Connettore 2 30"/>
          <p:cNvCxnSpPr>
            <a:cxnSpLocks/>
          </p:cNvCxnSpPr>
          <p:nvPr/>
        </p:nvCxnSpPr>
        <p:spPr>
          <a:xfrm>
            <a:off x="3315381" y="3701591"/>
            <a:ext cx="0" cy="128557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0" name="Ovale 59"/>
          <p:cNvSpPr/>
          <p:nvPr/>
        </p:nvSpPr>
        <p:spPr>
          <a:xfrm>
            <a:off x="3412942" y="4597307"/>
            <a:ext cx="262395" cy="230047"/>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1</a:t>
            </a:r>
          </a:p>
        </p:txBody>
      </p:sp>
      <p:sp>
        <p:nvSpPr>
          <p:cNvPr id="62" name="CasellaDiTesto 61"/>
          <p:cNvSpPr txBox="1"/>
          <p:nvPr/>
        </p:nvSpPr>
        <p:spPr>
          <a:xfrm>
            <a:off x="4132453" y="5470146"/>
            <a:ext cx="1226691" cy="123111"/>
          </a:xfrm>
          <a:prstGeom prst="rect">
            <a:avLst/>
          </a:prstGeom>
          <a:noFill/>
        </p:spPr>
        <p:txBody>
          <a:bodyPr wrap="square" lIns="0" tIns="0" rIns="0" bIns="0" rtlCol="0">
            <a:spAutoFit/>
          </a:bodyPr>
          <a:lstStyle/>
          <a:p>
            <a:r>
              <a:rPr lang="it-IT" sz="800" b="1" i="1" dirty="0"/>
              <a:t>Lavorazione cruscotto</a:t>
            </a:r>
          </a:p>
        </p:txBody>
      </p:sp>
      <p:sp>
        <p:nvSpPr>
          <p:cNvPr id="64" name="Ovale 63"/>
          <p:cNvSpPr/>
          <p:nvPr/>
        </p:nvSpPr>
        <p:spPr>
          <a:xfrm>
            <a:off x="3764916" y="5423531"/>
            <a:ext cx="262395" cy="230047"/>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4</a:t>
            </a:r>
          </a:p>
        </p:txBody>
      </p:sp>
      <p:sp>
        <p:nvSpPr>
          <p:cNvPr id="38" name="Ovale 37"/>
          <p:cNvSpPr/>
          <p:nvPr/>
        </p:nvSpPr>
        <p:spPr>
          <a:xfrm>
            <a:off x="8026530" y="1464320"/>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1</a:t>
            </a:r>
            <a:endParaRPr lang="it-IT" sz="1200" b="1" kern="1200" dirty="0">
              <a:solidFill>
                <a:schemeClr val="tx1"/>
              </a:solidFill>
            </a:endParaRPr>
          </a:p>
        </p:txBody>
      </p:sp>
      <p:sp>
        <p:nvSpPr>
          <p:cNvPr id="43" name="CasellaDiTesto 42"/>
          <p:cNvSpPr txBox="1"/>
          <p:nvPr/>
        </p:nvSpPr>
        <p:spPr>
          <a:xfrm>
            <a:off x="8400549" y="1483438"/>
            <a:ext cx="2532494" cy="2092881"/>
          </a:xfrm>
          <a:prstGeom prst="rect">
            <a:avLst/>
          </a:prstGeom>
          <a:noFill/>
        </p:spPr>
        <p:txBody>
          <a:bodyPr wrap="square" lIns="0" tIns="0" rIns="0" bIns="0" rtlCol="0">
            <a:spAutoFit/>
          </a:bodyPr>
          <a:lstStyle/>
          <a:p>
            <a:r>
              <a:rPr lang="it-IT" sz="800" b="1" i="1" dirty="0"/>
              <a:t>Avvio processo (Determinazione/Recupero UO-CC)</a:t>
            </a:r>
          </a:p>
          <a:p>
            <a:pPr marL="171450" indent="-171450">
              <a:buFont typeface="Arial" panose="020B0604020202020204" pitchFamily="34" charset="0"/>
              <a:buChar char="•"/>
            </a:pPr>
            <a:r>
              <a:rPr lang="it-IT" sz="800" dirty="0"/>
              <a:t>Sistema: SNOW</a:t>
            </a:r>
          </a:p>
          <a:p>
            <a:pPr marL="171450" indent="-171450">
              <a:buFont typeface="Arial" panose="020B0604020202020204" pitchFamily="34" charset="0"/>
              <a:buChar char="•"/>
            </a:pPr>
            <a:r>
              <a:rPr lang="it-IT" sz="800" dirty="0"/>
              <a:t>Descrizione: Chiamata FULL. Recupero delle associazioni UO-CC da AWS</a:t>
            </a:r>
          </a:p>
          <a:p>
            <a:pPr marL="171450" indent="-171450">
              <a:buFont typeface="Arial" panose="020B0604020202020204" pitchFamily="34" charset="0"/>
              <a:buChar char="•"/>
            </a:pPr>
            <a:r>
              <a:rPr lang="it-IT" sz="800" dirty="0"/>
              <a:t>Dati input: data ultima elaborazione FULL, offset, </a:t>
            </a:r>
            <a:r>
              <a:rPr lang="it-IT" sz="800" dirty="0" err="1"/>
              <a:t>limit</a:t>
            </a:r>
            <a:r>
              <a:rPr lang="it-IT" sz="800" dirty="0"/>
              <a:t>.</a:t>
            </a:r>
          </a:p>
          <a:p>
            <a:pPr marL="171450" indent="-171450">
              <a:buFont typeface="Arial" panose="020B0604020202020204" pitchFamily="34" charset="0"/>
              <a:buChar char="•"/>
            </a:pPr>
            <a:r>
              <a:rPr lang="it-IT" sz="800" dirty="0"/>
              <a:t>Dati output: elenco UO, elenco CC.</a:t>
            </a:r>
          </a:p>
          <a:p>
            <a:pPr marL="171450" indent="-171450">
              <a:buFont typeface="Arial" panose="020B0604020202020204" pitchFamily="34" charset="0"/>
              <a:buChar char="•"/>
            </a:pPr>
            <a:r>
              <a:rPr lang="it-IT" sz="800" dirty="0"/>
              <a:t>Schedulato: SI</a:t>
            </a:r>
          </a:p>
          <a:p>
            <a:pPr marL="171450" indent="-171450">
              <a:buFont typeface="Arial" panose="020B0604020202020204" pitchFamily="34" charset="0"/>
              <a:buChar char="•"/>
            </a:pPr>
            <a:r>
              <a:rPr lang="it-IT" sz="800" dirty="0"/>
              <a:t>Frequenza: 3 volte al mese (4,12,22)</a:t>
            </a:r>
          </a:p>
          <a:p>
            <a:pPr marL="171450" indent="-171450">
              <a:buFont typeface="Arial" panose="020B0604020202020204" pitchFamily="34" charset="0"/>
              <a:buChar char="•"/>
            </a:pPr>
            <a:r>
              <a:rPr lang="it-IT" sz="800" dirty="0"/>
              <a:t>Ora: 05.00</a:t>
            </a:r>
          </a:p>
          <a:p>
            <a:pPr marL="171450" indent="-171450">
              <a:buFont typeface="Arial" panose="020B0604020202020204" pitchFamily="34" charset="0"/>
              <a:buChar char="•"/>
            </a:pPr>
            <a:r>
              <a:rPr lang="it-IT" sz="800" dirty="0"/>
              <a:t>Monitorato: Si. Primo step automatico: lancio di uno script schedulato alle ore 03:00 che controlla lo stato delle chiamate paginate effettuate (nuovo tentativo di chiamata per le pagine fallite). E’ possibile monitorare la mattina lo stato finale delle chiamate ed eventualmente richiedere al Team AMS un lancio manuale del job (da verificare)</a:t>
            </a:r>
          </a:p>
        </p:txBody>
      </p:sp>
      <p:sp>
        <p:nvSpPr>
          <p:cNvPr id="54" name="Elaborazione 53"/>
          <p:cNvSpPr/>
          <p:nvPr/>
        </p:nvSpPr>
        <p:spPr>
          <a:xfrm>
            <a:off x="3819627" y="2063131"/>
            <a:ext cx="898100" cy="603596"/>
          </a:xfrm>
          <a:prstGeom prst="flowChartProcess">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DI</a:t>
            </a:r>
          </a:p>
        </p:txBody>
      </p:sp>
      <p:sp>
        <p:nvSpPr>
          <p:cNvPr id="37" name="Rettangolo 36">
            <a:extLst>
              <a:ext uri="{FF2B5EF4-FFF2-40B4-BE49-F238E27FC236}">
                <a16:creationId xmlns:a16="http://schemas.microsoft.com/office/drawing/2014/main" id="{60F08C8E-146F-4ADE-83F8-C39B8F6DDD5A}"/>
              </a:ext>
            </a:extLst>
          </p:cNvPr>
          <p:cNvSpPr/>
          <p:nvPr/>
        </p:nvSpPr>
        <p:spPr>
          <a:xfrm>
            <a:off x="7971010" y="4053090"/>
            <a:ext cx="3422656" cy="1590283"/>
          </a:xfrm>
          <a:prstGeom prst="rect">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sp>
        <p:nvSpPr>
          <p:cNvPr id="41" name="Ovale 40">
            <a:extLst>
              <a:ext uri="{FF2B5EF4-FFF2-40B4-BE49-F238E27FC236}">
                <a16:creationId xmlns:a16="http://schemas.microsoft.com/office/drawing/2014/main" id="{35A2D8A5-43DB-4A46-87E8-DC28A74C9B4B}"/>
              </a:ext>
            </a:extLst>
          </p:cNvPr>
          <p:cNvSpPr/>
          <p:nvPr/>
        </p:nvSpPr>
        <p:spPr>
          <a:xfrm>
            <a:off x="8027358" y="4106868"/>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4</a:t>
            </a:r>
          </a:p>
        </p:txBody>
      </p:sp>
      <p:sp>
        <p:nvSpPr>
          <p:cNvPr id="44" name="CasellaDiTesto 43">
            <a:extLst>
              <a:ext uri="{FF2B5EF4-FFF2-40B4-BE49-F238E27FC236}">
                <a16:creationId xmlns:a16="http://schemas.microsoft.com/office/drawing/2014/main" id="{1F7999CA-A592-46A3-8E03-4EE0B1A56429}"/>
              </a:ext>
            </a:extLst>
          </p:cNvPr>
          <p:cNvSpPr txBox="1"/>
          <p:nvPr/>
        </p:nvSpPr>
        <p:spPr>
          <a:xfrm>
            <a:off x="8400549" y="4170078"/>
            <a:ext cx="2532494" cy="1354217"/>
          </a:xfrm>
          <a:prstGeom prst="rect">
            <a:avLst/>
          </a:prstGeom>
          <a:noFill/>
        </p:spPr>
        <p:txBody>
          <a:bodyPr wrap="square" lIns="0" tIns="0" rIns="0" bIns="0" rtlCol="0">
            <a:spAutoFit/>
          </a:bodyPr>
          <a:lstStyle/>
          <a:p>
            <a:r>
              <a:rPr lang="it-IT" sz="800" b="1" i="1" dirty="0"/>
              <a:t>Lavorazione Cruscotto (Chiamata Singola)</a:t>
            </a:r>
          </a:p>
          <a:p>
            <a:pPr marL="171450" indent="-171450">
              <a:buFont typeface="Arial" panose="020B0604020202020204" pitchFamily="34" charset="0"/>
              <a:buChar char="•"/>
            </a:pPr>
            <a:r>
              <a:rPr lang="it-IT" sz="800" dirty="0"/>
              <a:t>Sistema: SNOW</a:t>
            </a:r>
          </a:p>
          <a:p>
            <a:pPr marL="171450" indent="-171450">
              <a:buFont typeface="Arial" panose="020B0604020202020204" pitchFamily="34" charset="0"/>
              <a:buChar char="•"/>
            </a:pPr>
            <a:r>
              <a:rPr lang="it-IT" sz="800" dirty="0"/>
              <a:t>Descrizione: Chiamata DELTA. Recupero di una singola associazione UO-CC</a:t>
            </a:r>
          </a:p>
          <a:p>
            <a:pPr marL="171450" indent="-171450">
              <a:buFont typeface="Arial" panose="020B0604020202020204" pitchFamily="34" charset="0"/>
              <a:buChar char="•"/>
            </a:pPr>
            <a:r>
              <a:rPr lang="it-IT" sz="800" dirty="0"/>
              <a:t>Dati input: Codice UO</a:t>
            </a:r>
          </a:p>
          <a:p>
            <a:pPr marL="171450" indent="-171450">
              <a:buFont typeface="Arial" panose="020B0604020202020204" pitchFamily="34" charset="0"/>
              <a:buChar char="•"/>
            </a:pPr>
            <a:r>
              <a:rPr lang="it-IT" sz="800" dirty="0"/>
              <a:t>Dati output: dati singola UO, elenco CC candidati</a:t>
            </a:r>
          </a:p>
          <a:p>
            <a:pPr marL="171450" indent="-171450">
              <a:buFont typeface="Arial" panose="020B0604020202020204" pitchFamily="34" charset="0"/>
              <a:buChar char="•"/>
            </a:pPr>
            <a:r>
              <a:rPr lang="it-IT" sz="800" dirty="0"/>
              <a:t>Schedulato: NO (azione manuale)</a:t>
            </a:r>
          </a:p>
          <a:p>
            <a:pPr marL="171450" indent="-171450">
              <a:buFont typeface="Arial" panose="020B0604020202020204" pitchFamily="34" charset="0"/>
              <a:buChar char="•"/>
            </a:pPr>
            <a:r>
              <a:rPr lang="it-IT" sz="800" dirty="0"/>
              <a:t>Monitorato: Si. Visualizzazione messaggio di successo/errore al Controller che effettua l’azione. Nel caso di esito negativo può </a:t>
            </a:r>
            <a:r>
              <a:rPr lang="it-IT" sz="800" dirty="0" err="1"/>
              <a:t>rieffettuare</a:t>
            </a:r>
            <a:r>
              <a:rPr lang="it-IT" sz="800" dirty="0"/>
              <a:t> l’azione cliccando nuovamente sul pulsante.</a:t>
            </a:r>
          </a:p>
        </p:txBody>
      </p:sp>
      <p:sp>
        <p:nvSpPr>
          <p:cNvPr id="45" name="Rettangolo 44"/>
          <p:cNvSpPr/>
          <p:nvPr/>
        </p:nvSpPr>
        <p:spPr>
          <a:xfrm>
            <a:off x="1806446" y="120871"/>
            <a:ext cx="5186035" cy="923330"/>
          </a:xfrm>
          <a:prstGeom prst="rect">
            <a:avLst/>
          </a:prstGeom>
          <a:noFill/>
        </p:spPr>
        <p:txBody>
          <a:bodyPr wrap="none" lIns="91440" tIns="45720" rIns="91440" bIns="45720">
            <a:spAutoFit/>
          </a:bodyPr>
          <a:lstStyle/>
          <a:p>
            <a:pPr algn="ctr"/>
            <a:r>
              <a:rPr lang="it-IT"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Sistema SNOW</a:t>
            </a:r>
          </a:p>
        </p:txBody>
      </p:sp>
      <p:sp>
        <p:nvSpPr>
          <p:cNvPr id="21" name="Rettangolo 20">
            <a:extLst>
              <a:ext uri="{FF2B5EF4-FFF2-40B4-BE49-F238E27FC236}">
                <a16:creationId xmlns:a16="http://schemas.microsoft.com/office/drawing/2014/main" id="{60F08C8E-146F-4ADE-83F8-C39B8F6DDD5A}"/>
              </a:ext>
            </a:extLst>
          </p:cNvPr>
          <p:cNvSpPr/>
          <p:nvPr/>
        </p:nvSpPr>
        <p:spPr>
          <a:xfrm>
            <a:off x="8004169" y="5795773"/>
            <a:ext cx="3422656" cy="926999"/>
          </a:xfrm>
          <a:prstGeom prst="rect">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sp>
        <p:nvSpPr>
          <p:cNvPr id="22" name="Ovale 21">
            <a:extLst>
              <a:ext uri="{FF2B5EF4-FFF2-40B4-BE49-F238E27FC236}">
                <a16:creationId xmlns:a16="http://schemas.microsoft.com/office/drawing/2014/main" id="{35A2D8A5-43DB-4A46-87E8-DC28A74C9B4B}"/>
              </a:ext>
            </a:extLst>
          </p:cNvPr>
          <p:cNvSpPr/>
          <p:nvPr/>
        </p:nvSpPr>
        <p:spPr>
          <a:xfrm>
            <a:off x="8060517" y="5849551"/>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8</a:t>
            </a:r>
          </a:p>
        </p:txBody>
      </p:sp>
      <p:sp>
        <p:nvSpPr>
          <p:cNvPr id="23" name="CasellaDiTesto 22">
            <a:extLst>
              <a:ext uri="{FF2B5EF4-FFF2-40B4-BE49-F238E27FC236}">
                <a16:creationId xmlns:a16="http://schemas.microsoft.com/office/drawing/2014/main" id="{1F7999CA-A592-46A3-8E03-4EE0B1A56429}"/>
              </a:ext>
            </a:extLst>
          </p:cNvPr>
          <p:cNvSpPr txBox="1"/>
          <p:nvPr/>
        </p:nvSpPr>
        <p:spPr>
          <a:xfrm>
            <a:off x="8433708" y="5912761"/>
            <a:ext cx="2532494" cy="615553"/>
          </a:xfrm>
          <a:prstGeom prst="rect">
            <a:avLst/>
          </a:prstGeom>
          <a:noFill/>
        </p:spPr>
        <p:txBody>
          <a:bodyPr wrap="square" lIns="0" tIns="0" rIns="0" bIns="0" rtlCol="0">
            <a:spAutoFit/>
          </a:bodyPr>
          <a:lstStyle/>
          <a:p>
            <a:r>
              <a:rPr lang="it-IT" sz="800" b="1" i="1" dirty="0"/>
              <a:t>Aggancio automatico CC </a:t>
            </a:r>
            <a:r>
              <a:rPr lang="it-IT" sz="800" b="1" i="1" dirty="0" err="1"/>
              <a:t>dummy</a:t>
            </a:r>
            <a:r>
              <a:rPr lang="it-IT" sz="800" b="1" i="1" dirty="0"/>
              <a:t> per scadenza </a:t>
            </a:r>
            <a:r>
              <a:rPr lang="it-IT" sz="800" b="1" i="1" dirty="0" err="1"/>
              <a:t>deadline</a:t>
            </a:r>
            <a:endParaRPr lang="it-IT" sz="800" b="1" i="1" dirty="0"/>
          </a:p>
          <a:p>
            <a:pPr marL="171450" indent="-171450">
              <a:buFont typeface="Arial" panose="020B0604020202020204" pitchFamily="34" charset="0"/>
              <a:buChar char="•"/>
            </a:pPr>
            <a:r>
              <a:rPr lang="it-IT" sz="800" dirty="0"/>
              <a:t>Sistema: SNOW</a:t>
            </a:r>
          </a:p>
          <a:p>
            <a:pPr marL="171450" indent="-171450">
              <a:buFont typeface="Arial" panose="020B0604020202020204" pitchFamily="34" charset="0"/>
              <a:buChar char="•"/>
            </a:pPr>
            <a:r>
              <a:rPr lang="it-IT" sz="800" dirty="0"/>
              <a:t>Descrizione: aggancio automatico dei cc </a:t>
            </a:r>
            <a:r>
              <a:rPr lang="it-IT" sz="800" dirty="0" err="1"/>
              <a:t>dummy</a:t>
            </a:r>
            <a:r>
              <a:rPr lang="it-IT" sz="800" dirty="0"/>
              <a:t> e chiusura task </a:t>
            </a:r>
          </a:p>
        </p:txBody>
      </p:sp>
      <p:sp>
        <p:nvSpPr>
          <p:cNvPr id="24" name="CasellaDiTesto 23"/>
          <p:cNvSpPr txBox="1"/>
          <p:nvPr/>
        </p:nvSpPr>
        <p:spPr>
          <a:xfrm>
            <a:off x="2897693" y="5805978"/>
            <a:ext cx="1226691" cy="246221"/>
          </a:xfrm>
          <a:prstGeom prst="rect">
            <a:avLst/>
          </a:prstGeom>
          <a:noFill/>
        </p:spPr>
        <p:txBody>
          <a:bodyPr wrap="square" lIns="0" tIns="0" rIns="0" bIns="0" rtlCol="0">
            <a:spAutoFit/>
          </a:bodyPr>
          <a:lstStyle/>
          <a:p>
            <a:r>
              <a:rPr lang="it-IT" sz="800" b="1" i="1" dirty="0"/>
              <a:t>Aggancio automatico CC </a:t>
            </a:r>
            <a:r>
              <a:rPr lang="it-IT" sz="800" b="1" i="1" dirty="0" err="1"/>
              <a:t>dummy</a:t>
            </a:r>
            <a:endParaRPr lang="it-IT" sz="800" b="1" i="1" dirty="0"/>
          </a:p>
        </p:txBody>
      </p:sp>
      <p:sp>
        <p:nvSpPr>
          <p:cNvPr id="25" name="Ovale 24"/>
          <p:cNvSpPr/>
          <p:nvPr/>
        </p:nvSpPr>
        <p:spPr>
          <a:xfrm>
            <a:off x="2530156" y="5759363"/>
            <a:ext cx="262395" cy="230047"/>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8</a:t>
            </a:r>
          </a:p>
        </p:txBody>
      </p:sp>
    </p:spTree>
    <p:extLst>
      <p:ext uri="{BB962C8B-B14F-4D97-AF65-F5344CB8AC3E}">
        <p14:creationId xmlns:p14="http://schemas.microsoft.com/office/powerpoint/2010/main" val="2210927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gnaposto numero diapositiva 4"/>
          <p:cNvSpPr>
            <a:spLocks noGrp="1"/>
          </p:cNvSpPr>
          <p:nvPr>
            <p:ph type="sldNum" sz="quarter" idx="12"/>
          </p:nvPr>
        </p:nvSpPr>
        <p:spPr>
          <a:xfrm>
            <a:off x="9917692" y="6264005"/>
            <a:ext cx="762000" cy="153888"/>
          </a:xfrm>
        </p:spPr>
        <p:txBody>
          <a:bodyPr/>
          <a:lstStyle/>
          <a:p>
            <a:fld id="{1ED2235E-0982-3B42-A838-A74550CD4449}" type="slidenum">
              <a:rPr lang="en-GB" smtClean="0"/>
              <a:pPr/>
              <a:t>2</a:t>
            </a:fld>
            <a:endParaRPr lang="en-GB" dirty="0"/>
          </a:p>
        </p:txBody>
      </p:sp>
      <p:sp>
        <p:nvSpPr>
          <p:cNvPr id="8" name="Elaborazione 7"/>
          <p:cNvSpPr/>
          <p:nvPr/>
        </p:nvSpPr>
        <p:spPr>
          <a:xfrm>
            <a:off x="2535888" y="3061733"/>
            <a:ext cx="1091904" cy="664151"/>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AWS</a:t>
            </a:r>
          </a:p>
        </p:txBody>
      </p:sp>
      <p:sp>
        <p:nvSpPr>
          <p:cNvPr id="9" name="Elaborazione 8"/>
          <p:cNvSpPr/>
          <p:nvPr/>
        </p:nvSpPr>
        <p:spPr>
          <a:xfrm>
            <a:off x="2546839" y="4999466"/>
            <a:ext cx="1091904" cy="664151"/>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SNOW</a:t>
            </a:r>
          </a:p>
        </p:txBody>
      </p:sp>
      <p:sp>
        <p:nvSpPr>
          <p:cNvPr id="10" name="Elaborazione 9"/>
          <p:cNvSpPr/>
          <p:nvPr/>
        </p:nvSpPr>
        <p:spPr>
          <a:xfrm>
            <a:off x="4605917" y="1461807"/>
            <a:ext cx="1161029" cy="664151"/>
          </a:xfrm>
          <a:prstGeom prst="flowChartProcess">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BW4HANA</a:t>
            </a:r>
          </a:p>
        </p:txBody>
      </p:sp>
      <p:sp>
        <p:nvSpPr>
          <p:cNvPr id="11" name="Elaborazione 10"/>
          <p:cNvSpPr/>
          <p:nvPr/>
        </p:nvSpPr>
        <p:spPr>
          <a:xfrm>
            <a:off x="399808" y="1633292"/>
            <a:ext cx="1091904" cy="664151"/>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SAP HR </a:t>
            </a:r>
          </a:p>
        </p:txBody>
      </p:sp>
      <p:cxnSp>
        <p:nvCxnSpPr>
          <p:cNvPr id="31" name="Connettore 2 30"/>
          <p:cNvCxnSpPr>
            <a:cxnSpLocks/>
            <a:stCxn id="9" idx="0"/>
            <a:endCxn id="8" idx="2"/>
          </p:cNvCxnSpPr>
          <p:nvPr/>
        </p:nvCxnSpPr>
        <p:spPr>
          <a:xfrm flipH="1" flipV="1">
            <a:off x="3081840" y="3725884"/>
            <a:ext cx="10951" cy="127358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9" name="Connettore 4 38"/>
          <p:cNvCxnSpPr>
            <a:stCxn id="11" idx="3"/>
            <a:endCxn id="8" idx="1"/>
          </p:cNvCxnSpPr>
          <p:nvPr/>
        </p:nvCxnSpPr>
        <p:spPr>
          <a:xfrm>
            <a:off x="1491712" y="1965368"/>
            <a:ext cx="1044176" cy="1428441"/>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4" name="Elaborazione 53"/>
          <p:cNvSpPr/>
          <p:nvPr/>
        </p:nvSpPr>
        <p:spPr>
          <a:xfrm>
            <a:off x="2836346" y="1952008"/>
            <a:ext cx="898100" cy="603596"/>
          </a:xfrm>
          <a:prstGeom prst="flowChartProcess">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DI</a:t>
            </a:r>
          </a:p>
        </p:txBody>
      </p:sp>
      <p:sp>
        <p:nvSpPr>
          <p:cNvPr id="45" name="Rettangolo 44"/>
          <p:cNvSpPr/>
          <p:nvPr/>
        </p:nvSpPr>
        <p:spPr>
          <a:xfrm>
            <a:off x="1955585" y="9888"/>
            <a:ext cx="4583499" cy="923330"/>
          </a:xfrm>
          <a:prstGeom prst="rect">
            <a:avLst/>
          </a:prstGeom>
          <a:noFill/>
        </p:spPr>
        <p:txBody>
          <a:bodyPr wrap="none" lIns="91440" tIns="45720" rIns="91440" bIns="45720">
            <a:spAutoFit/>
          </a:bodyPr>
          <a:lstStyle/>
          <a:p>
            <a:pPr algn="ctr"/>
            <a:r>
              <a:rPr lang="it-IT"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Sistema AWS</a:t>
            </a:r>
          </a:p>
        </p:txBody>
      </p:sp>
      <p:sp>
        <p:nvSpPr>
          <p:cNvPr id="28" name="Ovale 27"/>
          <p:cNvSpPr/>
          <p:nvPr/>
        </p:nvSpPr>
        <p:spPr>
          <a:xfrm>
            <a:off x="1477354" y="3516174"/>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2</a:t>
            </a:r>
            <a:endParaRPr lang="it-IT" sz="800" b="1" kern="1200" dirty="0">
              <a:solidFill>
                <a:schemeClr val="tx1"/>
              </a:solidFill>
            </a:endParaRPr>
          </a:p>
        </p:txBody>
      </p:sp>
      <p:sp>
        <p:nvSpPr>
          <p:cNvPr id="29" name="Ovale 28"/>
          <p:cNvSpPr/>
          <p:nvPr/>
        </p:nvSpPr>
        <p:spPr>
          <a:xfrm>
            <a:off x="3364739" y="2811732"/>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3</a:t>
            </a:r>
            <a:endParaRPr lang="it-IT" sz="800" b="1" kern="1200" dirty="0">
              <a:solidFill>
                <a:schemeClr val="tx1"/>
              </a:solidFill>
            </a:endParaRPr>
          </a:p>
        </p:txBody>
      </p:sp>
      <p:sp>
        <p:nvSpPr>
          <p:cNvPr id="30" name="Ovale 29"/>
          <p:cNvSpPr/>
          <p:nvPr/>
        </p:nvSpPr>
        <p:spPr>
          <a:xfrm>
            <a:off x="3141156" y="3842983"/>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5</a:t>
            </a:r>
          </a:p>
        </p:txBody>
      </p:sp>
      <p:sp>
        <p:nvSpPr>
          <p:cNvPr id="32" name="CasellaDiTesto 31"/>
          <p:cNvSpPr txBox="1"/>
          <p:nvPr/>
        </p:nvSpPr>
        <p:spPr>
          <a:xfrm>
            <a:off x="1810350" y="3558030"/>
            <a:ext cx="826042" cy="123111"/>
          </a:xfrm>
          <a:prstGeom prst="rect">
            <a:avLst/>
          </a:prstGeom>
          <a:noFill/>
        </p:spPr>
        <p:txBody>
          <a:bodyPr wrap="square" lIns="0" tIns="0" rIns="0" bIns="0" rtlCol="0">
            <a:spAutoFit/>
          </a:bodyPr>
          <a:lstStyle/>
          <a:p>
            <a:r>
              <a:rPr lang="it-IT" sz="800" b="1" i="1" dirty="0"/>
              <a:t>Estrazione UO</a:t>
            </a:r>
          </a:p>
        </p:txBody>
      </p:sp>
      <p:sp>
        <p:nvSpPr>
          <p:cNvPr id="40" name="Rettangolo 39"/>
          <p:cNvSpPr/>
          <p:nvPr/>
        </p:nvSpPr>
        <p:spPr>
          <a:xfrm>
            <a:off x="6334830" y="1047047"/>
            <a:ext cx="2887547" cy="1508558"/>
          </a:xfrm>
          <a:prstGeom prst="rect">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sp>
        <p:nvSpPr>
          <p:cNvPr id="46" name="Ovale 45"/>
          <p:cNvSpPr/>
          <p:nvPr/>
        </p:nvSpPr>
        <p:spPr>
          <a:xfrm>
            <a:off x="6231100" y="908255"/>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2</a:t>
            </a:r>
          </a:p>
        </p:txBody>
      </p:sp>
      <p:sp>
        <p:nvSpPr>
          <p:cNvPr id="48" name="CasellaDiTesto 47"/>
          <p:cNvSpPr txBox="1"/>
          <p:nvPr/>
        </p:nvSpPr>
        <p:spPr>
          <a:xfrm>
            <a:off x="6416401" y="1100630"/>
            <a:ext cx="3023443" cy="1446550"/>
          </a:xfrm>
          <a:prstGeom prst="rect">
            <a:avLst/>
          </a:prstGeom>
          <a:noFill/>
        </p:spPr>
        <p:txBody>
          <a:bodyPr wrap="square" lIns="0" tIns="0" rIns="0" bIns="0" rtlCol="0">
            <a:spAutoFit/>
          </a:bodyPr>
          <a:lstStyle/>
          <a:p>
            <a:r>
              <a:rPr lang="it-IT" sz="800" b="1" i="1" dirty="0"/>
              <a:t>Estrazione UO</a:t>
            </a:r>
          </a:p>
          <a:p>
            <a:pPr marL="171450" indent="-171450">
              <a:buFont typeface="Arial" panose="020B0604020202020204" pitchFamily="34" charset="0"/>
              <a:buChar char="•"/>
            </a:pPr>
            <a:r>
              <a:rPr lang="it-IT" sz="800" dirty="0"/>
              <a:t>Sistema: AWS</a:t>
            </a:r>
          </a:p>
          <a:p>
            <a:pPr marL="171450" indent="-171450">
              <a:buFont typeface="Arial" panose="020B0604020202020204" pitchFamily="34" charset="0"/>
              <a:buChar char="•"/>
            </a:pPr>
            <a:r>
              <a:rPr lang="it-IT" sz="800" dirty="0"/>
              <a:t>Descrizione: Recupero delle UO da SAP-HR (full)</a:t>
            </a:r>
          </a:p>
          <a:p>
            <a:pPr marL="171450" indent="-171450">
              <a:buFont typeface="Arial" panose="020B0604020202020204" pitchFamily="34" charset="0"/>
              <a:buChar char="•"/>
            </a:pPr>
            <a:r>
              <a:rPr lang="it-IT" sz="800" dirty="0"/>
              <a:t>Dati input: (UO senza CC, UO con </a:t>
            </a:r>
            <a:r>
              <a:rPr lang="it-IT" sz="800" dirty="0" err="1"/>
              <a:t>dummy</a:t>
            </a:r>
            <a:r>
              <a:rPr lang="it-IT" sz="800" dirty="0"/>
              <a:t>, UO </a:t>
            </a:r>
            <a:r>
              <a:rPr lang="it-IT" sz="800" dirty="0" err="1"/>
              <a:t>mod</a:t>
            </a:r>
            <a:r>
              <a:rPr lang="it-IT" sz="800" dirty="0"/>
              <a:t>)</a:t>
            </a:r>
          </a:p>
          <a:p>
            <a:pPr marL="171450" indent="-171450">
              <a:buFont typeface="Arial" panose="020B0604020202020204" pitchFamily="34" charset="0"/>
              <a:buChar char="•"/>
            </a:pPr>
            <a:r>
              <a:rPr lang="it-IT" sz="800" dirty="0"/>
              <a:t>Dati output: elenco UO</a:t>
            </a:r>
          </a:p>
          <a:p>
            <a:pPr marL="171450" indent="-171450">
              <a:buFont typeface="Arial" panose="020B0604020202020204" pitchFamily="34" charset="0"/>
              <a:buChar char="•"/>
            </a:pPr>
            <a:r>
              <a:rPr lang="it-IT" sz="800" dirty="0"/>
              <a:t>Sorgente / Destinazione : SAP HR / AWS</a:t>
            </a:r>
          </a:p>
          <a:p>
            <a:pPr marL="171450" indent="-171450">
              <a:buFont typeface="Arial" panose="020B0604020202020204" pitchFamily="34" charset="0"/>
              <a:buChar char="•"/>
            </a:pPr>
            <a:r>
              <a:rPr lang="it-IT" sz="800" dirty="0"/>
              <a:t>Schedulato: SI</a:t>
            </a:r>
          </a:p>
          <a:p>
            <a:pPr marL="171450" indent="-171450">
              <a:buFont typeface="Arial" panose="020B0604020202020204" pitchFamily="34" charset="0"/>
              <a:buChar char="•"/>
            </a:pPr>
            <a:r>
              <a:rPr lang="it-IT" sz="1000" b="1" dirty="0">
                <a:solidFill>
                  <a:schemeClr val="accent5">
                    <a:lumMod val="75000"/>
                  </a:schemeClr>
                </a:solidFill>
              </a:rPr>
              <a:t>Frequenza : Solo nei giorni di elaborazione della full alle ore 20.00</a:t>
            </a:r>
          </a:p>
          <a:p>
            <a:pPr marL="171450" indent="-171450">
              <a:buFont typeface="Arial" panose="020B0604020202020204" pitchFamily="34" charset="0"/>
              <a:buChar char="•"/>
            </a:pPr>
            <a:r>
              <a:rPr lang="it-IT" sz="800" dirty="0">
                <a:solidFill>
                  <a:srgbClr val="FF0000"/>
                </a:solidFill>
              </a:rPr>
              <a:t>Monitorato: No </a:t>
            </a:r>
          </a:p>
          <a:p>
            <a:pPr marL="171450" indent="-171450">
              <a:buFont typeface="Arial" panose="020B0604020202020204" pitchFamily="34" charset="0"/>
              <a:buChar char="•"/>
            </a:pPr>
            <a:r>
              <a:rPr lang="it-IT" sz="800" dirty="0"/>
              <a:t>Predecessore/successore: nessuno</a:t>
            </a:r>
          </a:p>
        </p:txBody>
      </p:sp>
      <p:sp>
        <p:nvSpPr>
          <p:cNvPr id="49" name="Rettangolo 48"/>
          <p:cNvSpPr/>
          <p:nvPr/>
        </p:nvSpPr>
        <p:spPr>
          <a:xfrm>
            <a:off x="6310035" y="2883087"/>
            <a:ext cx="2887547" cy="1619244"/>
          </a:xfrm>
          <a:prstGeom prst="rect">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sp>
        <p:nvSpPr>
          <p:cNvPr id="50" name="Ovale 49"/>
          <p:cNvSpPr/>
          <p:nvPr/>
        </p:nvSpPr>
        <p:spPr>
          <a:xfrm>
            <a:off x="6206305" y="2744295"/>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3</a:t>
            </a:r>
          </a:p>
        </p:txBody>
      </p:sp>
      <p:sp>
        <p:nvSpPr>
          <p:cNvPr id="51" name="CasellaDiTesto 50"/>
          <p:cNvSpPr txBox="1"/>
          <p:nvPr/>
        </p:nvSpPr>
        <p:spPr>
          <a:xfrm>
            <a:off x="6517650" y="2952813"/>
            <a:ext cx="2513139" cy="1477328"/>
          </a:xfrm>
          <a:prstGeom prst="rect">
            <a:avLst/>
          </a:prstGeom>
          <a:noFill/>
        </p:spPr>
        <p:txBody>
          <a:bodyPr wrap="square" lIns="0" tIns="0" rIns="0" bIns="0" rtlCol="0">
            <a:spAutoFit/>
          </a:bodyPr>
          <a:lstStyle/>
          <a:p>
            <a:r>
              <a:rPr lang="it-IT" sz="800" b="1" i="1" dirty="0"/>
              <a:t>Elaborazione FULL</a:t>
            </a:r>
          </a:p>
          <a:p>
            <a:pPr marL="171450" indent="-171450">
              <a:buFont typeface="Arial" panose="020B0604020202020204" pitchFamily="34" charset="0"/>
              <a:buChar char="•"/>
            </a:pPr>
            <a:r>
              <a:rPr lang="it-IT" sz="800" dirty="0"/>
              <a:t>Sistema: AWS</a:t>
            </a:r>
          </a:p>
          <a:p>
            <a:pPr marL="171450" indent="-171450">
              <a:buFont typeface="Arial" panose="020B0604020202020204" pitchFamily="34" charset="0"/>
              <a:buChar char="•"/>
            </a:pPr>
            <a:r>
              <a:rPr lang="it-IT" sz="800" dirty="0"/>
              <a:t>Descrizione: Creazione associazioni UO-CC con Recupero CC</a:t>
            </a:r>
          </a:p>
          <a:p>
            <a:pPr marL="171450" indent="-171450">
              <a:buFont typeface="Arial" panose="020B0604020202020204" pitchFamily="34" charset="0"/>
              <a:buChar char="•"/>
            </a:pPr>
            <a:r>
              <a:rPr lang="it-IT" sz="800" dirty="0"/>
              <a:t>Dati input: elenco UO e CC, cataloghi, perimetro</a:t>
            </a:r>
          </a:p>
          <a:p>
            <a:pPr marL="171450" indent="-171450">
              <a:buFont typeface="Arial" panose="020B0604020202020204" pitchFamily="34" charset="0"/>
              <a:buChar char="•"/>
            </a:pPr>
            <a:r>
              <a:rPr lang="it-IT" sz="800" dirty="0"/>
              <a:t>Dati output: associazione UO – CC compatibili</a:t>
            </a:r>
          </a:p>
          <a:p>
            <a:pPr marL="171450" indent="-171450">
              <a:buFont typeface="Arial" panose="020B0604020202020204" pitchFamily="34" charset="0"/>
              <a:buChar char="•"/>
            </a:pPr>
            <a:r>
              <a:rPr lang="it-IT" sz="800" dirty="0"/>
              <a:t>Sorgente / Destinazione : AWS / SNOW</a:t>
            </a:r>
          </a:p>
          <a:p>
            <a:pPr marL="171450" indent="-171450">
              <a:buFont typeface="Arial" panose="020B0604020202020204" pitchFamily="34" charset="0"/>
              <a:buChar char="•"/>
            </a:pPr>
            <a:r>
              <a:rPr lang="it-IT" sz="800" dirty="0"/>
              <a:t>Schedulato: SI</a:t>
            </a:r>
          </a:p>
          <a:p>
            <a:pPr marL="171450" indent="-171450">
              <a:buFont typeface="Arial" panose="020B0604020202020204" pitchFamily="34" charset="0"/>
              <a:buChar char="•"/>
            </a:pPr>
            <a:r>
              <a:rPr lang="it-IT" sz="800" dirty="0"/>
              <a:t>Frequenza attuale: tre volte al mese (4,12,22) alle 08:00</a:t>
            </a:r>
          </a:p>
          <a:p>
            <a:pPr marL="171450" indent="-171450">
              <a:buFont typeface="Arial" panose="020B0604020202020204" pitchFamily="34" charset="0"/>
              <a:buChar char="•"/>
            </a:pPr>
            <a:r>
              <a:rPr lang="it-IT" sz="800" dirty="0">
                <a:solidFill>
                  <a:srgbClr val="FF0000"/>
                </a:solidFill>
              </a:rPr>
              <a:t>Monitorato: No</a:t>
            </a:r>
          </a:p>
          <a:p>
            <a:pPr marL="171450" indent="-171450">
              <a:buFont typeface="Arial" panose="020B0604020202020204" pitchFamily="34" charset="0"/>
              <a:buChar char="•"/>
            </a:pPr>
            <a:r>
              <a:rPr lang="it-IT" sz="800" dirty="0"/>
              <a:t>Predecessore/successore: nessuno</a:t>
            </a:r>
          </a:p>
        </p:txBody>
      </p:sp>
      <p:sp>
        <p:nvSpPr>
          <p:cNvPr id="52" name="CasellaDiTesto 51"/>
          <p:cNvSpPr txBox="1"/>
          <p:nvPr/>
        </p:nvSpPr>
        <p:spPr>
          <a:xfrm>
            <a:off x="3780815" y="2867231"/>
            <a:ext cx="1064118" cy="123111"/>
          </a:xfrm>
          <a:prstGeom prst="rect">
            <a:avLst/>
          </a:prstGeom>
          <a:noFill/>
        </p:spPr>
        <p:txBody>
          <a:bodyPr wrap="square" lIns="0" tIns="0" rIns="0" bIns="0" rtlCol="0">
            <a:spAutoFit/>
          </a:bodyPr>
          <a:lstStyle/>
          <a:p>
            <a:r>
              <a:rPr lang="it-IT" sz="800" b="1" i="1" dirty="0"/>
              <a:t>Elaborazione FULL</a:t>
            </a:r>
          </a:p>
        </p:txBody>
      </p:sp>
      <p:sp>
        <p:nvSpPr>
          <p:cNvPr id="53" name="CasellaDiTesto 52"/>
          <p:cNvSpPr txBox="1"/>
          <p:nvPr/>
        </p:nvSpPr>
        <p:spPr>
          <a:xfrm>
            <a:off x="3538949" y="3895603"/>
            <a:ext cx="1293444" cy="123111"/>
          </a:xfrm>
          <a:prstGeom prst="rect">
            <a:avLst/>
          </a:prstGeom>
          <a:noFill/>
        </p:spPr>
        <p:txBody>
          <a:bodyPr wrap="square" lIns="0" tIns="0" rIns="0" bIns="0" rtlCol="0">
            <a:spAutoFit/>
          </a:bodyPr>
          <a:lstStyle/>
          <a:p>
            <a:r>
              <a:rPr lang="it-IT" sz="800" b="1" i="1" dirty="0"/>
              <a:t>Lettura Agganci UO-CC</a:t>
            </a:r>
          </a:p>
        </p:txBody>
      </p:sp>
      <p:sp>
        <p:nvSpPr>
          <p:cNvPr id="55" name="Rettangolo 54"/>
          <p:cNvSpPr/>
          <p:nvPr/>
        </p:nvSpPr>
        <p:spPr>
          <a:xfrm>
            <a:off x="5548509" y="4707165"/>
            <a:ext cx="2887547" cy="1619244"/>
          </a:xfrm>
          <a:prstGeom prst="rect">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sp>
        <p:nvSpPr>
          <p:cNvPr id="56" name="Ovale 55"/>
          <p:cNvSpPr/>
          <p:nvPr/>
        </p:nvSpPr>
        <p:spPr>
          <a:xfrm>
            <a:off x="6191912" y="4568373"/>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5</a:t>
            </a:r>
          </a:p>
        </p:txBody>
      </p:sp>
      <p:sp>
        <p:nvSpPr>
          <p:cNvPr id="58" name="CasellaDiTesto 57"/>
          <p:cNvSpPr txBox="1"/>
          <p:nvPr/>
        </p:nvSpPr>
        <p:spPr>
          <a:xfrm>
            <a:off x="5716936" y="4776891"/>
            <a:ext cx="2719120" cy="1354217"/>
          </a:xfrm>
          <a:prstGeom prst="rect">
            <a:avLst/>
          </a:prstGeom>
          <a:noFill/>
        </p:spPr>
        <p:txBody>
          <a:bodyPr wrap="square" lIns="0" tIns="0" rIns="0" bIns="0" rtlCol="0">
            <a:spAutoFit/>
          </a:bodyPr>
          <a:lstStyle/>
          <a:p>
            <a:r>
              <a:rPr lang="it-IT" sz="800" b="1" i="1" dirty="0"/>
              <a:t>Lettura Agganci UO-CC</a:t>
            </a:r>
          </a:p>
          <a:p>
            <a:pPr marL="171450" indent="-171450">
              <a:buFont typeface="Arial" panose="020B0604020202020204" pitchFamily="34" charset="0"/>
              <a:buChar char="•"/>
            </a:pPr>
            <a:r>
              <a:rPr lang="it-IT" sz="800" dirty="0"/>
              <a:t>Sistema: AWS</a:t>
            </a:r>
          </a:p>
          <a:p>
            <a:pPr marL="171450" indent="-171450">
              <a:buFont typeface="Arial" panose="020B0604020202020204" pitchFamily="34" charset="0"/>
              <a:buChar char="•"/>
            </a:pPr>
            <a:r>
              <a:rPr lang="it-IT" sz="800" dirty="0"/>
              <a:t>Descrizione: Recupero Task da SNOW e memorizzazione in tabella</a:t>
            </a:r>
            <a:endParaRPr lang="it-IT" sz="800" dirty="0">
              <a:latin typeface="Calibri" panose="020F0502020204030204" pitchFamily="34" charset="0"/>
              <a:ea typeface="Calibri" panose="020F0502020204030204" pitchFamily="34" charset="0"/>
              <a:cs typeface="Times New Roman" panose="02020603050405020304" pitchFamily="18" charset="0"/>
            </a:endParaRPr>
          </a:p>
          <a:p>
            <a:pPr marL="171450" indent="-171450">
              <a:buFont typeface="Arial" panose="020B0604020202020204" pitchFamily="34" charset="0"/>
              <a:buChar char="•"/>
            </a:pPr>
            <a:r>
              <a:rPr lang="it-IT" sz="800" dirty="0"/>
              <a:t>Dati input: </a:t>
            </a:r>
            <a:r>
              <a:rPr lang="it-IT" sz="800" dirty="0" err="1"/>
              <a:t>u_association_time</a:t>
            </a:r>
            <a:endParaRPr lang="it-IT" sz="800" dirty="0">
              <a:latin typeface="Calibri" panose="020F0502020204030204" pitchFamily="34" charset="0"/>
              <a:ea typeface="Calibri" panose="020F0502020204030204" pitchFamily="34" charset="0"/>
              <a:cs typeface="Times New Roman" panose="02020603050405020304" pitchFamily="18" charset="0"/>
            </a:endParaRPr>
          </a:p>
          <a:p>
            <a:pPr marL="171450" indent="-171450">
              <a:buFont typeface="Arial" panose="020B0604020202020204" pitchFamily="34" charset="0"/>
              <a:buChar char="•"/>
            </a:pPr>
            <a:r>
              <a:rPr lang="it-IT" sz="800" dirty="0"/>
              <a:t>Dati output: task</a:t>
            </a:r>
          </a:p>
          <a:p>
            <a:pPr marL="171450" indent="-171450">
              <a:buFont typeface="Arial" panose="020B0604020202020204" pitchFamily="34" charset="0"/>
              <a:buChar char="•"/>
            </a:pPr>
            <a:r>
              <a:rPr lang="it-IT" sz="800" dirty="0"/>
              <a:t>Sorgente / Destinazione : SNOW/ AWS</a:t>
            </a:r>
          </a:p>
          <a:p>
            <a:pPr marL="171450" indent="-171450">
              <a:buFont typeface="Arial" panose="020B0604020202020204" pitchFamily="34" charset="0"/>
              <a:buChar char="•"/>
            </a:pPr>
            <a:r>
              <a:rPr lang="it-IT" sz="800" dirty="0"/>
              <a:t>Schedulato: SI</a:t>
            </a:r>
          </a:p>
          <a:p>
            <a:pPr marL="171450" indent="-171450">
              <a:buFont typeface="Arial" panose="020B0604020202020204" pitchFamily="34" charset="0"/>
              <a:buChar char="•"/>
            </a:pPr>
            <a:r>
              <a:rPr lang="it-IT" sz="800" dirty="0"/>
              <a:t>Frequenza attuale: tutti i giorni ogni 30’</a:t>
            </a:r>
          </a:p>
          <a:p>
            <a:pPr marL="171450" indent="-171450">
              <a:buFont typeface="Arial" panose="020B0604020202020204" pitchFamily="34" charset="0"/>
              <a:buChar char="•"/>
            </a:pPr>
            <a:r>
              <a:rPr lang="it-IT" sz="800" dirty="0">
                <a:solidFill>
                  <a:srgbClr val="FF0000"/>
                </a:solidFill>
              </a:rPr>
              <a:t>Monitorato: No</a:t>
            </a:r>
          </a:p>
          <a:p>
            <a:pPr marL="171450" indent="-171450">
              <a:buFont typeface="Arial" panose="020B0604020202020204" pitchFamily="34" charset="0"/>
              <a:buChar char="•"/>
            </a:pPr>
            <a:r>
              <a:rPr lang="it-IT" sz="800" dirty="0"/>
              <a:t>Predecessore/successore: nessuno</a:t>
            </a:r>
          </a:p>
        </p:txBody>
      </p:sp>
      <p:sp>
        <p:nvSpPr>
          <p:cNvPr id="2" name="Rettangolo 1"/>
          <p:cNvSpPr/>
          <p:nvPr/>
        </p:nvSpPr>
        <p:spPr>
          <a:xfrm rot="19874659">
            <a:off x="9520539" y="2549490"/>
            <a:ext cx="1773241" cy="830997"/>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it-IT" sz="2400" b="1" cap="none" spc="0" dirty="0">
                <a:ln/>
                <a:solidFill>
                  <a:schemeClr val="accent4"/>
                </a:solidFill>
                <a:effectLst/>
              </a:rPr>
              <a:t>Flussi non</a:t>
            </a:r>
          </a:p>
          <a:p>
            <a:pPr algn="ctr"/>
            <a:r>
              <a:rPr lang="it-IT" sz="2400" b="1" cap="none" spc="0" dirty="0">
                <a:ln/>
                <a:solidFill>
                  <a:schemeClr val="accent4"/>
                </a:solidFill>
                <a:effectLst/>
              </a:rPr>
              <a:t> monitorati</a:t>
            </a:r>
          </a:p>
        </p:txBody>
      </p:sp>
      <p:sp>
        <p:nvSpPr>
          <p:cNvPr id="27" name="Ovale 29">
            <a:extLst>
              <a:ext uri="{FF2B5EF4-FFF2-40B4-BE49-F238E27FC236}">
                <a16:creationId xmlns:a16="http://schemas.microsoft.com/office/drawing/2014/main" id="{4FDF2DF7-5A27-4439-BD03-5B42894AAC1D}"/>
              </a:ext>
            </a:extLst>
          </p:cNvPr>
          <p:cNvSpPr/>
          <p:nvPr/>
        </p:nvSpPr>
        <p:spPr>
          <a:xfrm>
            <a:off x="3137440" y="4218405"/>
            <a:ext cx="40150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5b</a:t>
            </a:r>
          </a:p>
        </p:txBody>
      </p:sp>
      <p:sp>
        <p:nvSpPr>
          <p:cNvPr id="33" name="CasellaDiTesto 52">
            <a:extLst>
              <a:ext uri="{FF2B5EF4-FFF2-40B4-BE49-F238E27FC236}">
                <a16:creationId xmlns:a16="http://schemas.microsoft.com/office/drawing/2014/main" id="{FEEC0B6F-E356-483B-AD3D-4296091EBB5D}"/>
              </a:ext>
            </a:extLst>
          </p:cNvPr>
          <p:cNvSpPr txBox="1"/>
          <p:nvPr/>
        </p:nvSpPr>
        <p:spPr>
          <a:xfrm>
            <a:off x="3568686" y="4226421"/>
            <a:ext cx="1293444" cy="246221"/>
          </a:xfrm>
          <a:prstGeom prst="rect">
            <a:avLst/>
          </a:prstGeom>
          <a:noFill/>
        </p:spPr>
        <p:txBody>
          <a:bodyPr wrap="square" lIns="0" tIns="0" rIns="0" bIns="0" rtlCol="0">
            <a:spAutoFit/>
          </a:bodyPr>
          <a:lstStyle/>
          <a:p>
            <a:r>
              <a:rPr lang="it-IT" sz="800" b="1" i="1" dirty="0"/>
              <a:t>Lettura Cataloghi Perimetro e Attività</a:t>
            </a:r>
          </a:p>
        </p:txBody>
      </p:sp>
      <p:sp>
        <p:nvSpPr>
          <p:cNvPr id="34" name="Rettangolo 54">
            <a:extLst>
              <a:ext uri="{FF2B5EF4-FFF2-40B4-BE49-F238E27FC236}">
                <a16:creationId xmlns:a16="http://schemas.microsoft.com/office/drawing/2014/main" id="{7ADE77CB-7399-4973-A70C-C1C2EBAF4184}"/>
              </a:ext>
            </a:extLst>
          </p:cNvPr>
          <p:cNvSpPr/>
          <p:nvPr/>
        </p:nvSpPr>
        <p:spPr>
          <a:xfrm>
            <a:off x="8644830" y="4725753"/>
            <a:ext cx="2887547" cy="1619244"/>
          </a:xfrm>
          <a:prstGeom prst="rect">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sp>
        <p:nvSpPr>
          <p:cNvPr id="35" name="Ovale 55">
            <a:extLst>
              <a:ext uri="{FF2B5EF4-FFF2-40B4-BE49-F238E27FC236}">
                <a16:creationId xmlns:a16="http://schemas.microsoft.com/office/drawing/2014/main" id="{EFD3A3A8-EFE8-4FC6-AA5C-F8466DF32412}"/>
              </a:ext>
            </a:extLst>
          </p:cNvPr>
          <p:cNvSpPr/>
          <p:nvPr/>
        </p:nvSpPr>
        <p:spPr>
          <a:xfrm>
            <a:off x="8541100" y="4586961"/>
            <a:ext cx="369932"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5b</a:t>
            </a:r>
          </a:p>
        </p:txBody>
      </p:sp>
      <p:sp>
        <p:nvSpPr>
          <p:cNvPr id="36" name="CasellaDiTesto 57">
            <a:extLst>
              <a:ext uri="{FF2B5EF4-FFF2-40B4-BE49-F238E27FC236}">
                <a16:creationId xmlns:a16="http://schemas.microsoft.com/office/drawing/2014/main" id="{98D976B5-B56C-4BB5-A74C-7B1B86333B34}"/>
              </a:ext>
            </a:extLst>
          </p:cNvPr>
          <p:cNvSpPr txBox="1"/>
          <p:nvPr/>
        </p:nvSpPr>
        <p:spPr>
          <a:xfrm>
            <a:off x="8813257" y="4795479"/>
            <a:ext cx="2719120" cy="1477328"/>
          </a:xfrm>
          <a:prstGeom prst="rect">
            <a:avLst/>
          </a:prstGeom>
          <a:noFill/>
        </p:spPr>
        <p:txBody>
          <a:bodyPr wrap="square" lIns="0" tIns="0" rIns="0" bIns="0" rtlCol="0">
            <a:spAutoFit/>
          </a:bodyPr>
          <a:lstStyle/>
          <a:p>
            <a:r>
              <a:rPr lang="it-IT" sz="800" b="1" i="1" dirty="0"/>
              <a:t>Lettura Cataloghi Perimetro e Attività</a:t>
            </a:r>
          </a:p>
          <a:p>
            <a:pPr marL="171450" indent="-171450">
              <a:buFont typeface="Arial" panose="020B0604020202020204" pitchFamily="34" charset="0"/>
              <a:buChar char="•"/>
            </a:pPr>
            <a:r>
              <a:rPr lang="it-IT" sz="800" dirty="0"/>
              <a:t>Sistema: AWS</a:t>
            </a:r>
          </a:p>
          <a:p>
            <a:pPr marL="171450" indent="-171450">
              <a:buFont typeface="Arial" panose="020B0604020202020204" pitchFamily="34" charset="0"/>
              <a:buChar char="•"/>
            </a:pPr>
            <a:r>
              <a:rPr lang="it-IT" sz="800" dirty="0"/>
              <a:t>Descrizione: Lettura Catalogo Perimetro e Attività e memorizzazione nelle tabelle Company Scope e </a:t>
            </a:r>
            <a:r>
              <a:rPr lang="it-IT" sz="800" dirty="0" err="1"/>
              <a:t>AssociationActivity</a:t>
            </a:r>
            <a:endParaRPr lang="it-IT" sz="800" dirty="0">
              <a:latin typeface="Calibri" panose="020F0502020204030204" pitchFamily="34" charset="0"/>
              <a:ea typeface="Calibri" panose="020F0502020204030204" pitchFamily="34" charset="0"/>
              <a:cs typeface="Times New Roman" panose="02020603050405020304" pitchFamily="18" charset="0"/>
            </a:endParaRPr>
          </a:p>
          <a:p>
            <a:pPr marL="171450" indent="-171450">
              <a:buFont typeface="Arial" panose="020B0604020202020204" pitchFamily="34" charset="0"/>
              <a:buChar char="•"/>
            </a:pPr>
            <a:r>
              <a:rPr lang="it-IT" sz="800" dirty="0"/>
              <a:t>Dati input: Cataloghi</a:t>
            </a:r>
          </a:p>
          <a:p>
            <a:pPr marL="171450" indent="-171450">
              <a:buFont typeface="Arial" panose="020B0604020202020204" pitchFamily="34" charset="0"/>
              <a:buChar char="•"/>
            </a:pPr>
            <a:r>
              <a:rPr lang="it-IT" sz="800" dirty="0"/>
              <a:t>Dati output: Tabelle</a:t>
            </a:r>
          </a:p>
          <a:p>
            <a:pPr marL="171450" indent="-171450">
              <a:buFont typeface="Arial" panose="020B0604020202020204" pitchFamily="34" charset="0"/>
              <a:buChar char="•"/>
            </a:pPr>
            <a:r>
              <a:rPr lang="it-IT" sz="800" dirty="0"/>
              <a:t>Sorgente / Destinazione : SNOW/ AWS</a:t>
            </a:r>
          </a:p>
          <a:p>
            <a:pPr marL="171450" indent="-171450">
              <a:buFont typeface="Arial" panose="020B0604020202020204" pitchFamily="34" charset="0"/>
              <a:buChar char="•"/>
            </a:pPr>
            <a:r>
              <a:rPr lang="it-IT" sz="800" dirty="0"/>
              <a:t>Schedulato: SI</a:t>
            </a:r>
          </a:p>
          <a:p>
            <a:pPr marL="171450" indent="-171450">
              <a:buFont typeface="Arial" panose="020B0604020202020204" pitchFamily="34" charset="0"/>
              <a:buChar char="•"/>
            </a:pPr>
            <a:r>
              <a:rPr lang="it-IT" sz="800" dirty="0"/>
              <a:t>Frequenza attuale: Domenica </a:t>
            </a:r>
            <a:r>
              <a:rPr lang="it-IT" sz="800"/>
              <a:t>alle 19.00</a:t>
            </a:r>
            <a:endParaRPr lang="it-IT" sz="800" dirty="0"/>
          </a:p>
          <a:p>
            <a:pPr marL="171450" indent="-171450">
              <a:buFont typeface="Arial" panose="020B0604020202020204" pitchFamily="34" charset="0"/>
              <a:buChar char="•"/>
            </a:pPr>
            <a:r>
              <a:rPr lang="it-IT" sz="800" dirty="0">
                <a:solidFill>
                  <a:srgbClr val="FF0000"/>
                </a:solidFill>
              </a:rPr>
              <a:t>Monitorato: No</a:t>
            </a:r>
          </a:p>
          <a:p>
            <a:pPr marL="171450" indent="-171450">
              <a:buFont typeface="Arial" panose="020B0604020202020204" pitchFamily="34" charset="0"/>
              <a:buChar char="•"/>
            </a:pPr>
            <a:r>
              <a:rPr lang="it-IT" sz="800" dirty="0"/>
              <a:t>Predecessore/successore: nessuno</a:t>
            </a:r>
          </a:p>
        </p:txBody>
      </p:sp>
    </p:spTree>
    <p:extLst>
      <p:ext uri="{BB962C8B-B14F-4D97-AF65-F5344CB8AC3E}">
        <p14:creationId xmlns:p14="http://schemas.microsoft.com/office/powerpoint/2010/main" val="911190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ttangolo 12"/>
          <p:cNvSpPr/>
          <p:nvPr/>
        </p:nvSpPr>
        <p:spPr>
          <a:xfrm>
            <a:off x="7993125" y="1514296"/>
            <a:ext cx="2915626" cy="1004511"/>
          </a:xfrm>
          <a:prstGeom prst="rect">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sp>
        <p:nvSpPr>
          <p:cNvPr id="4" name="Segnaposto piè di pagina 3"/>
          <p:cNvSpPr>
            <a:spLocks noGrp="1"/>
          </p:cNvSpPr>
          <p:nvPr>
            <p:ph type="ftr" sz="quarter" idx="11"/>
          </p:nvPr>
        </p:nvSpPr>
        <p:spPr>
          <a:xfrm>
            <a:off x="2254851" y="6238280"/>
            <a:ext cx="8381999" cy="153888"/>
          </a:xfrm>
        </p:spPr>
        <p:txBody>
          <a:bodyPr/>
          <a:lstStyle/>
          <a:p>
            <a:r>
              <a:rPr lang="en-GB" dirty="0"/>
              <a:t>Reporting &amp; Analytics</a:t>
            </a:r>
          </a:p>
        </p:txBody>
      </p:sp>
      <p:sp>
        <p:nvSpPr>
          <p:cNvPr id="5" name="Segnaposto numero diapositiva 4"/>
          <p:cNvSpPr>
            <a:spLocks noGrp="1"/>
          </p:cNvSpPr>
          <p:nvPr>
            <p:ph type="sldNum" sz="quarter" idx="12"/>
          </p:nvPr>
        </p:nvSpPr>
        <p:spPr/>
        <p:txBody>
          <a:bodyPr/>
          <a:lstStyle/>
          <a:p>
            <a:fld id="{1ED2235E-0982-3B42-A838-A74550CD4449}" type="slidenum">
              <a:rPr lang="en-GB" smtClean="0"/>
              <a:pPr/>
              <a:t>3</a:t>
            </a:fld>
            <a:endParaRPr lang="en-GB" dirty="0"/>
          </a:p>
        </p:txBody>
      </p:sp>
      <p:sp>
        <p:nvSpPr>
          <p:cNvPr id="8" name="Elaborazione 7"/>
          <p:cNvSpPr/>
          <p:nvPr/>
        </p:nvSpPr>
        <p:spPr>
          <a:xfrm>
            <a:off x="2902077" y="3143447"/>
            <a:ext cx="1325367" cy="801384"/>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AWS</a:t>
            </a:r>
          </a:p>
        </p:txBody>
      </p:sp>
      <p:sp>
        <p:nvSpPr>
          <p:cNvPr id="9" name="Elaborazione 8"/>
          <p:cNvSpPr/>
          <p:nvPr/>
        </p:nvSpPr>
        <p:spPr>
          <a:xfrm>
            <a:off x="2902078" y="5219602"/>
            <a:ext cx="1325367" cy="801384"/>
          </a:xfrm>
          <a:prstGeom prst="flowChartProcess">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SNOW</a:t>
            </a:r>
          </a:p>
        </p:txBody>
      </p:sp>
      <p:sp>
        <p:nvSpPr>
          <p:cNvPr id="10" name="Elaborazione 9"/>
          <p:cNvSpPr/>
          <p:nvPr/>
        </p:nvSpPr>
        <p:spPr>
          <a:xfrm>
            <a:off x="5955388" y="1654644"/>
            <a:ext cx="1409272" cy="801384"/>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BW4HANA</a:t>
            </a:r>
          </a:p>
        </p:txBody>
      </p:sp>
      <p:sp>
        <p:nvSpPr>
          <p:cNvPr id="11" name="Elaborazione 10"/>
          <p:cNvSpPr/>
          <p:nvPr/>
        </p:nvSpPr>
        <p:spPr>
          <a:xfrm>
            <a:off x="765997" y="1715006"/>
            <a:ext cx="1325367" cy="801384"/>
          </a:xfrm>
          <a:prstGeom prst="flowChartProcess">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SAP HR </a:t>
            </a:r>
          </a:p>
        </p:txBody>
      </p:sp>
      <p:sp>
        <p:nvSpPr>
          <p:cNvPr id="65" name="Ovale 64"/>
          <p:cNvSpPr/>
          <p:nvPr/>
        </p:nvSpPr>
        <p:spPr>
          <a:xfrm>
            <a:off x="3569754" y="1808637"/>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6</a:t>
            </a:r>
          </a:p>
        </p:txBody>
      </p:sp>
      <p:sp>
        <p:nvSpPr>
          <p:cNvPr id="75" name="CasellaDiTesto 74"/>
          <p:cNvSpPr txBox="1"/>
          <p:nvPr/>
        </p:nvSpPr>
        <p:spPr>
          <a:xfrm>
            <a:off x="1491712" y="1300119"/>
            <a:ext cx="1488973" cy="123111"/>
          </a:xfrm>
          <a:prstGeom prst="rect">
            <a:avLst/>
          </a:prstGeom>
          <a:noFill/>
        </p:spPr>
        <p:txBody>
          <a:bodyPr wrap="square" lIns="0" tIns="0" rIns="0" bIns="0" rtlCol="0">
            <a:spAutoFit/>
          </a:bodyPr>
          <a:lstStyle/>
          <a:p>
            <a:r>
              <a:rPr lang="it-IT" sz="800" b="1" i="1" dirty="0"/>
              <a:t>Anagrafica dei CC</a:t>
            </a:r>
          </a:p>
        </p:txBody>
      </p:sp>
      <p:cxnSp>
        <p:nvCxnSpPr>
          <p:cNvPr id="85" name="Connettore 4 84"/>
          <p:cNvCxnSpPr>
            <a:stCxn id="8" idx="0"/>
            <a:endCxn id="54" idx="1"/>
          </p:cNvCxnSpPr>
          <p:nvPr/>
        </p:nvCxnSpPr>
        <p:spPr>
          <a:xfrm rot="5400000" flipH="1" flipV="1">
            <a:off x="3564322" y="2521954"/>
            <a:ext cx="621932" cy="621055"/>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95" name="CasellaDiTesto 94"/>
          <p:cNvSpPr txBox="1"/>
          <p:nvPr/>
        </p:nvSpPr>
        <p:spPr>
          <a:xfrm>
            <a:off x="4011434" y="1729238"/>
            <a:ext cx="1103016" cy="246221"/>
          </a:xfrm>
          <a:prstGeom prst="rect">
            <a:avLst/>
          </a:prstGeom>
          <a:noFill/>
        </p:spPr>
        <p:txBody>
          <a:bodyPr wrap="square" lIns="0" tIns="0" rIns="0" bIns="0" rtlCol="0">
            <a:spAutoFit/>
          </a:bodyPr>
          <a:lstStyle/>
          <a:p>
            <a:r>
              <a:rPr lang="it-IT" sz="800" b="1" i="1" dirty="0"/>
              <a:t>Trasferimento agganci UO-CC</a:t>
            </a:r>
          </a:p>
        </p:txBody>
      </p:sp>
      <p:sp>
        <p:nvSpPr>
          <p:cNvPr id="38" name="Ovale 37"/>
          <p:cNvSpPr/>
          <p:nvPr/>
        </p:nvSpPr>
        <p:spPr>
          <a:xfrm>
            <a:off x="7993125" y="1514296"/>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6</a:t>
            </a:r>
            <a:endParaRPr lang="it-IT" sz="1200" b="1" kern="1200" dirty="0">
              <a:solidFill>
                <a:schemeClr val="tx1"/>
              </a:solidFill>
            </a:endParaRPr>
          </a:p>
        </p:txBody>
      </p:sp>
      <p:sp>
        <p:nvSpPr>
          <p:cNvPr id="43" name="CasellaDiTesto 42"/>
          <p:cNvSpPr txBox="1"/>
          <p:nvPr/>
        </p:nvSpPr>
        <p:spPr>
          <a:xfrm>
            <a:off x="8457055" y="1583489"/>
            <a:ext cx="2306264" cy="738664"/>
          </a:xfrm>
          <a:prstGeom prst="rect">
            <a:avLst/>
          </a:prstGeom>
          <a:noFill/>
        </p:spPr>
        <p:txBody>
          <a:bodyPr wrap="square" lIns="0" tIns="0" rIns="0" bIns="0" rtlCol="0">
            <a:spAutoFit/>
          </a:bodyPr>
          <a:lstStyle/>
          <a:p>
            <a:r>
              <a:rPr lang="it-IT" sz="800" b="1" i="1" dirty="0"/>
              <a:t>Trasferimento agganci UO-CC</a:t>
            </a:r>
          </a:p>
          <a:p>
            <a:pPr marL="171450" indent="-171450">
              <a:buFont typeface="Arial" panose="020B0604020202020204" pitchFamily="34" charset="0"/>
              <a:buChar char="•"/>
            </a:pPr>
            <a:r>
              <a:rPr lang="it-IT" sz="800" dirty="0"/>
              <a:t>Sistema: DI</a:t>
            </a:r>
          </a:p>
          <a:p>
            <a:pPr marL="171450" indent="-171450">
              <a:buFont typeface="Arial" panose="020B0604020202020204" pitchFamily="34" charset="0"/>
              <a:buChar char="•"/>
            </a:pPr>
            <a:r>
              <a:rPr lang="it-IT" sz="800" dirty="0"/>
              <a:t>Schedulato: SI</a:t>
            </a:r>
          </a:p>
          <a:p>
            <a:pPr marL="171450" indent="-171450">
              <a:buFont typeface="Arial" panose="020B0604020202020204" pitchFamily="34" charset="0"/>
              <a:buChar char="•"/>
            </a:pPr>
            <a:r>
              <a:rPr lang="it-IT" sz="800" dirty="0"/>
              <a:t>Frequenza attuale: tutti i giorni ogni 15’</a:t>
            </a:r>
          </a:p>
          <a:p>
            <a:pPr marL="171450" indent="-171450">
              <a:buFont typeface="Arial" panose="020B0604020202020204" pitchFamily="34" charset="0"/>
              <a:buChar char="•"/>
            </a:pPr>
            <a:r>
              <a:rPr lang="it-IT" sz="800" dirty="0"/>
              <a:t>Ora: 00:15, 00:30, </a:t>
            </a:r>
            <a:r>
              <a:rPr lang="it-IT" sz="800" dirty="0" err="1"/>
              <a:t>etc</a:t>
            </a:r>
            <a:endParaRPr lang="it-IT" sz="800" dirty="0"/>
          </a:p>
          <a:p>
            <a:pPr marL="171450" indent="-171450">
              <a:buFont typeface="Arial" panose="020B0604020202020204" pitchFamily="34" charset="0"/>
              <a:buChar char="•"/>
            </a:pPr>
            <a:r>
              <a:rPr lang="it-IT" sz="800" dirty="0">
                <a:solidFill>
                  <a:srgbClr val="FF0000"/>
                </a:solidFill>
              </a:rPr>
              <a:t>Monitorato: No</a:t>
            </a:r>
          </a:p>
        </p:txBody>
      </p:sp>
      <p:sp>
        <p:nvSpPr>
          <p:cNvPr id="54" name="Elaborazione 53"/>
          <p:cNvSpPr/>
          <p:nvPr/>
        </p:nvSpPr>
        <p:spPr>
          <a:xfrm>
            <a:off x="4185816" y="2157356"/>
            <a:ext cx="1090125" cy="728317"/>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DI</a:t>
            </a:r>
          </a:p>
        </p:txBody>
      </p:sp>
      <p:cxnSp>
        <p:nvCxnSpPr>
          <p:cNvPr id="57" name="Connettore 4 56"/>
          <p:cNvCxnSpPr>
            <a:stCxn id="54" idx="3"/>
            <a:endCxn id="10" idx="1"/>
          </p:cNvCxnSpPr>
          <p:nvPr/>
        </p:nvCxnSpPr>
        <p:spPr>
          <a:xfrm flipV="1">
            <a:off x="5275941" y="2055336"/>
            <a:ext cx="679447" cy="466179"/>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5" name="Rettangolo 34"/>
          <p:cNvSpPr/>
          <p:nvPr/>
        </p:nvSpPr>
        <p:spPr>
          <a:xfrm>
            <a:off x="3491316" y="38236"/>
            <a:ext cx="3724096" cy="923330"/>
          </a:xfrm>
          <a:prstGeom prst="rect">
            <a:avLst/>
          </a:prstGeom>
          <a:noFill/>
        </p:spPr>
        <p:txBody>
          <a:bodyPr wrap="none" lIns="91440" tIns="45720" rIns="91440" bIns="45720">
            <a:spAutoFit/>
          </a:bodyPr>
          <a:lstStyle/>
          <a:p>
            <a:pPr algn="ctr"/>
            <a:r>
              <a:rPr lang="it-IT"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Sistema DI</a:t>
            </a:r>
          </a:p>
        </p:txBody>
      </p:sp>
      <p:sp>
        <p:nvSpPr>
          <p:cNvPr id="18" name="Rettangolo 17"/>
          <p:cNvSpPr/>
          <p:nvPr/>
        </p:nvSpPr>
        <p:spPr>
          <a:xfrm rot="19406441">
            <a:off x="9970832" y="2201635"/>
            <a:ext cx="1875835" cy="830997"/>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it-IT" sz="2400" b="1" cap="none" spc="0" dirty="0">
                <a:ln/>
                <a:solidFill>
                  <a:schemeClr val="accent4"/>
                </a:solidFill>
                <a:effectLst/>
              </a:rPr>
              <a:t>Flusso non</a:t>
            </a:r>
          </a:p>
          <a:p>
            <a:pPr algn="ctr"/>
            <a:r>
              <a:rPr lang="it-IT" sz="2400" b="1" cap="none" spc="0" dirty="0">
                <a:ln/>
                <a:solidFill>
                  <a:schemeClr val="accent4"/>
                </a:solidFill>
                <a:effectLst/>
              </a:rPr>
              <a:t> monitorato</a:t>
            </a:r>
          </a:p>
        </p:txBody>
      </p:sp>
    </p:spTree>
    <p:extLst>
      <p:ext uri="{BB962C8B-B14F-4D97-AF65-F5344CB8AC3E}">
        <p14:creationId xmlns:p14="http://schemas.microsoft.com/office/powerpoint/2010/main" val="2237226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piè di pagina 3"/>
          <p:cNvSpPr>
            <a:spLocks noGrp="1"/>
          </p:cNvSpPr>
          <p:nvPr>
            <p:ph type="ftr" sz="quarter" idx="11"/>
          </p:nvPr>
        </p:nvSpPr>
        <p:spPr>
          <a:xfrm>
            <a:off x="2254851" y="6238280"/>
            <a:ext cx="8381999" cy="153888"/>
          </a:xfrm>
        </p:spPr>
        <p:txBody>
          <a:bodyPr/>
          <a:lstStyle/>
          <a:p>
            <a:r>
              <a:rPr lang="en-GB" dirty="0"/>
              <a:t>Reporting &amp; Analytics</a:t>
            </a:r>
          </a:p>
        </p:txBody>
      </p:sp>
      <p:sp>
        <p:nvSpPr>
          <p:cNvPr id="5" name="Segnaposto numero diapositiva 4"/>
          <p:cNvSpPr>
            <a:spLocks noGrp="1"/>
          </p:cNvSpPr>
          <p:nvPr>
            <p:ph type="sldNum" sz="quarter" idx="12"/>
          </p:nvPr>
        </p:nvSpPr>
        <p:spPr/>
        <p:txBody>
          <a:bodyPr/>
          <a:lstStyle/>
          <a:p>
            <a:fld id="{1ED2235E-0982-3B42-A838-A74550CD4449}" type="slidenum">
              <a:rPr lang="en-GB" smtClean="0"/>
              <a:pPr/>
              <a:t>4</a:t>
            </a:fld>
            <a:endParaRPr lang="en-GB" dirty="0"/>
          </a:p>
        </p:txBody>
      </p:sp>
      <p:sp>
        <p:nvSpPr>
          <p:cNvPr id="8" name="Elaborazione 7"/>
          <p:cNvSpPr/>
          <p:nvPr/>
        </p:nvSpPr>
        <p:spPr>
          <a:xfrm>
            <a:off x="4426173" y="2977465"/>
            <a:ext cx="1325367" cy="801384"/>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AWS</a:t>
            </a:r>
          </a:p>
        </p:txBody>
      </p:sp>
      <p:sp>
        <p:nvSpPr>
          <p:cNvPr id="9" name="Elaborazione 8"/>
          <p:cNvSpPr/>
          <p:nvPr/>
        </p:nvSpPr>
        <p:spPr>
          <a:xfrm>
            <a:off x="4426174" y="5053620"/>
            <a:ext cx="1325367" cy="801384"/>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SNOW</a:t>
            </a:r>
          </a:p>
        </p:txBody>
      </p:sp>
      <p:sp>
        <p:nvSpPr>
          <p:cNvPr id="10" name="Elaborazione 9"/>
          <p:cNvSpPr/>
          <p:nvPr/>
        </p:nvSpPr>
        <p:spPr>
          <a:xfrm>
            <a:off x="7479484" y="1488662"/>
            <a:ext cx="1409272" cy="801384"/>
          </a:xfrm>
          <a:prstGeom prst="flowChartProcess">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BW4HANA</a:t>
            </a:r>
          </a:p>
        </p:txBody>
      </p:sp>
      <p:sp>
        <p:nvSpPr>
          <p:cNvPr id="11" name="Elaborazione 10"/>
          <p:cNvSpPr/>
          <p:nvPr/>
        </p:nvSpPr>
        <p:spPr>
          <a:xfrm>
            <a:off x="2290093" y="1549024"/>
            <a:ext cx="1325367" cy="801384"/>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SAP HR </a:t>
            </a:r>
          </a:p>
        </p:txBody>
      </p:sp>
      <p:sp>
        <p:nvSpPr>
          <p:cNvPr id="37" name="CasellaDiTesto 36"/>
          <p:cNvSpPr txBox="1"/>
          <p:nvPr/>
        </p:nvSpPr>
        <p:spPr>
          <a:xfrm>
            <a:off x="491363" y="2347046"/>
            <a:ext cx="2070604" cy="369332"/>
          </a:xfrm>
          <a:prstGeom prst="rect">
            <a:avLst/>
          </a:prstGeom>
          <a:noFill/>
        </p:spPr>
        <p:txBody>
          <a:bodyPr wrap="square" lIns="0" tIns="0" rIns="0" bIns="0" rtlCol="0">
            <a:spAutoFit/>
          </a:bodyPr>
          <a:lstStyle/>
          <a:p>
            <a:r>
              <a:rPr lang="it-IT" sz="800" b="1" i="1" dirty="0"/>
              <a:t>7.1   Lettura agganci UO-CC</a:t>
            </a:r>
          </a:p>
          <a:p>
            <a:r>
              <a:rPr lang="it-IT" sz="800" b="1" i="1" dirty="0"/>
              <a:t>7.2   Lettura Anagrafica CC</a:t>
            </a:r>
          </a:p>
          <a:p>
            <a:r>
              <a:rPr lang="it-IT" sz="800" b="1" i="1" dirty="0"/>
              <a:t>7.3   Cambio stato ticket agganci UO-CC</a:t>
            </a:r>
          </a:p>
        </p:txBody>
      </p:sp>
      <p:cxnSp>
        <p:nvCxnSpPr>
          <p:cNvPr id="47" name="Connettore 4 46"/>
          <p:cNvCxnSpPr>
            <a:stCxn id="10" idx="0"/>
            <a:endCxn id="11" idx="0"/>
          </p:cNvCxnSpPr>
          <p:nvPr/>
        </p:nvCxnSpPr>
        <p:spPr>
          <a:xfrm rot="16200000" flipH="1" flipV="1">
            <a:off x="5538268" y="-1096829"/>
            <a:ext cx="60362" cy="5231343"/>
          </a:xfrm>
          <a:prstGeom prst="bentConnector3">
            <a:avLst>
              <a:gd name="adj1" fmla="val -378715"/>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5" name="CasellaDiTesto 74"/>
          <p:cNvSpPr txBox="1"/>
          <p:nvPr/>
        </p:nvSpPr>
        <p:spPr>
          <a:xfrm>
            <a:off x="5007053" y="1066880"/>
            <a:ext cx="1488973" cy="123111"/>
          </a:xfrm>
          <a:prstGeom prst="rect">
            <a:avLst/>
          </a:prstGeom>
          <a:noFill/>
        </p:spPr>
        <p:txBody>
          <a:bodyPr wrap="square" lIns="0" tIns="0" rIns="0" bIns="0" rtlCol="0">
            <a:spAutoFit/>
          </a:bodyPr>
          <a:lstStyle/>
          <a:p>
            <a:r>
              <a:rPr lang="it-IT" sz="800" b="1" i="1" dirty="0"/>
              <a:t>7.2 Lettura Anagrafica CC</a:t>
            </a:r>
          </a:p>
        </p:txBody>
      </p:sp>
      <p:sp>
        <p:nvSpPr>
          <p:cNvPr id="90" name="Ovale 89"/>
          <p:cNvSpPr/>
          <p:nvPr/>
        </p:nvSpPr>
        <p:spPr>
          <a:xfrm>
            <a:off x="52894" y="2402824"/>
            <a:ext cx="433908"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7</a:t>
            </a:r>
          </a:p>
        </p:txBody>
      </p:sp>
      <p:sp>
        <p:nvSpPr>
          <p:cNvPr id="54" name="Elaborazione 53"/>
          <p:cNvSpPr/>
          <p:nvPr/>
        </p:nvSpPr>
        <p:spPr>
          <a:xfrm>
            <a:off x="5709912" y="1991374"/>
            <a:ext cx="1090125" cy="728317"/>
          </a:xfrm>
          <a:prstGeom prst="flowChartProcess">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DI</a:t>
            </a:r>
          </a:p>
        </p:txBody>
      </p:sp>
      <p:sp>
        <p:nvSpPr>
          <p:cNvPr id="59" name="Rettangolo 58"/>
          <p:cNvSpPr/>
          <p:nvPr/>
        </p:nvSpPr>
        <p:spPr>
          <a:xfrm>
            <a:off x="9393067" y="1576610"/>
            <a:ext cx="2619632" cy="1231906"/>
          </a:xfrm>
          <a:prstGeom prst="rect">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sp>
        <p:nvSpPr>
          <p:cNvPr id="61" name="Ovale 60"/>
          <p:cNvSpPr/>
          <p:nvPr/>
        </p:nvSpPr>
        <p:spPr>
          <a:xfrm>
            <a:off x="9159375" y="1576610"/>
            <a:ext cx="469700" cy="375169"/>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7.1</a:t>
            </a:r>
            <a:endParaRPr lang="it-IT" sz="1200" b="1" kern="1200" dirty="0">
              <a:solidFill>
                <a:schemeClr val="tx1"/>
              </a:solidFill>
            </a:endParaRPr>
          </a:p>
        </p:txBody>
      </p:sp>
      <p:sp>
        <p:nvSpPr>
          <p:cNvPr id="63" name="CasellaDiTesto 62"/>
          <p:cNvSpPr txBox="1"/>
          <p:nvPr/>
        </p:nvSpPr>
        <p:spPr>
          <a:xfrm>
            <a:off x="9646194" y="1665658"/>
            <a:ext cx="2349385" cy="984885"/>
          </a:xfrm>
          <a:prstGeom prst="rect">
            <a:avLst/>
          </a:prstGeom>
          <a:noFill/>
        </p:spPr>
        <p:txBody>
          <a:bodyPr wrap="square" lIns="0" tIns="0" rIns="0" bIns="0" rtlCol="0">
            <a:spAutoFit/>
          </a:bodyPr>
          <a:lstStyle/>
          <a:p>
            <a:endParaRPr lang="it-IT" sz="800" b="1" i="1" dirty="0"/>
          </a:p>
          <a:p>
            <a:r>
              <a:rPr lang="it-IT" sz="800" b="1" dirty="0"/>
              <a:t>Lettura aggancio UO-CC</a:t>
            </a:r>
          </a:p>
          <a:p>
            <a:pPr marL="171450" indent="-171450">
              <a:buFont typeface="Arial" panose="020B0604020202020204" pitchFamily="34" charset="0"/>
              <a:buChar char="•"/>
            </a:pPr>
            <a:r>
              <a:rPr lang="it-IT" sz="800" dirty="0"/>
              <a:t>Sistema: SAP HR </a:t>
            </a:r>
          </a:p>
          <a:p>
            <a:pPr marL="171450" indent="-171450">
              <a:buFont typeface="Arial" panose="020B0604020202020204" pitchFamily="34" charset="0"/>
              <a:buChar char="•"/>
            </a:pPr>
            <a:r>
              <a:rPr lang="it-IT" sz="800" dirty="0"/>
              <a:t>Programma: Z_AFC_HR_OU_CC_RELAT_UPDATE</a:t>
            </a:r>
          </a:p>
          <a:p>
            <a:pPr marL="171450" indent="-171450">
              <a:buFont typeface="Arial" panose="020B0604020202020204" pitchFamily="34" charset="0"/>
              <a:buChar char="•"/>
            </a:pPr>
            <a:r>
              <a:rPr lang="it-IT" sz="800" dirty="0"/>
              <a:t>Schedulato: SI</a:t>
            </a:r>
          </a:p>
          <a:p>
            <a:pPr marL="171450" indent="-171450">
              <a:buFont typeface="Arial" panose="020B0604020202020204" pitchFamily="34" charset="0"/>
              <a:buChar char="•"/>
            </a:pPr>
            <a:r>
              <a:rPr lang="it-IT" sz="800" dirty="0"/>
              <a:t>Frequenza attuale: tutti i giorni ogni 60’</a:t>
            </a:r>
          </a:p>
          <a:p>
            <a:pPr marL="171450" indent="-171450">
              <a:buFont typeface="Arial" panose="020B0604020202020204" pitchFamily="34" charset="0"/>
              <a:buChar char="•"/>
            </a:pPr>
            <a:r>
              <a:rPr lang="it-IT" sz="800" dirty="0"/>
              <a:t>Monitoraggio: SI tramite CONTROLM</a:t>
            </a:r>
          </a:p>
        </p:txBody>
      </p:sp>
      <p:sp>
        <p:nvSpPr>
          <p:cNvPr id="66" name="Rettangolo 65"/>
          <p:cNvSpPr/>
          <p:nvPr/>
        </p:nvSpPr>
        <p:spPr>
          <a:xfrm>
            <a:off x="9393067" y="3154784"/>
            <a:ext cx="2619632" cy="878532"/>
          </a:xfrm>
          <a:prstGeom prst="rect">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sp>
        <p:nvSpPr>
          <p:cNvPr id="68" name="CasellaDiTesto 67"/>
          <p:cNvSpPr txBox="1"/>
          <p:nvPr/>
        </p:nvSpPr>
        <p:spPr>
          <a:xfrm>
            <a:off x="9663685" y="3097017"/>
            <a:ext cx="2349385" cy="861774"/>
          </a:xfrm>
          <a:prstGeom prst="rect">
            <a:avLst/>
          </a:prstGeom>
          <a:noFill/>
        </p:spPr>
        <p:txBody>
          <a:bodyPr wrap="square" lIns="0" tIns="0" rIns="0" bIns="0" rtlCol="0">
            <a:spAutoFit/>
          </a:bodyPr>
          <a:lstStyle/>
          <a:p>
            <a:endParaRPr lang="it-IT" sz="800" b="1" i="1" dirty="0"/>
          </a:p>
          <a:p>
            <a:r>
              <a:rPr lang="it-IT" sz="800" b="1" dirty="0"/>
              <a:t>Lettura Anagrafica CC</a:t>
            </a:r>
          </a:p>
          <a:p>
            <a:pPr marL="171450" indent="-171450">
              <a:buFont typeface="Arial" panose="020B0604020202020204" pitchFamily="34" charset="0"/>
              <a:buChar char="•"/>
            </a:pPr>
            <a:r>
              <a:rPr lang="it-IT" sz="800" dirty="0"/>
              <a:t>Sistema: SAP HR </a:t>
            </a:r>
          </a:p>
          <a:p>
            <a:pPr marL="171450" indent="-171450">
              <a:buFont typeface="Arial" panose="020B0604020202020204" pitchFamily="34" charset="0"/>
              <a:buChar char="•"/>
            </a:pPr>
            <a:r>
              <a:rPr lang="it-IT" sz="800" dirty="0"/>
              <a:t>Chiamata interna del programma di creazione verso eAPI di BW4HANA nel caso sia assente la anagrafica</a:t>
            </a:r>
          </a:p>
          <a:p>
            <a:pPr marL="171450" indent="-171450">
              <a:buFont typeface="Arial" panose="020B0604020202020204" pitchFamily="34" charset="0"/>
              <a:buChar char="•"/>
            </a:pPr>
            <a:r>
              <a:rPr lang="it-IT" sz="800" dirty="0"/>
              <a:t>Chiamata interna allo </a:t>
            </a:r>
            <a:r>
              <a:rPr lang="it-IT" sz="800" dirty="0" err="1"/>
              <a:t>step</a:t>
            </a:r>
            <a:r>
              <a:rPr lang="it-IT" sz="800" dirty="0"/>
              <a:t> 8.1</a:t>
            </a:r>
          </a:p>
        </p:txBody>
      </p:sp>
      <p:sp>
        <p:nvSpPr>
          <p:cNvPr id="69" name="Rettangolo 68"/>
          <p:cNvSpPr/>
          <p:nvPr/>
        </p:nvSpPr>
        <p:spPr>
          <a:xfrm>
            <a:off x="9393438" y="4251317"/>
            <a:ext cx="2619632" cy="878532"/>
          </a:xfrm>
          <a:prstGeom prst="rect">
            <a:avLst/>
          </a:prstGeom>
          <a:solidFill>
            <a:schemeClr val="bg1">
              <a:lumMod val="85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sp>
        <p:nvSpPr>
          <p:cNvPr id="71" name="CasellaDiTesto 70"/>
          <p:cNvSpPr txBox="1"/>
          <p:nvPr/>
        </p:nvSpPr>
        <p:spPr>
          <a:xfrm>
            <a:off x="9664056" y="4193550"/>
            <a:ext cx="2349385" cy="861774"/>
          </a:xfrm>
          <a:prstGeom prst="rect">
            <a:avLst/>
          </a:prstGeom>
          <a:noFill/>
        </p:spPr>
        <p:txBody>
          <a:bodyPr wrap="square" lIns="0" tIns="0" rIns="0" bIns="0" rtlCol="0">
            <a:spAutoFit/>
          </a:bodyPr>
          <a:lstStyle/>
          <a:p>
            <a:endParaRPr lang="it-IT" sz="800" b="1" i="1" dirty="0"/>
          </a:p>
          <a:p>
            <a:r>
              <a:rPr lang="it-IT" sz="800" b="1" i="1" dirty="0"/>
              <a:t>Aggiornamento Stato ticket</a:t>
            </a:r>
          </a:p>
          <a:p>
            <a:pPr marL="171450" indent="-171450">
              <a:buFont typeface="Arial" panose="020B0604020202020204" pitchFamily="34" charset="0"/>
              <a:buChar char="•"/>
            </a:pPr>
            <a:r>
              <a:rPr lang="it-IT" sz="800" dirty="0"/>
              <a:t>Sistema: SAP HR </a:t>
            </a:r>
          </a:p>
          <a:p>
            <a:pPr marL="171450" indent="-171450">
              <a:buFont typeface="Arial" panose="020B0604020202020204" pitchFamily="34" charset="0"/>
              <a:buChar char="•"/>
            </a:pPr>
            <a:r>
              <a:rPr lang="it-IT" sz="800" dirty="0"/>
              <a:t>Chiamata interna del programma di creazione verso eAPI di SNOW per cambio stato ticket </a:t>
            </a:r>
          </a:p>
          <a:p>
            <a:pPr marL="171450" indent="-171450">
              <a:buFont typeface="Arial" panose="020B0604020202020204" pitchFamily="34" charset="0"/>
              <a:buChar char="•"/>
            </a:pPr>
            <a:r>
              <a:rPr lang="it-IT" sz="800" dirty="0"/>
              <a:t>Chiamata interna allo </a:t>
            </a:r>
            <a:r>
              <a:rPr lang="it-IT" sz="800" dirty="0" err="1"/>
              <a:t>step</a:t>
            </a:r>
            <a:r>
              <a:rPr lang="it-IT" sz="800" dirty="0"/>
              <a:t> 8.1</a:t>
            </a:r>
          </a:p>
          <a:p>
            <a:endParaRPr lang="it-IT" sz="800" dirty="0"/>
          </a:p>
        </p:txBody>
      </p:sp>
      <p:sp>
        <p:nvSpPr>
          <p:cNvPr id="72" name="Ovale 71"/>
          <p:cNvSpPr/>
          <p:nvPr/>
        </p:nvSpPr>
        <p:spPr>
          <a:xfrm>
            <a:off x="9104766" y="3034849"/>
            <a:ext cx="469700" cy="375169"/>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7.2</a:t>
            </a:r>
            <a:endParaRPr lang="it-IT" sz="1200" b="1" kern="1200" dirty="0">
              <a:solidFill>
                <a:schemeClr val="tx1"/>
              </a:solidFill>
            </a:endParaRPr>
          </a:p>
        </p:txBody>
      </p:sp>
      <p:sp>
        <p:nvSpPr>
          <p:cNvPr id="73" name="Ovale 72"/>
          <p:cNvSpPr/>
          <p:nvPr/>
        </p:nvSpPr>
        <p:spPr>
          <a:xfrm>
            <a:off x="9104766" y="4110274"/>
            <a:ext cx="469700" cy="375169"/>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7.3</a:t>
            </a:r>
            <a:endParaRPr lang="it-IT" sz="1200" b="1" kern="1200" dirty="0">
              <a:solidFill>
                <a:schemeClr val="tx1"/>
              </a:solidFill>
            </a:endParaRPr>
          </a:p>
        </p:txBody>
      </p:sp>
      <p:sp>
        <p:nvSpPr>
          <p:cNvPr id="74" name="Rettangolo 73"/>
          <p:cNvSpPr/>
          <p:nvPr/>
        </p:nvSpPr>
        <p:spPr>
          <a:xfrm>
            <a:off x="2271259" y="-36317"/>
            <a:ext cx="5635197" cy="923330"/>
          </a:xfrm>
          <a:prstGeom prst="rect">
            <a:avLst/>
          </a:prstGeom>
          <a:noFill/>
        </p:spPr>
        <p:txBody>
          <a:bodyPr wrap="none" lIns="91440" tIns="45720" rIns="91440" bIns="45720">
            <a:spAutoFit/>
          </a:bodyPr>
          <a:lstStyle/>
          <a:p>
            <a:pPr algn="ctr"/>
            <a:r>
              <a:rPr lang="it-IT"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Sistema SAP HR</a:t>
            </a:r>
          </a:p>
        </p:txBody>
      </p:sp>
      <p:sp>
        <p:nvSpPr>
          <p:cNvPr id="76" name="CasellaDiTesto 75"/>
          <p:cNvSpPr txBox="1"/>
          <p:nvPr/>
        </p:nvSpPr>
        <p:spPr>
          <a:xfrm>
            <a:off x="3011216" y="5229918"/>
            <a:ext cx="1488973" cy="123111"/>
          </a:xfrm>
          <a:prstGeom prst="rect">
            <a:avLst/>
          </a:prstGeom>
          <a:noFill/>
        </p:spPr>
        <p:txBody>
          <a:bodyPr wrap="square" lIns="0" tIns="0" rIns="0" bIns="0" rtlCol="0">
            <a:spAutoFit/>
          </a:bodyPr>
          <a:lstStyle/>
          <a:p>
            <a:r>
              <a:rPr lang="it-IT" sz="800" b="1" i="1" dirty="0"/>
              <a:t>7.1 Lettura agganci UO-CC</a:t>
            </a:r>
          </a:p>
        </p:txBody>
      </p:sp>
      <p:sp>
        <p:nvSpPr>
          <p:cNvPr id="77" name="CasellaDiTesto 76"/>
          <p:cNvSpPr txBox="1"/>
          <p:nvPr/>
        </p:nvSpPr>
        <p:spPr>
          <a:xfrm>
            <a:off x="2974209" y="5569052"/>
            <a:ext cx="1488973" cy="123111"/>
          </a:xfrm>
          <a:prstGeom prst="rect">
            <a:avLst/>
          </a:prstGeom>
          <a:noFill/>
        </p:spPr>
        <p:txBody>
          <a:bodyPr wrap="square" lIns="0" tIns="0" rIns="0" bIns="0" rtlCol="0">
            <a:spAutoFit/>
          </a:bodyPr>
          <a:lstStyle/>
          <a:p>
            <a:r>
              <a:rPr lang="it-IT" sz="800" b="1" i="1" dirty="0"/>
              <a:t>7.3 Cambio Stato ticket</a:t>
            </a:r>
          </a:p>
        </p:txBody>
      </p:sp>
      <p:cxnSp>
        <p:nvCxnSpPr>
          <p:cNvPr id="24" name="Connettore 4 23"/>
          <p:cNvCxnSpPr>
            <a:stCxn id="11" idx="2"/>
            <a:endCxn id="9" idx="1"/>
          </p:cNvCxnSpPr>
          <p:nvPr/>
        </p:nvCxnSpPr>
        <p:spPr>
          <a:xfrm rot="16200000" flipH="1">
            <a:off x="2137523" y="3165661"/>
            <a:ext cx="3103904" cy="1473397"/>
          </a:xfrm>
          <a:prstGeom prst="bentConnector2">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4327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gnaposto numero diapositiva 4"/>
          <p:cNvSpPr>
            <a:spLocks noGrp="1"/>
          </p:cNvSpPr>
          <p:nvPr>
            <p:ph type="sldNum" sz="quarter" idx="12"/>
          </p:nvPr>
        </p:nvSpPr>
        <p:spPr/>
        <p:txBody>
          <a:bodyPr/>
          <a:lstStyle/>
          <a:p>
            <a:fld id="{1ED2235E-0982-3B42-A838-A74550CD4449}" type="slidenum">
              <a:rPr lang="en-GB" smtClean="0"/>
              <a:pPr/>
              <a:t>5</a:t>
            </a:fld>
            <a:endParaRPr lang="en-GB" dirty="0"/>
          </a:p>
        </p:txBody>
      </p:sp>
      <p:sp>
        <p:nvSpPr>
          <p:cNvPr id="8" name="Elaborazione 7"/>
          <p:cNvSpPr/>
          <p:nvPr/>
        </p:nvSpPr>
        <p:spPr>
          <a:xfrm>
            <a:off x="4847926" y="3314218"/>
            <a:ext cx="1325367" cy="801384"/>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AWS</a:t>
            </a:r>
          </a:p>
        </p:txBody>
      </p:sp>
      <p:sp>
        <p:nvSpPr>
          <p:cNvPr id="9" name="Elaborazione 8"/>
          <p:cNvSpPr/>
          <p:nvPr/>
        </p:nvSpPr>
        <p:spPr>
          <a:xfrm>
            <a:off x="4847926" y="5395041"/>
            <a:ext cx="1325367" cy="801384"/>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SNOW</a:t>
            </a:r>
          </a:p>
        </p:txBody>
      </p:sp>
      <p:sp>
        <p:nvSpPr>
          <p:cNvPr id="10" name="Elaborazione 9"/>
          <p:cNvSpPr/>
          <p:nvPr/>
        </p:nvSpPr>
        <p:spPr>
          <a:xfrm>
            <a:off x="8605615" y="1669949"/>
            <a:ext cx="1409272" cy="801384"/>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BW4HANA</a:t>
            </a:r>
          </a:p>
        </p:txBody>
      </p:sp>
      <p:sp>
        <p:nvSpPr>
          <p:cNvPr id="11" name="Elaborazione 10"/>
          <p:cNvSpPr/>
          <p:nvPr/>
        </p:nvSpPr>
        <p:spPr>
          <a:xfrm>
            <a:off x="1936632" y="1935194"/>
            <a:ext cx="1325367" cy="801384"/>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SAP HR </a:t>
            </a:r>
          </a:p>
        </p:txBody>
      </p:sp>
      <p:cxnSp>
        <p:nvCxnSpPr>
          <p:cNvPr id="31" name="Connettore 2 30"/>
          <p:cNvCxnSpPr/>
          <p:nvPr/>
        </p:nvCxnSpPr>
        <p:spPr>
          <a:xfrm>
            <a:off x="5199062" y="4124407"/>
            <a:ext cx="0" cy="127548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9" name="Connettore 4 38"/>
          <p:cNvCxnSpPr>
            <a:stCxn id="11" idx="3"/>
            <a:endCxn id="8" idx="1"/>
          </p:cNvCxnSpPr>
          <p:nvPr/>
        </p:nvCxnSpPr>
        <p:spPr>
          <a:xfrm>
            <a:off x="3261999" y="2335886"/>
            <a:ext cx="1585927" cy="1379024"/>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2" name="Connettore 4 41"/>
          <p:cNvCxnSpPr>
            <a:stCxn id="10" idx="3"/>
            <a:endCxn id="8" idx="3"/>
          </p:cNvCxnSpPr>
          <p:nvPr/>
        </p:nvCxnSpPr>
        <p:spPr>
          <a:xfrm flipH="1">
            <a:off x="6173293" y="2070641"/>
            <a:ext cx="3841594" cy="1644269"/>
          </a:xfrm>
          <a:prstGeom prst="bentConnector3">
            <a:avLst>
              <a:gd name="adj1" fmla="val -595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7" name="Connettore 4 46"/>
          <p:cNvCxnSpPr>
            <a:stCxn id="10" idx="0"/>
            <a:endCxn id="11" idx="0"/>
          </p:cNvCxnSpPr>
          <p:nvPr/>
        </p:nvCxnSpPr>
        <p:spPr>
          <a:xfrm rot="16200000" flipH="1" flipV="1">
            <a:off x="5822161" y="-1552897"/>
            <a:ext cx="265245" cy="6710935"/>
          </a:xfrm>
          <a:prstGeom prst="bentConnector3">
            <a:avLst>
              <a:gd name="adj1" fmla="val -86184"/>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85" name="Connettore 4 84"/>
          <p:cNvCxnSpPr>
            <a:stCxn id="8" idx="0"/>
            <a:endCxn id="54" idx="1"/>
          </p:cNvCxnSpPr>
          <p:nvPr/>
        </p:nvCxnSpPr>
        <p:spPr>
          <a:xfrm rot="5400000" flipH="1" flipV="1">
            <a:off x="5784627" y="2262803"/>
            <a:ext cx="777398" cy="1325433"/>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4" name="Elaborazione 53"/>
          <p:cNvSpPr/>
          <p:nvPr/>
        </p:nvSpPr>
        <p:spPr>
          <a:xfrm>
            <a:off x="6836043" y="2172661"/>
            <a:ext cx="1090125" cy="728317"/>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DI</a:t>
            </a:r>
          </a:p>
        </p:txBody>
      </p:sp>
      <p:cxnSp>
        <p:nvCxnSpPr>
          <p:cNvPr id="57" name="Connettore 4 56"/>
          <p:cNvCxnSpPr>
            <a:stCxn id="54" idx="3"/>
            <a:endCxn id="10" idx="1"/>
          </p:cNvCxnSpPr>
          <p:nvPr/>
        </p:nvCxnSpPr>
        <p:spPr>
          <a:xfrm flipV="1">
            <a:off x="7926168" y="2070641"/>
            <a:ext cx="679447" cy="466179"/>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4" name="Ovale 73"/>
          <p:cNvSpPr/>
          <p:nvPr/>
        </p:nvSpPr>
        <p:spPr>
          <a:xfrm>
            <a:off x="6190126" y="5896532"/>
            <a:ext cx="262395" cy="230047"/>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4</a:t>
            </a:r>
          </a:p>
        </p:txBody>
      </p:sp>
      <p:sp>
        <p:nvSpPr>
          <p:cNvPr id="58" name="CasellaDiTesto 57"/>
          <p:cNvSpPr txBox="1"/>
          <p:nvPr/>
        </p:nvSpPr>
        <p:spPr>
          <a:xfrm>
            <a:off x="4130310" y="5139315"/>
            <a:ext cx="826042" cy="123111"/>
          </a:xfrm>
          <a:prstGeom prst="rect">
            <a:avLst/>
          </a:prstGeom>
          <a:noFill/>
        </p:spPr>
        <p:txBody>
          <a:bodyPr wrap="square" lIns="0" tIns="0" rIns="0" bIns="0" rtlCol="0">
            <a:spAutoFit/>
          </a:bodyPr>
          <a:lstStyle/>
          <a:p>
            <a:r>
              <a:rPr lang="it-IT" sz="800" b="1" i="1" dirty="0"/>
              <a:t>Avvio processo </a:t>
            </a:r>
          </a:p>
        </p:txBody>
      </p:sp>
      <p:sp>
        <p:nvSpPr>
          <p:cNvPr id="68" name="Ovale 67"/>
          <p:cNvSpPr/>
          <p:nvPr/>
        </p:nvSpPr>
        <p:spPr>
          <a:xfrm>
            <a:off x="4936667" y="5093934"/>
            <a:ext cx="262395" cy="230047"/>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1</a:t>
            </a:r>
          </a:p>
        </p:txBody>
      </p:sp>
      <p:sp>
        <p:nvSpPr>
          <p:cNvPr id="76" name="CasellaDiTesto 75"/>
          <p:cNvSpPr txBox="1"/>
          <p:nvPr/>
        </p:nvSpPr>
        <p:spPr>
          <a:xfrm>
            <a:off x="6524656" y="5970877"/>
            <a:ext cx="1226691" cy="123111"/>
          </a:xfrm>
          <a:prstGeom prst="rect">
            <a:avLst/>
          </a:prstGeom>
          <a:noFill/>
        </p:spPr>
        <p:txBody>
          <a:bodyPr wrap="square" lIns="0" tIns="0" rIns="0" bIns="0" rtlCol="0">
            <a:spAutoFit/>
          </a:bodyPr>
          <a:lstStyle/>
          <a:p>
            <a:r>
              <a:rPr lang="it-IT" sz="800" b="1" i="1" dirty="0"/>
              <a:t>Lavorazione cruscotto</a:t>
            </a:r>
          </a:p>
        </p:txBody>
      </p:sp>
      <p:sp>
        <p:nvSpPr>
          <p:cNvPr id="78" name="Ovale 77"/>
          <p:cNvSpPr/>
          <p:nvPr/>
        </p:nvSpPr>
        <p:spPr>
          <a:xfrm>
            <a:off x="4698517" y="3846826"/>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2</a:t>
            </a:r>
            <a:endParaRPr lang="it-IT" sz="800" b="1" kern="1200" dirty="0">
              <a:solidFill>
                <a:schemeClr val="tx1"/>
              </a:solidFill>
            </a:endParaRPr>
          </a:p>
        </p:txBody>
      </p:sp>
      <p:sp>
        <p:nvSpPr>
          <p:cNvPr id="79" name="Ovale 78"/>
          <p:cNvSpPr/>
          <p:nvPr/>
        </p:nvSpPr>
        <p:spPr>
          <a:xfrm>
            <a:off x="5954783" y="3282913"/>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3</a:t>
            </a:r>
            <a:endParaRPr lang="it-IT" sz="800" b="1" kern="1200" dirty="0">
              <a:solidFill>
                <a:schemeClr val="tx1"/>
              </a:solidFill>
            </a:endParaRPr>
          </a:p>
        </p:txBody>
      </p:sp>
      <p:sp>
        <p:nvSpPr>
          <p:cNvPr id="80" name="CasellaDiTesto 79"/>
          <p:cNvSpPr txBox="1"/>
          <p:nvPr/>
        </p:nvSpPr>
        <p:spPr>
          <a:xfrm>
            <a:off x="3908407" y="3919908"/>
            <a:ext cx="826042" cy="123111"/>
          </a:xfrm>
          <a:prstGeom prst="rect">
            <a:avLst/>
          </a:prstGeom>
          <a:noFill/>
        </p:spPr>
        <p:txBody>
          <a:bodyPr wrap="square" lIns="0" tIns="0" rIns="0" bIns="0" rtlCol="0">
            <a:spAutoFit/>
          </a:bodyPr>
          <a:lstStyle/>
          <a:p>
            <a:r>
              <a:rPr lang="it-IT" sz="800" b="1" i="1" dirty="0"/>
              <a:t>Estrazione UO</a:t>
            </a:r>
          </a:p>
        </p:txBody>
      </p:sp>
      <p:sp>
        <p:nvSpPr>
          <p:cNvPr id="82" name="CasellaDiTesto 81"/>
          <p:cNvSpPr txBox="1"/>
          <p:nvPr/>
        </p:nvSpPr>
        <p:spPr>
          <a:xfrm>
            <a:off x="6273282" y="3349539"/>
            <a:ext cx="1492899" cy="123111"/>
          </a:xfrm>
          <a:prstGeom prst="rect">
            <a:avLst/>
          </a:prstGeom>
          <a:noFill/>
        </p:spPr>
        <p:txBody>
          <a:bodyPr wrap="square" lIns="0" tIns="0" rIns="0" bIns="0" rtlCol="0">
            <a:spAutoFit/>
          </a:bodyPr>
          <a:lstStyle/>
          <a:p>
            <a:r>
              <a:rPr lang="it-IT" sz="800" b="1" i="1" dirty="0"/>
              <a:t>Elaborazione FULL</a:t>
            </a:r>
          </a:p>
        </p:txBody>
      </p:sp>
      <p:sp>
        <p:nvSpPr>
          <p:cNvPr id="90" name="Ovale 89"/>
          <p:cNvSpPr/>
          <p:nvPr/>
        </p:nvSpPr>
        <p:spPr>
          <a:xfrm>
            <a:off x="5662908" y="4167797"/>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5</a:t>
            </a:r>
          </a:p>
        </p:txBody>
      </p:sp>
      <p:sp>
        <p:nvSpPr>
          <p:cNvPr id="91" name="CasellaDiTesto 90"/>
          <p:cNvSpPr txBox="1"/>
          <p:nvPr/>
        </p:nvSpPr>
        <p:spPr>
          <a:xfrm>
            <a:off x="6087661" y="4214783"/>
            <a:ext cx="1293444" cy="246221"/>
          </a:xfrm>
          <a:prstGeom prst="rect">
            <a:avLst/>
          </a:prstGeom>
          <a:noFill/>
        </p:spPr>
        <p:txBody>
          <a:bodyPr wrap="square" lIns="0" tIns="0" rIns="0" bIns="0" rtlCol="0">
            <a:spAutoFit/>
          </a:bodyPr>
          <a:lstStyle/>
          <a:p>
            <a:r>
              <a:rPr lang="it-IT" sz="800" b="1" i="1" dirty="0"/>
              <a:t>Lettura </a:t>
            </a:r>
          </a:p>
          <a:p>
            <a:r>
              <a:rPr lang="it-IT" sz="800" b="1" i="1" dirty="0"/>
              <a:t>Agganci UO-CC</a:t>
            </a:r>
          </a:p>
        </p:txBody>
      </p:sp>
      <p:sp>
        <p:nvSpPr>
          <p:cNvPr id="92" name="Ovale 91"/>
          <p:cNvSpPr/>
          <p:nvPr/>
        </p:nvSpPr>
        <p:spPr>
          <a:xfrm>
            <a:off x="6550758" y="2004882"/>
            <a:ext cx="318499"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6</a:t>
            </a:r>
          </a:p>
        </p:txBody>
      </p:sp>
      <p:sp>
        <p:nvSpPr>
          <p:cNvPr id="93" name="CasellaDiTesto 92"/>
          <p:cNvSpPr txBox="1"/>
          <p:nvPr/>
        </p:nvSpPr>
        <p:spPr>
          <a:xfrm>
            <a:off x="6945622" y="1908780"/>
            <a:ext cx="1103016" cy="246221"/>
          </a:xfrm>
          <a:prstGeom prst="rect">
            <a:avLst/>
          </a:prstGeom>
          <a:noFill/>
        </p:spPr>
        <p:txBody>
          <a:bodyPr wrap="square" lIns="0" tIns="0" rIns="0" bIns="0" rtlCol="0">
            <a:spAutoFit/>
          </a:bodyPr>
          <a:lstStyle/>
          <a:p>
            <a:r>
              <a:rPr lang="it-IT" sz="800" b="1" i="1" dirty="0"/>
              <a:t>Trasferimento agganci UO-CC</a:t>
            </a:r>
          </a:p>
        </p:txBody>
      </p:sp>
      <p:sp>
        <p:nvSpPr>
          <p:cNvPr id="94" name="CasellaDiTesto 93"/>
          <p:cNvSpPr txBox="1"/>
          <p:nvPr/>
        </p:nvSpPr>
        <p:spPr>
          <a:xfrm>
            <a:off x="655042" y="2803346"/>
            <a:ext cx="2070604" cy="369332"/>
          </a:xfrm>
          <a:prstGeom prst="rect">
            <a:avLst/>
          </a:prstGeom>
          <a:noFill/>
        </p:spPr>
        <p:txBody>
          <a:bodyPr wrap="square" lIns="0" tIns="0" rIns="0" bIns="0" rtlCol="0">
            <a:spAutoFit/>
          </a:bodyPr>
          <a:lstStyle/>
          <a:p>
            <a:r>
              <a:rPr lang="it-IT" sz="800" b="1" i="1" dirty="0"/>
              <a:t>7.1   Lettura agganci UO-CC</a:t>
            </a:r>
          </a:p>
          <a:p>
            <a:r>
              <a:rPr lang="it-IT" sz="800" b="1" i="1" dirty="0"/>
              <a:t>7.2   Lettura Anagrafica CC</a:t>
            </a:r>
          </a:p>
          <a:p>
            <a:r>
              <a:rPr lang="it-IT" sz="800" b="1" i="1" dirty="0"/>
              <a:t>7.3   Cambio stato ticket agganci UO-CC</a:t>
            </a:r>
          </a:p>
        </p:txBody>
      </p:sp>
      <p:sp>
        <p:nvSpPr>
          <p:cNvPr id="95" name="Ovale 94"/>
          <p:cNvSpPr/>
          <p:nvPr/>
        </p:nvSpPr>
        <p:spPr>
          <a:xfrm>
            <a:off x="1690344" y="2398029"/>
            <a:ext cx="433908"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7</a:t>
            </a:r>
          </a:p>
        </p:txBody>
      </p:sp>
      <p:sp>
        <p:nvSpPr>
          <p:cNvPr id="98" name="CasellaDiTesto 97"/>
          <p:cNvSpPr txBox="1"/>
          <p:nvPr/>
        </p:nvSpPr>
        <p:spPr>
          <a:xfrm>
            <a:off x="2680509" y="5592907"/>
            <a:ext cx="1488973" cy="123111"/>
          </a:xfrm>
          <a:prstGeom prst="rect">
            <a:avLst/>
          </a:prstGeom>
          <a:noFill/>
        </p:spPr>
        <p:txBody>
          <a:bodyPr wrap="square" lIns="0" tIns="0" rIns="0" bIns="0" rtlCol="0">
            <a:spAutoFit/>
          </a:bodyPr>
          <a:lstStyle/>
          <a:p>
            <a:r>
              <a:rPr lang="it-IT" sz="800" b="1" i="1" dirty="0"/>
              <a:t>7.1 Lettura agganci UO-CC</a:t>
            </a:r>
          </a:p>
        </p:txBody>
      </p:sp>
      <p:sp>
        <p:nvSpPr>
          <p:cNvPr id="99" name="CasellaDiTesto 98"/>
          <p:cNvSpPr txBox="1"/>
          <p:nvPr/>
        </p:nvSpPr>
        <p:spPr>
          <a:xfrm>
            <a:off x="2680509" y="5844227"/>
            <a:ext cx="1488973" cy="123111"/>
          </a:xfrm>
          <a:prstGeom prst="rect">
            <a:avLst/>
          </a:prstGeom>
          <a:noFill/>
        </p:spPr>
        <p:txBody>
          <a:bodyPr wrap="square" lIns="0" tIns="0" rIns="0" bIns="0" rtlCol="0">
            <a:spAutoFit/>
          </a:bodyPr>
          <a:lstStyle/>
          <a:p>
            <a:r>
              <a:rPr lang="it-IT" sz="800" b="1" i="1" dirty="0"/>
              <a:t>7.3 Cambio Stato ticket</a:t>
            </a:r>
          </a:p>
        </p:txBody>
      </p:sp>
      <p:sp>
        <p:nvSpPr>
          <p:cNvPr id="100" name="CasellaDiTesto 99"/>
          <p:cNvSpPr txBox="1"/>
          <p:nvPr/>
        </p:nvSpPr>
        <p:spPr>
          <a:xfrm>
            <a:off x="2863312" y="1246857"/>
            <a:ext cx="1488973" cy="123111"/>
          </a:xfrm>
          <a:prstGeom prst="rect">
            <a:avLst/>
          </a:prstGeom>
          <a:noFill/>
        </p:spPr>
        <p:txBody>
          <a:bodyPr wrap="square" lIns="0" tIns="0" rIns="0" bIns="0" rtlCol="0">
            <a:spAutoFit/>
          </a:bodyPr>
          <a:lstStyle/>
          <a:p>
            <a:r>
              <a:rPr lang="it-IT" sz="800" b="1" i="1" dirty="0"/>
              <a:t>7.2 Lettura Anagrafica dei CC</a:t>
            </a:r>
          </a:p>
        </p:txBody>
      </p:sp>
      <p:sp>
        <p:nvSpPr>
          <p:cNvPr id="33" name="Rettangolo 32"/>
          <p:cNvSpPr/>
          <p:nvPr/>
        </p:nvSpPr>
        <p:spPr>
          <a:xfrm>
            <a:off x="3122813" y="111211"/>
            <a:ext cx="4775603" cy="923330"/>
          </a:xfrm>
          <a:prstGeom prst="rect">
            <a:avLst/>
          </a:prstGeom>
          <a:noFill/>
        </p:spPr>
        <p:txBody>
          <a:bodyPr wrap="none" lIns="91440" tIns="45720" rIns="91440" bIns="45720">
            <a:spAutoFit/>
          </a:bodyPr>
          <a:lstStyle/>
          <a:p>
            <a:pPr algn="ctr"/>
            <a:r>
              <a:rPr lang="it-IT" sz="5400" b="1" cap="none" spc="0"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Overview</a:t>
            </a:r>
            <a:r>
              <a:rPr lang="it-IT"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 ALL</a:t>
            </a:r>
          </a:p>
        </p:txBody>
      </p:sp>
      <p:cxnSp>
        <p:nvCxnSpPr>
          <p:cNvPr id="3" name="Connettore 4 2"/>
          <p:cNvCxnSpPr>
            <a:stCxn id="11" idx="2"/>
            <a:endCxn id="9" idx="1"/>
          </p:cNvCxnSpPr>
          <p:nvPr/>
        </p:nvCxnSpPr>
        <p:spPr>
          <a:xfrm rot="16200000" flipH="1">
            <a:off x="2194044" y="3141850"/>
            <a:ext cx="3059155" cy="2248610"/>
          </a:xfrm>
          <a:prstGeom prst="bentConnector2">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Connettore 2 42"/>
          <p:cNvCxnSpPr>
            <a:stCxn id="9" idx="0"/>
            <a:endCxn id="8" idx="2"/>
          </p:cNvCxnSpPr>
          <p:nvPr/>
        </p:nvCxnSpPr>
        <p:spPr>
          <a:xfrm flipV="1">
            <a:off x="5510610" y="4115602"/>
            <a:ext cx="0" cy="127943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4" name="CasellaDiTesto 33"/>
          <p:cNvSpPr txBox="1"/>
          <p:nvPr/>
        </p:nvSpPr>
        <p:spPr>
          <a:xfrm>
            <a:off x="4101348" y="5290262"/>
            <a:ext cx="814712" cy="138499"/>
          </a:xfrm>
          <a:prstGeom prst="rect">
            <a:avLst/>
          </a:prstGeom>
          <a:blipFill>
            <a:blip r:embed="rId2"/>
            <a:tile tx="0" ty="0" sx="100000" sy="100000" flip="none" algn="tl"/>
          </a:blipFill>
        </p:spPr>
        <p:txBody>
          <a:bodyPr wrap="square" lIns="0" tIns="0" rIns="0" bIns="0" rtlCol="0">
            <a:spAutoFit/>
          </a:bodyPr>
          <a:lstStyle/>
          <a:p>
            <a:r>
              <a:rPr lang="it-IT" sz="900" dirty="0"/>
              <a:t>Giorni 4,12,22</a:t>
            </a:r>
          </a:p>
        </p:txBody>
      </p:sp>
      <p:sp>
        <p:nvSpPr>
          <p:cNvPr id="35" name="CasellaDiTesto 34"/>
          <p:cNvSpPr txBox="1"/>
          <p:nvPr/>
        </p:nvSpPr>
        <p:spPr>
          <a:xfrm>
            <a:off x="6276839" y="3514838"/>
            <a:ext cx="814712" cy="138499"/>
          </a:xfrm>
          <a:prstGeom prst="rect">
            <a:avLst/>
          </a:prstGeom>
          <a:blipFill>
            <a:blip r:embed="rId2"/>
            <a:tile tx="0" ty="0" sx="100000" sy="100000" flip="none" algn="tl"/>
          </a:blipFill>
        </p:spPr>
        <p:txBody>
          <a:bodyPr wrap="square" lIns="0" tIns="0" rIns="0" bIns="0" rtlCol="0">
            <a:spAutoFit/>
          </a:bodyPr>
          <a:lstStyle/>
          <a:p>
            <a:r>
              <a:rPr lang="it-IT" sz="900" dirty="0"/>
              <a:t>Vedi Slide 8</a:t>
            </a:r>
          </a:p>
        </p:txBody>
      </p:sp>
      <p:sp>
        <p:nvSpPr>
          <p:cNvPr id="36" name="CasellaDiTesto 35"/>
          <p:cNvSpPr txBox="1"/>
          <p:nvPr/>
        </p:nvSpPr>
        <p:spPr>
          <a:xfrm>
            <a:off x="863854" y="2491441"/>
            <a:ext cx="741403" cy="138499"/>
          </a:xfrm>
          <a:prstGeom prst="rect">
            <a:avLst/>
          </a:prstGeom>
          <a:blipFill>
            <a:blip r:embed="rId2"/>
            <a:tile tx="0" ty="0" sx="100000" sy="100000" flip="none" algn="tl"/>
          </a:blipFill>
        </p:spPr>
        <p:txBody>
          <a:bodyPr wrap="square" lIns="0" tIns="0" rIns="0" bIns="0" rtlCol="0">
            <a:spAutoFit/>
          </a:bodyPr>
          <a:lstStyle/>
          <a:p>
            <a:r>
              <a:rPr lang="it-IT" sz="900" dirty="0"/>
              <a:t>Ogni giorno</a:t>
            </a:r>
          </a:p>
        </p:txBody>
      </p:sp>
      <p:sp>
        <p:nvSpPr>
          <p:cNvPr id="37" name="CasellaDiTesto 36"/>
          <p:cNvSpPr txBox="1"/>
          <p:nvPr/>
        </p:nvSpPr>
        <p:spPr>
          <a:xfrm>
            <a:off x="3542241" y="4124408"/>
            <a:ext cx="1391320" cy="415498"/>
          </a:xfrm>
          <a:prstGeom prst="rect">
            <a:avLst/>
          </a:prstGeom>
          <a:blipFill>
            <a:blip r:embed="rId2"/>
            <a:tile tx="0" ty="0" sx="100000" sy="100000" flip="none" algn="tl"/>
          </a:blipFill>
        </p:spPr>
        <p:txBody>
          <a:bodyPr wrap="square" lIns="0" tIns="0" rIns="0" bIns="0" rtlCol="0">
            <a:spAutoFit/>
          </a:bodyPr>
          <a:lstStyle/>
          <a:p>
            <a:pPr marL="171450" indent="-171450">
              <a:buFont typeface="Arial" panose="020B0604020202020204" pitchFamily="34" charset="0"/>
              <a:buChar char="•"/>
            </a:pPr>
            <a:r>
              <a:rPr lang="it-IT" sz="900" b="1" dirty="0">
                <a:solidFill>
                  <a:schemeClr val="accent5">
                    <a:lumMod val="75000"/>
                  </a:schemeClr>
                </a:solidFill>
              </a:rPr>
              <a:t>Solo nei giorni di elaborazione della full alle ore 20.00</a:t>
            </a:r>
          </a:p>
        </p:txBody>
      </p:sp>
      <p:sp>
        <p:nvSpPr>
          <p:cNvPr id="38" name="CasellaDiTesto 37"/>
          <p:cNvSpPr txBox="1"/>
          <p:nvPr/>
        </p:nvSpPr>
        <p:spPr>
          <a:xfrm>
            <a:off x="6153954" y="4501605"/>
            <a:ext cx="741403" cy="138499"/>
          </a:xfrm>
          <a:prstGeom prst="rect">
            <a:avLst/>
          </a:prstGeom>
          <a:blipFill>
            <a:blip r:embed="rId2"/>
            <a:tile tx="0" ty="0" sx="100000" sy="100000" flip="none" algn="tl"/>
          </a:blipFill>
        </p:spPr>
        <p:txBody>
          <a:bodyPr wrap="square" lIns="0" tIns="0" rIns="0" bIns="0" rtlCol="0">
            <a:spAutoFit/>
          </a:bodyPr>
          <a:lstStyle/>
          <a:p>
            <a:r>
              <a:rPr lang="it-IT" sz="900" dirty="0"/>
              <a:t>Ogni giorno</a:t>
            </a:r>
          </a:p>
        </p:txBody>
      </p:sp>
      <p:sp>
        <p:nvSpPr>
          <p:cNvPr id="40" name="CasellaDiTesto 39"/>
          <p:cNvSpPr txBox="1"/>
          <p:nvPr/>
        </p:nvSpPr>
        <p:spPr>
          <a:xfrm>
            <a:off x="5763265" y="2109500"/>
            <a:ext cx="741403" cy="138499"/>
          </a:xfrm>
          <a:prstGeom prst="rect">
            <a:avLst/>
          </a:prstGeom>
          <a:blipFill>
            <a:blip r:embed="rId2"/>
            <a:tile tx="0" ty="0" sx="100000" sy="100000" flip="none" algn="tl"/>
          </a:blipFill>
        </p:spPr>
        <p:txBody>
          <a:bodyPr wrap="square" lIns="0" tIns="0" rIns="0" bIns="0" rtlCol="0">
            <a:spAutoFit/>
          </a:bodyPr>
          <a:lstStyle/>
          <a:p>
            <a:r>
              <a:rPr lang="it-IT" sz="900" dirty="0"/>
              <a:t>Ogni giorno</a:t>
            </a:r>
          </a:p>
        </p:txBody>
      </p:sp>
      <p:sp>
        <p:nvSpPr>
          <p:cNvPr id="41" name="CasellaDiTesto 40"/>
          <p:cNvSpPr txBox="1"/>
          <p:nvPr/>
        </p:nvSpPr>
        <p:spPr>
          <a:xfrm>
            <a:off x="6519484" y="6142503"/>
            <a:ext cx="1034613" cy="138499"/>
          </a:xfrm>
          <a:prstGeom prst="rect">
            <a:avLst/>
          </a:prstGeom>
          <a:blipFill>
            <a:blip r:embed="rId2"/>
            <a:tile tx="0" ty="0" sx="100000" sy="100000" flip="none" algn="tl"/>
          </a:blipFill>
        </p:spPr>
        <p:txBody>
          <a:bodyPr wrap="square" lIns="0" tIns="0" rIns="0" bIns="0" rtlCol="0">
            <a:spAutoFit/>
          </a:bodyPr>
          <a:lstStyle/>
          <a:p>
            <a:r>
              <a:rPr lang="it-IT" sz="900" dirty="0"/>
              <a:t>Manuale da utente</a:t>
            </a:r>
          </a:p>
        </p:txBody>
      </p:sp>
      <p:sp>
        <p:nvSpPr>
          <p:cNvPr id="44" name="CasellaDiTesto 43"/>
          <p:cNvSpPr txBox="1"/>
          <p:nvPr/>
        </p:nvSpPr>
        <p:spPr>
          <a:xfrm>
            <a:off x="5159627" y="6320376"/>
            <a:ext cx="1226691" cy="246221"/>
          </a:xfrm>
          <a:prstGeom prst="rect">
            <a:avLst/>
          </a:prstGeom>
          <a:noFill/>
        </p:spPr>
        <p:txBody>
          <a:bodyPr wrap="square" lIns="0" tIns="0" rIns="0" bIns="0" rtlCol="0">
            <a:spAutoFit/>
          </a:bodyPr>
          <a:lstStyle/>
          <a:p>
            <a:r>
              <a:rPr lang="it-IT" sz="800" b="1" i="1" dirty="0"/>
              <a:t>Aggancio automatico CC </a:t>
            </a:r>
            <a:r>
              <a:rPr lang="it-IT" sz="800" b="1" i="1" dirty="0" err="1"/>
              <a:t>dummy</a:t>
            </a:r>
            <a:endParaRPr lang="it-IT" sz="800" b="1" i="1" dirty="0"/>
          </a:p>
        </p:txBody>
      </p:sp>
      <p:sp>
        <p:nvSpPr>
          <p:cNvPr id="45" name="Ovale 44"/>
          <p:cNvSpPr/>
          <p:nvPr/>
        </p:nvSpPr>
        <p:spPr>
          <a:xfrm>
            <a:off x="4792090" y="6273761"/>
            <a:ext cx="262395" cy="230047"/>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8</a:t>
            </a:r>
          </a:p>
        </p:txBody>
      </p:sp>
      <p:sp>
        <p:nvSpPr>
          <p:cNvPr id="46" name="CasellaDiTesto 45"/>
          <p:cNvSpPr txBox="1"/>
          <p:nvPr/>
        </p:nvSpPr>
        <p:spPr>
          <a:xfrm>
            <a:off x="4253748" y="6550670"/>
            <a:ext cx="594178" cy="138499"/>
          </a:xfrm>
          <a:prstGeom prst="rect">
            <a:avLst/>
          </a:prstGeom>
          <a:blipFill>
            <a:blip r:embed="rId2"/>
            <a:tile tx="0" ty="0" sx="100000" sy="100000" flip="none" algn="tl"/>
          </a:blipFill>
        </p:spPr>
        <p:txBody>
          <a:bodyPr wrap="square" lIns="0" tIns="0" rIns="0" bIns="0" rtlCol="0">
            <a:spAutoFit/>
          </a:bodyPr>
          <a:lstStyle/>
          <a:p>
            <a:r>
              <a:rPr lang="it-IT" sz="900" dirty="0"/>
              <a:t>Giorno 20</a:t>
            </a:r>
          </a:p>
        </p:txBody>
      </p:sp>
      <p:sp>
        <p:nvSpPr>
          <p:cNvPr id="51" name="Ovale 89">
            <a:extLst>
              <a:ext uri="{FF2B5EF4-FFF2-40B4-BE49-F238E27FC236}">
                <a16:creationId xmlns:a16="http://schemas.microsoft.com/office/drawing/2014/main" id="{B00193F0-7DA9-4743-9A14-4708024485E9}"/>
              </a:ext>
            </a:extLst>
          </p:cNvPr>
          <p:cNvSpPr/>
          <p:nvPr/>
        </p:nvSpPr>
        <p:spPr>
          <a:xfrm>
            <a:off x="5616868" y="4699339"/>
            <a:ext cx="371972" cy="277581"/>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5b</a:t>
            </a:r>
          </a:p>
        </p:txBody>
      </p:sp>
      <p:sp>
        <p:nvSpPr>
          <p:cNvPr id="52" name="CasellaDiTesto 90">
            <a:extLst>
              <a:ext uri="{FF2B5EF4-FFF2-40B4-BE49-F238E27FC236}">
                <a16:creationId xmlns:a16="http://schemas.microsoft.com/office/drawing/2014/main" id="{6D7D1066-6A01-43B0-9443-0015393B41F3}"/>
              </a:ext>
            </a:extLst>
          </p:cNvPr>
          <p:cNvSpPr txBox="1"/>
          <p:nvPr/>
        </p:nvSpPr>
        <p:spPr>
          <a:xfrm>
            <a:off x="6095093" y="4746325"/>
            <a:ext cx="1293444" cy="246221"/>
          </a:xfrm>
          <a:prstGeom prst="rect">
            <a:avLst/>
          </a:prstGeom>
          <a:noFill/>
        </p:spPr>
        <p:txBody>
          <a:bodyPr wrap="square" lIns="0" tIns="0" rIns="0" bIns="0" rtlCol="0">
            <a:spAutoFit/>
          </a:bodyPr>
          <a:lstStyle/>
          <a:p>
            <a:r>
              <a:rPr lang="it-IT" sz="800" b="1" i="1" dirty="0"/>
              <a:t>Lettura Cataloghi Perimetro e Attività</a:t>
            </a:r>
          </a:p>
        </p:txBody>
      </p:sp>
      <p:sp>
        <p:nvSpPr>
          <p:cNvPr id="53" name="CasellaDiTesto 37">
            <a:extLst>
              <a:ext uri="{FF2B5EF4-FFF2-40B4-BE49-F238E27FC236}">
                <a16:creationId xmlns:a16="http://schemas.microsoft.com/office/drawing/2014/main" id="{14A39D3F-9E8E-4CC8-ABC5-30F4D952EF4A}"/>
              </a:ext>
            </a:extLst>
          </p:cNvPr>
          <p:cNvSpPr txBox="1"/>
          <p:nvPr/>
        </p:nvSpPr>
        <p:spPr>
          <a:xfrm>
            <a:off x="6161385" y="5033147"/>
            <a:ext cx="930165" cy="138499"/>
          </a:xfrm>
          <a:prstGeom prst="rect">
            <a:avLst/>
          </a:prstGeom>
          <a:blipFill>
            <a:blip r:embed="rId2"/>
            <a:tile tx="0" ty="0" sx="100000" sy="100000" flip="none" algn="tl"/>
          </a:blipFill>
        </p:spPr>
        <p:txBody>
          <a:bodyPr wrap="square" lIns="0" tIns="0" rIns="0" bIns="0" rtlCol="0">
            <a:spAutoFit/>
          </a:bodyPr>
          <a:lstStyle/>
          <a:p>
            <a:r>
              <a:rPr lang="it-IT" sz="900" dirty="0"/>
              <a:t>Ogni Domenica</a:t>
            </a:r>
          </a:p>
        </p:txBody>
      </p:sp>
    </p:spTree>
    <p:extLst>
      <p:ext uri="{BB962C8B-B14F-4D97-AF65-F5344CB8AC3E}">
        <p14:creationId xmlns:p14="http://schemas.microsoft.com/office/powerpoint/2010/main" val="1444763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gnaposto numero diapositiva 4"/>
          <p:cNvSpPr>
            <a:spLocks noGrp="1"/>
          </p:cNvSpPr>
          <p:nvPr>
            <p:ph type="sldNum" sz="quarter" idx="12"/>
          </p:nvPr>
        </p:nvSpPr>
        <p:spPr/>
        <p:txBody>
          <a:bodyPr/>
          <a:lstStyle/>
          <a:p>
            <a:fld id="{1ED2235E-0982-3B42-A838-A74550CD4449}" type="slidenum">
              <a:rPr lang="en-GB" smtClean="0"/>
              <a:pPr/>
              <a:t>6</a:t>
            </a:fld>
            <a:endParaRPr lang="en-GB" dirty="0"/>
          </a:p>
        </p:txBody>
      </p:sp>
      <p:sp>
        <p:nvSpPr>
          <p:cNvPr id="8" name="Elaborazione 7"/>
          <p:cNvSpPr/>
          <p:nvPr/>
        </p:nvSpPr>
        <p:spPr>
          <a:xfrm>
            <a:off x="684092" y="3558366"/>
            <a:ext cx="1325367" cy="801384"/>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600" b="1" kern="1200" dirty="0">
                <a:solidFill>
                  <a:schemeClr val="tx1"/>
                </a:solidFill>
              </a:rPr>
              <a:t>SNOW</a:t>
            </a:r>
          </a:p>
          <a:p>
            <a:pPr algn="ctr" defTabSz="666750">
              <a:lnSpc>
                <a:spcPct val="90000"/>
              </a:lnSpc>
              <a:spcBef>
                <a:spcPct val="0"/>
              </a:spcBef>
              <a:spcAft>
                <a:spcPct val="35000"/>
              </a:spcAft>
            </a:pPr>
            <a:r>
              <a:rPr lang="it-IT" sz="1200" b="1" kern="1200" dirty="0">
                <a:solidFill>
                  <a:schemeClr val="tx1"/>
                </a:solidFill>
              </a:rPr>
              <a:t>Aggancio OU-CC</a:t>
            </a:r>
          </a:p>
        </p:txBody>
      </p:sp>
      <p:sp>
        <p:nvSpPr>
          <p:cNvPr id="9" name="Elaborazione 8"/>
          <p:cNvSpPr/>
          <p:nvPr/>
        </p:nvSpPr>
        <p:spPr>
          <a:xfrm>
            <a:off x="7104480" y="3825503"/>
            <a:ext cx="2163943" cy="1307981"/>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SAP AFC</a:t>
            </a:r>
          </a:p>
          <a:p>
            <a:pPr algn="ctr" defTabSz="666750">
              <a:lnSpc>
                <a:spcPct val="90000"/>
              </a:lnSpc>
              <a:spcBef>
                <a:spcPct val="0"/>
              </a:spcBef>
              <a:spcAft>
                <a:spcPct val="35000"/>
              </a:spcAft>
            </a:pPr>
            <a:r>
              <a:rPr lang="it-IT" sz="1200" b="1" dirty="0">
                <a:solidFill>
                  <a:schemeClr val="tx1"/>
                </a:solidFill>
              </a:rPr>
              <a:t>Registrazione Costo del lavoro su CC</a:t>
            </a:r>
            <a:endParaRPr lang="it-IT" sz="1200" b="1" kern="1200" dirty="0">
              <a:solidFill>
                <a:schemeClr val="tx1"/>
              </a:solidFill>
            </a:endParaRPr>
          </a:p>
        </p:txBody>
      </p:sp>
      <p:sp>
        <p:nvSpPr>
          <p:cNvPr id="10" name="Elaborazione 9"/>
          <p:cNvSpPr/>
          <p:nvPr/>
        </p:nvSpPr>
        <p:spPr>
          <a:xfrm>
            <a:off x="2854710" y="5225787"/>
            <a:ext cx="1656736" cy="1085147"/>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400" b="1" kern="1200" dirty="0">
                <a:solidFill>
                  <a:schemeClr val="tx1"/>
                </a:solidFill>
              </a:rPr>
              <a:t>BW4HANA</a:t>
            </a:r>
          </a:p>
          <a:p>
            <a:pPr algn="ctr" defTabSz="666750">
              <a:lnSpc>
                <a:spcPct val="90000"/>
              </a:lnSpc>
              <a:spcBef>
                <a:spcPct val="0"/>
              </a:spcBef>
              <a:spcAft>
                <a:spcPct val="35000"/>
              </a:spcAft>
            </a:pPr>
            <a:r>
              <a:rPr lang="it-IT" sz="1200" b="1" dirty="0">
                <a:solidFill>
                  <a:schemeClr val="tx1"/>
                </a:solidFill>
              </a:rPr>
              <a:t>Invio OU-CC SNOW</a:t>
            </a:r>
          </a:p>
          <a:p>
            <a:pPr algn="ctr" defTabSz="666750">
              <a:lnSpc>
                <a:spcPct val="90000"/>
              </a:lnSpc>
              <a:spcBef>
                <a:spcPct val="0"/>
              </a:spcBef>
              <a:spcAft>
                <a:spcPct val="35000"/>
              </a:spcAft>
            </a:pPr>
            <a:r>
              <a:rPr lang="it-IT" sz="1200" b="1" dirty="0">
                <a:solidFill>
                  <a:schemeClr val="tx1"/>
                </a:solidFill>
              </a:rPr>
              <a:t>a CF</a:t>
            </a:r>
            <a:endParaRPr lang="it-IT" sz="2000" b="1" kern="1200" dirty="0">
              <a:solidFill>
                <a:schemeClr val="tx1"/>
              </a:solidFill>
            </a:endParaRPr>
          </a:p>
        </p:txBody>
      </p:sp>
      <p:sp>
        <p:nvSpPr>
          <p:cNvPr id="11" name="Elaborazione 10"/>
          <p:cNvSpPr/>
          <p:nvPr/>
        </p:nvSpPr>
        <p:spPr>
          <a:xfrm>
            <a:off x="2314124" y="2175980"/>
            <a:ext cx="1148502" cy="1061439"/>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SAP HR </a:t>
            </a:r>
          </a:p>
        </p:txBody>
      </p:sp>
      <p:cxnSp>
        <p:nvCxnSpPr>
          <p:cNvPr id="85" name="Connettore 4 84"/>
          <p:cNvCxnSpPr>
            <a:cxnSpLocks/>
            <a:stCxn id="8" idx="2"/>
            <a:endCxn id="54" idx="0"/>
          </p:cNvCxnSpPr>
          <p:nvPr/>
        </p:nvCxnSpPr>
        <p:spPr>
          <a:xfrm rot="16200000" flipH="1">
            <a:off x="911243" y="4795282"/>
            <a:ext cx="872388" cy="1323"/>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4" name="Elaborazione 53"/>
          <p:cNvSpPr/>
          <p:nvPr/>
        </p:nvSpPr>
        <p:spPr>
          <a:xfrm>
            <a:off x="466235" y="5232138"/>
            <a:ext cx="1763727" cy="1031867"/>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kern="1200" dirty="0">
                <a:solidFill>
                  <a:schemeClr val="tx1"/>
                </a:solidFill>
              </a:rPr>
              <a:t>DATA INTELLIGENCE</a:t>
            </a:r>
          </a:p>
          <a:p>
            <a:pPr algn="ctr" defTabSz="666750">
              <a:lnSpc>
                <a:spcPct val="90000"/>
              </a:lnSpc>
              <a:spcBef>
                <a:spcPct val="0"/>
              </a:spcBef>
              <a:spcAft>
                <a:spcPct val="35000"/>
              </a:spcAft>
            </a:pPr>
            <a:r>
              <a:rPr lang="it-IT" sz="1200" b="1" dirty="0">
                <a:solidFill>
                  <a:schemeClr val="tx1"/>
                </a:solidFill>
              </a:rPr>
              <a:t>Invio OU-CC SNOW</a:t>
            </a:r>
          </a:p>
          <a:p>
            <a:pPr algn="ctr" defTabSz="666750">
              <a:lnSpc>
                <a:spcPct val="90000"/>
              </a:lnSpc>
              <a:spcBef>
                <a:spcPct val="0"/>
              </a:spcBef>
              <a:spcAft>
                <a:spcPct val="35000"/>
              </a:spcAft>
            </a:pPr>
            <a:r>
              <a:rPr lang="it-IT" sz="1200" b="1" dirty="0">
                <a:solidFill>
                  <a:schemeClr val="tx1"/>
                </a:solidFill>
              </a:rPr>
              <a:t>a BW</a:t>
            </a:r>
            <a:endParaRPr lang="it-IT" sz="2000" b="1" kern="1200" dirty="0">
              <a:solidFill>
                <a:schemeClr val="tx1"/>
              </a:solidFill>
            </a:endParaRPr>
          </a:p>
        </p:txBody>
      </p:sp>
      <p:sp>
        <p:nvSpPr>
          <p:cNvPr id="82" name="CasellaDiTesto 81"/>
          <p:cNvSpPr txBox="1"/>
          <p:nvPr/>
        </p:nvSpPr>
        <p:spPr>
          <a:xfrm>
            <a:off x="4736369" y="1266595"/>
            <a:ext cx="3283060" cy="153888"/>
          </a:xfrm>
          <a:prstGeom prst="rect">
            <a:avLst/>
          </a:prstGeom>
          <a:solidFill>
            <a:srgbClr val="FFC000"/>
          </a:solidFill>
        </p:spPr>
        <p:txBody>
          <a:bodyPr wrap="square" lIns="0" tIns="0" rIns="0" bIns="0" rtlCol="0">
            <a:spAutoFit/>
          </a:bodyPr>
          <a:lstStyle/>
          <a:p>
            <a:pPr algn="ctr"/>
            <a:r>
              <a:rPr lang="it-IT" sz="1000" b="1" i="1" dirty="0"/>
              <a:t>KPI </a:t>
            </a:r>
            <a:r>
              <a:rPr lang="it-IT" sz="1000" b="1" i="1" dirty="0" err="1"/>
              <a:t>Headcount</a:t>
            </a:r>
            <a:r>
              <a:rPr lang="it-IT" sz="1000" b="1" i="1" dirty="0"/>
              <a:t> HR22/5/6 per OU-CC SNOW</a:t>
            </a:r>
          </a:p>
        </p:txBody>
      </p:sp>
      <p:sp>
        <p:nvSpPr>
          <p:cNvPr id="33" name="Rettangolo 32"/>
          <p:cNvSpPr/>
          <p:nvPr/>
        </p:nvSpPr>
        <p:spPr>
          <a:xfrm>
            <a:off x="2801211" y="111211"/>
            <a:ext cx="5455341" cy="923330"/>
          </a:xfrm>
          <a:prstGeom prst="rect">
            <a:avLst/>
          </a:prstGeom>
          <a:noFill/>
        </p:spPr>
        <p:txBody>
          <a:bodyPr wrap="none" lIns="91440" tIns="45720" rIns="91440" bIns="45720">
            <a:spAutoFit/>
          </a:bodyPr>
          <a:lstStyle/>
          <a:p>
            <a:pPr algn="ctr"/>
            <a:r>
              <a:rPr lang="it-IT"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FLUSSO OU-CC</a:t>
            </a:r>
          </a:p>
        </p:txBody>
      </p:sp>
      <p:cxnSp>
        <p:nvCxnSpPr>
          <p:cNvPr id="16" name="Connector: Elbow 15">
            <a:extLst>
              <a:ext uri="{FF2B5EF4-FFF2-40B4-BE49-F238E27FC236}">
                <a16:creationId xmlns:a16="http://schemas.microsoft.com/office/drawing/2014/main" id="{2E7702BD-66F2-F1DE-7383-4FC9AEB097A8}"/>
              </a:ext>
            </a:extLst>
          </p:cNvPr>
          <p:cNvCxnSpPr>
            <a:cxnSpLocks/>
            <a:stCxn id="11" idx="3"/>
            <a:endCxn id="18" idx="1"/>
          </p:cNvCxnSpPr>
          <p:nvPr/>
        </p:nvCxnSpPr>
        <p:spPr>
          <a:xfrm flipV="1">
            <a:off x="3462626" y="2466376"/>
            <a:ext cx="859443" cy="240324"/>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8" name="Elaborazione 10">
            <a:extLst>
              <a:ext uri="{FF2B5EF4-FFF2-40B4-BE49-F238E27FC236}">
                <a16:creationId xmlns:a16="http://schemas.microsoft.com/office/drawing/2014/main" id="{432891FF-39AB-E618-7D09-C63A5898BBA3}"/>
              </a:ext>
            </a:extLst>
          </p:cNvPr>
          <p:cNvSpPr/>
          <p:nvPr/>
        </p:nvSpPr>
        <p:spPr>
          <a:xfrm>
            <a:off x="4322069" y="2065684"/>
            <a:ext cx="1325367" cy="801384"/>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600" b="1" kern="1200" dirty="0">
                <a:solidFill>
                  <a:schemeClr val="tx1"/>
                </a:solidFill>
              </a:rPr>
              <a:t>PAYROLL ENDESA</a:t>
            </a:r>
          </a:p>
        </p:txBody>
      </p:sp>
      <p:sp>
        <p:nvSpPr>
          <p:cNvPr id="38" name="Elaborazione 9">
            <a:extLst>
              <a:ext uri="{FF2B5EF4-FFF2-40B4-BE49-F238E27FC236}">
                <a16:creationId xmlns:a16="http://schemas.microsoft.com/office/drawing/2014/main" id="{1C6A0952-5257-074F-7AF0-AFEA4741F375}"/>
              </a:ext>
            </a:extLst>
          </p:cNvPr>
          <p:cNvSpPr/>
          <p:nvPr/>
        </p:nvSpPr>
        <p:spPr>
          <a:xfrm>
            <a:off x="4997606" y="5225787"/>
            <a:ext cx="1814724" cy="1085147"/>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400" b="1" dirty="0">
                <a:solidFill>
                  <a:schemeClr val="tx1"/>
                </a:solidFill>
              </a:rPr>
              <a:t>CENTRAL </a:t>
            </a:r>
            <a:r>
              <a:rPr lang="it-IT" sz="1400" b="1" kern="1200" dirty="0">
                <a:solidFill>
                  <a:schemeClr val="tx1"/>
                </a:solidFill>
              </a:rPr>
              <a:t>FINANCE</a:t>
            </a:r>
          </a:p>
          <a:p>
            <a:pPr algn="ctr" defTabSz="666750">
              <a:lnSpc>
                <a:spcPct val="90000"/>
              </a:lnSpc>
              <a:spcBef>
                <a:spcPct val="0"/>
              </a:spcBef>
              <a:spcAft>
                <a:spcPct val="35000"/>
              </a:spcAft>
            </a:pPr>
            <a:r>
              <a:rPr lang="it-IT" sz="1100" b="1" dirty="0">
                <a:solidFill>
                  <a:schemeClr val="tx1"/>
                </a:solidFill>
              </a:rPr>
              <a:t>Società Italiane</a:t>
            </a:r>
          </a:p>
          <a:p>
            <a:pPr algn="ctr" defTabSz="666750">
              <a:lnSpc>
                <a:spcPct val="90000"/>
              </a:lnSpc>
              <a:spcBef>
                <a:spcPct val="0"/>
              </a:spcBef>
              <a:spcAft>
                <a:spcPct val="35000"/>
              </a:spcAft>
            </a:pPr>
            <a:r>
              <a:rPr lang="it-IT" sz="1100" b="1" dirty="0">
                <a:solidFill>
                  <a:schemeClr val="tx1"/>
                </a:solidFill>
              </a:rPr>
              <a:t>Invio OU-CC SNOW</a:t>
            </a:r>
          </a:p>
          <a:p>
            <a:pPr algn="ctr" defTabSz="666750">
              <a:lnSpc>
                <a:spcPct val="90000"/>
              </a:lnSpc>
              <a:spcBef>
                <a:spcPct val="0"/>
              </a:spcBef>
              <a:spcAft>
                <a:spcPct val="35000"/>
              </a:spcAft>
            </a:pPr>
            <a:r>
              <a:rPr lang="it-IT" sz="1100" b="1" dirty="0">
                <a:solidFill>
                  <a:schemeClr val="tx1"/>
                </a:solidFill>
              </a:rPr>
              <a:t>ai SAP AFC </a:t>
            </a:r>
            <a:endParaRPr lang="it-IT" b="1" kern="1200" dirty="0">
              <a:solidFill>
                <a:schemeClr val="tx1"/>
              </a:solidFill>
            </a:endParaRPr>
          </a:p>
          <a:p>
            <a:pPr algn="ctr" defTabSz="666750">
              <a:lnSpc>
                <a:spcPct val="90000"/>
              </a:lnSpc>
              <a:spcBef>
                <a:spcPct val="0"/>
              </a:spcBef>
              <a:spcAft>
                <a:spcPct val="35000"/>
              </a:spcAft>
            </a:pPr>
            <a:endParaRPr lang="it-IT" sz="1400" b="1" kern="1200" dirty="0">
              <a:solidFill>
                <a:schemeClr val="tx1"/>
              </a:solidFill>
            </a:endParaRPr>
          </a:p>
        </p:txBody>
      </p:sp>
      <p:sp>
        <p:nvSpPr>
          <p:cNvPr id="127" name="Elaborazione 8">
            <a:extLst>
              <a:ext uri="{FF2B5EF4-FFF2-40B4-BE49-F238E27FC236}">
                <a16:creationId xmlns:a16="http://schemas.microsoft.com/office/drawing/2014/main" id="{CA142205-C918-17FF-D75C-0F6DF05480D1}"/>
              </a:ext>
            </a:extLst>
          </p:cNvPr>
          <p:cNvSpPr/>
          <p:nvPr/>
        </p:nvSpPr>
        <p:spPr>
          <a:xfrm>
            <a:off x="9268423" y="1748599"/>
            <a:ext cx="2158402" cy="1282891"/>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PRIMO</a:t>
            </a:r>
            <a:endParaRPr lang="it-IT" sz="2000" b="1" kern="1200" dirty="0">
              <a:solidFill>
                <a:schemeClr val="tx1"/>
              </a:solidFill>
            </a:endParaRPr>
          </a:p>
        </p:txBody>
      </p:sp>
      <p:cxnSp>
        <p:nvCxnSpPr>
          <p:cNvPr id="136" name="Connector: Elbow 135">
            <a:extLst>
              <a:ext uri="{FF2B5EF4-FFF2-40B4-BE49-F238E27FC236}">
                <a16:creationId xmlns:a16="http://schemas.microsoft.com/office/drawing/2014/main" id="{33A3C485-0F15-5F7E-88A5-292820C6B7B5}"/>
              </a:ext>
            </a:extLst>
          </p:cNvPr>
          <p:cNvCxnSpPr>
            <a:cxnSpLocks/>
            <a:stCxn id="8" idx="0"/>
            <a:endCxn id="11" idx="1"/>
          </p:cNvCxnSpPr>
          <p:nvPr/>
        </p:nvCxnSpPr>
        <p:spPr>
          <a:xfrm rot="5400000" flipH="1" flipV="1">
            <a:off x="1404617" y="2648859"/>
            <a:ext cx="851666" cy="967348"/>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9" name="Connector: Elbow 138">
            <a:extLst>
              <a:ext uri="{FF2B5EF4-FFF2-40B4-BE49-F238E27FC236}">
                <a16:creationId xmlns:a16="http://schemas.microsoft.com/office/drawing/2014/main" id="{3161A446-9108-A3CB-C858-02E1D3739614}"/>
              </a:ext>
            </a:extLst>
          </p:cNvPr>
          <p:cNvCxnSpPr>
            <a:cxnSpLocks/>
            <a:stCxn id="11" idx="0"/>
            <a:endCxn id="127" idx="0"/>
          </p:cNvCxnSpPr>
          <p:nvPr/>
        </p:nvCxnSpPr>
        <p:spPr>
          <a:xfrm rot="5400000" flipH="1" flipV="1">
            <a:off x="6404309" y="-1767334"/>
            <a:ext cx="427381" cy="7459249"/>
          </a:xfrm>
          <a:prstGeom prst="bentConnector3">
            <a:avLst>
              <a:gd name="adj1" fmla="val 153489"/>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41" name="Connector: Elbow 140">
            <a:extLst>
              <a:ext uri="{FF2B5EF4-FFF2-40B4-BE49-F238E27FC236}">
                <a16:creationId xmlns:a16="http://schemas.microsoft.com/office/drawing/2014/main" id="{30FD8D55-6244-A53D-B138-F10352ED1C88}"/>
              </a:ext>
            </a:extLst>
          </p:cNvPr>
          <p:cNvCxnSpPr>
            <a:cxnSpLocks/>
            <a:stCxn id="18" idx="3"/>
            <a:endCxn id="9" idx="0"/>
          </p:cNvCxnSpPr>
          <p:nvPr/>
        </p:nvCxnSpPr>
        <p:spPr>
          <a:xfrm>
            <a:off x="5647436" y="2466376"/>
            <a:ext cx="2539016" cy="1359127"/>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43" name="Connector: Elbow 142">
            <a:extLst>
              <a:ext uri="{FF2B5EF4-FFF2-40B4-BE49-F238E27FC236}">
                <a16:creationId xmlns:a16="http://schemas.microsoft.com/office/drawing/2014/main" id="{20F35E00-AF33-0F34-4A7D-0F634C4EA2B7}"/>
              </a:ext>
            </a:extLst>
          </p:cNvPr>
          <p:cNvCxnSpPr>
            <a:cxnSpLocks/>
            <a:stCxn id="9" idx="3"/>
            <a:endCxn id="127" idx="2"/>
          </p:cNvCxnSpPr>
          <p:nvPr/>
        </p:nvCxnSpPr>
        <p:spPr>
          <a:xfrm flipV="1">
            <a:off x="9268423" y="3031490"/>
            <a:ext cx="1079201" cy="1448004"/>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45" name="Connector: Elbow 144">
            <a:extLst>
              <a:ext uri="{FF2B5EF4-FFF2-40B4-BE49-F238E27FC236}">
                <a16:creationId xmlns:a16="http://schemas.microsoft.com/office/drawing/2014/main" id="{DA40A7EF-5CC2-B717-2037-EBEE989A2623}"/>
              </a:ext>
            </a:extLst>
          </p:cNvPr>
          <p:cNvCxnSpPr>
            <a:cxnSpLocks/>
            <a:stCxn id="38" idx="2"/>
            <a:endCxn id="9" idx="2"/>
          </p:cNvCxnSpPr>
          <p:nvPr/>
        </p:nvCxnSpPr>
        <p:spPr>
          <a:xfrm rot="5400000" flipH="1" flipV="1">
            <a:off x="6456985" y="4581467"/>
            <a:ext cx="1177450" cy="2281484"/>
          </a:xfrm>
          <a:prstGeom prst="bentConnector3">
            <a:avLst>
              <a:gd name="adj1" fmla="val -19415"/>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072E8195-5FC5-90A3-B59A-E262B7A99C40}"/>
              </a:ext>
            </a:extLst>
          </p:cNvPr>
          <p:cNvCxnSpPr>
            <a:cxnSpLocks/>
            <a:stCxn id="54" idx="3"/>
            <a:endCxn id="10" idx="1"/>
          </p:cNvCxnSpPr>
          <p:nvPr/>
        </p:nvCxnSpPr>
        <p:spPr>
          <a:xfrm>
            <a:off x="2229962" y="5748072"/>
            <a:ext cx="624748" cy="20289"/>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49" name="Connector: Elbow 148">
            <a:extLst>
              <a:ext uri="{FF2B5EF4-FFF2-40B4-BE49-F238E27FC236}">
                <a16:creationId xmlns:a16="http://schemas.microsoft.com/office/drawing/2014/main" id="{2AB53313-7375-9E58-3D75-E2C694F28DA2}"/>
              </a:ext>
            </a:extLst>
          </p:cNvPr>
          <p:cNvCxnSpPr>
            <a:cxnSpLocks/>
            <a:stCxn id="10" idx="3"/>
            <a:endCxn id="38" idx="1"/>
          </p:cNvCxnSpPr>
          <p:nvPr/>
        </p:nvCxnSpPr>
        <p:spPr>
          <a:xfrm>
            <a:off x="4511446" y="5768361"/>
            <a:ext cx="486160" cy="12700"/>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50" name="Elaborazione 8">
            <a:extLst>
              <a:ext uri="{FF2B5EF4-FFF2-40B4-BE49-F238E27FC236}">
                <a16:creationId xmlns:a16="http://schemas.microsoft.com/office/drawing/2014/main" id="{751F5C1A-0989-78B8-1394-AE772F05DEE3}"/>
              </a:ext>
            </a:extLst>
          </p:cNvPr>
          <p:cNvSpPr/>
          <p:nvPr/>
        </p:nvSpPr>
        <p:spPr>
          <a:xfrm>
            <a:off x="9847776" y="4909096"/>
            <a:ext cx="1908603" cy="1401837"/>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Tutti i Paesi esclusa Italia ed ex-perimetro Endesa</a:t>
            </a:r>
          </a:p>
          <a:p>
            <a:pPr algn="ctr" defTabSz="666750">
              <a:lnSpc>
                <a:spcPct val="90000"/>
              </a:lnSpc>
              <a:spcBef>
                <a:spcPct val="0"/>
              </a:spcBef>
              <a:spcAft>
                <a:spcPct val="35000"/>
              </a:spcAft>
            </a:pPr>
            <a:r>
              <a:rPr lang="it-IT" sz="1200" b="1" dirty="0">
                <a:solidFill>
                  <a:schemeClr val="tx1"/>
                </a:solidFill>
              </a:rPr>
              <a:t>Allineamento manuale</a:t>
            </a:r>
          </a:p>
          <a:p>
            <a:pPr algn="ctr" defTabSz="666750">
              <a:lnSpc>
                <a:spcPct val="90000"/>
              </a:lnSpc>
              <a:spcBef>
                <a:spcPct val="0"/>
              </a:spcBef>
              <a:spcAft>
                <a:spcPct val="35000"/>
              </a:spcAft>
            </a:pPr>
            <a:r>
              <a:rPr lang="it-IT" sz="1200" b="1" dirty="0">
                <a:solidFill>
                  <a:schemeClr val="tx1"/>
                </a:solidFill>
              </a:rPr>
              <a:t> tabelle SAP AFC ad agganci OU-CC di SNOW</a:t>
            </a:r>
            <a:endParaRPr lang="it-IT" b="1" dirty="0">
              <a:solidFill>
                <a:schemeClr val="tx1"/>
              </a:solidFill>
            </a:endParaRPr>
          </a:p>
        </p:txBody>
      </p:sp>
      <p:cxnSp>
        <p:nvCxnSpPr>
          <p:cNvPr id="173" name="Connector: Elbow 172">
            <a:extLst>
              <a:ext uri="{FF2B5EF4-FFF2-40B4-BE49-F238E27FC236}">
                <a16:creationId xmlns:a16="http://schemas.microsoft.com/office/drawing/2014/main" id="{D4560B9A-4449-9FD5-3332-FEDF6A4B03EC}"/>
              </a:ext>
            </a:extLst>
          </p:cNvPr>
          <p:cNvCxnSpPr>
            <a:cxnSpLocks/>
            <a:stCxn id="150" idx="2"/>
            <a:endCxn id="9" idx="2"/>
          </p:cNvCxnSpPr>
          <p:nvPr/>
        </p:nvCxnSpPr>
        <p:spPr>
          <a:xfrm rot="5400000" flipH="1">
            <a:off x="8905540" y="4414396"/>
            <a:ext cx="1177449" cy="2615626"/>
          </a:xfrm>
          <a:prstGeom prst="bentConnector3">
            <a:avLst>
              <a:gd name="adj1" fmla="val -19415"/>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88" name="CasellaDiTesto 81">
            <a:extLst>
              <a:ext uri="{FF2B5EF4-FFF2-40B4-BE49-F238E27FC236}">
                <a16:creationId xmlns:a16="http://schemas.microsoft.com/office/drawing/2014/main" id="{F203613C-3DA6-966B-C417-838CA32C6D66}"/>
              </a:ext>
            </a:extLst>
          </p:cNvPr>
          <p:cNvSpPr txBox="1"/>
          <p:nvPr/>
        </p:nvSpPr>
        <p:spPr>
          <a:xfrm>
            <a:off x="9711607" y="3658610"/>
            <a:ext cx="1479260" cy="153888"/>
          </a:xfrm>
          <a:prstGeom prst="rect">
            <a:avLst/>
          </a:prstGeom>
          <a:solidFill>
            <a:srgbClr val="FFC000"/>
          </a:solidFill>
        </p:spPr>
        <p:txBody>
          <a:bodyPr wrap="square" lIns="0" tIns="0" rIns="0" bIns="0" rtlCol="0">
            <a:spAutoFit/>
          </a:bodyPr>
          <a:lstStyle/>
          <a:p>
            <a:pPr algn="ctr"/>
            <a:r>
              <a:rPr lang="it-IT" sz="1000" b="1" i="1" dirty="0"/>
              <a:t>Costo del lavoro</a:t>
            </a:r>
          </a:p>
        </p:txBody>
      </p:sp>
      <p:sp>
        <p:nvSpPr>
          <p:cNvPr id="204" name="Elaborazione 10">
            <a:extLst>
              <a:ext uri="{FF2B5EF4-FFF2-40B4-BE49-F238E27FC236}">
                <a16:creationId xmlns:a16="http://schemas.microsoft.com/office/drawing/2014/main" id="{9D8DA47A-0422-E19B-3517-8B6CCA2CDCFC}"/>
              </a:ext>
            </a:extLst>
          </p:cNvPr>
          <p:cNvSpPr/>
          <p:nvPr/>
        </p:nvSpPr>
        <p:spPr>
          <a:xfrm>
            <a:off x="4305869" y="3040306"/>
            <a:ext cx="1325367" cy="801384"/>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600" b="1" kern="1200" dirty="0">
                <a:solidFill>
                  <a:schemeClr val="tx1"/>
                </a:solidFill>
              </a:rPr>
              <a:t>PAYROLL</a:t>
            </a:r>
          </a:p>
          <a:p>
            <a:pPr algn="ctr" defTabSz="666750">
              <a:lnSpc>
                <a:spcPct val="90000"/>
              </a:lnSpc>
              <a:spcBef>
                <a:spcPct val="0"/>
              </a:spcBef>
              <a:spcAft>
                <a:spcPct val="35000"/>
              </a:spcAft>
            </a:pPr>
            <a:r>
              <a:rPr lang="it-IT" sz="1600" b="1" dirty="0">
                <a:solidFill>
                  <a:schemeClr val="tx1"/>
                </a:solidFill>
              </a:rPr>
              <a:t>IT</a:t>
            </a:r>
            <a:endParaRPr lang="it-IT" sz="1600" b="1" kern="1200" dirty="0">
              <a:solidFill>
                <a:schemeClr val="tx1"/>
              </a:solidFill>
            </a:endParaRPr>
          </a:p>
        </p:txBody>
      </p:sp>
      <p:sp>
        <p:nvSpPr>
          <p:cNvPr id="214" name="CasellaDiTesto 81">
            <a:extLst>
              <a:ext uri="{FF2B5EF4-FFF2-40B4-BE49-F238E27FC236}">
                <a16:creationId xmlns:a16="http://schemas.microsoft.com/office/drawing/2014/main" id="{9FF0B322-76DF-7F0E-8053-39695BA1345B}"/>
              </a:ext>
            </a:extLst>
          </p:cNvPr>
          <p:cNvSpPr txBox="1"/>
          <p:nvPr/>
        </p:nvSpPr>
        <p:spPr>
          <a:xfrm>
            <a:off x="5836300" y="2197537"/>
            <a:ext cx="2409895" cy="153888"/>
          </a:xfrm>
          <a:prstGeom prst="rect">
            <a:avLst/>
          </a:prstGeom>
          <a:solidFill>
            <a:srgbClr val="FFFF00"/>
          </a:solidFill>
        </p:spPr>
        <p:txBody>
          <a:bodyPr wrap="square" lIns="0" tIns="0" rIns="0" bIns="0" rtlCol="0">
            <a:spAutoFit/>
          </a:bodyPr>
          <a:lstStyle/>
          <a:p>
            <a:pPr algn="ctr"/>
            <a:r>
              <a:rPr lang="it-IT" sz="1000" b="1" i="1" dirty="0"/>
              <a:t>Costo del lavoro per OU-CC SNOW</a:t>
            </a:r>
          </a:p>
        </p:txBody>
      </p:sp>
      <p:sp>
        <p:nvSpPr>
          <p:cNvPr id="215" name="CasellaDiTesto 81">
            <a:extLst>
              <a:ext uri="{FF2B5EF4-FFF2-40B4-BE49-F238E27FC236}">
                <a16:creationId xmlns:a16="http://schemas.microsoft.com/office/drawing/2014/main" id="{F055616C-81E5-5323-B661-A3CFC8211491}"/>
              </a:ext>
            </a:extLst>
          </p:cNvPr>
          <p:cNvSpPr txBox="1"/>
          <p:nvPr/>
        </p:nvSpPr>
        <p:spPr>
          <a:xfrm>
            <a:off x="5855805" y="3230776"/>
            <a:ext cx="2303971" cy="153888"/>
          </a:xfrm>
          <a:prstGeom prst="rect">
            <a:avLst/>
          </a:prstGeom>
          <a:solidFill>
            <a:srgbClr val="FFFF00"/>
          </a:solidFill>
        </p:spPr>
        <p:txBody>
          <a:bodyPr wrap="square" lIns="0" tIns="0" rIns="0" bIns="0" rtlCol="0">
            <a:spAutoFit/>
          </a:bodyPr>
          <a:lstStyle/>
          <a:p>
            <a:pPr algn="ctr"/>
            <a:r>
              <a:rPr lang="it-IT" sz="1000" b="1" i="1" dirty="0"/>
              <a:t>Costo del lavoro  per OU SAP HR</a:t>
            </a:r>
          </a:p>
        </p:txBody>
      </p:sp>
      <p:cxnSp>
        <p:nvCxnSpPr>
          <p:cNvPr id="228" name="Connector: Elbow 227">
            <a:extLst>
              <a:ext uri="{FF2B5EF4-FFF2-40B4-BE49-F238E27FC236}">
                <a16:creationId xmlns:a16="http://schemas.microsoft.com/office/drawing/2014/main" id="{82ACB781-F112-2938-FC42-D35C6D5D2225}"/>
              </a:ext>
            </a:extLst>
          </p:cNvPr>
          <p:cNvCxnSpPr>
            <a:cxnSpLocks/>
            <a:stCxn id="204" idx="3"/>
            <a:endCxn id="9" idx="0"/>
          </p:cNvCxnSpPr>
          <p:nvPr/>
        </p:nvCxnSpPr>
        <p:spPr>
          <a:xfrm>
            <a:off x="5631236" y="3440998"/>
            <a:ext cx="2555216" cy="384505"/>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30" name="Connector: Elbow 229">
            <a:extLst>
              <a:ext uri="{FF2B5EF4-FFF2-40B4-BE49-F238E27FC236}">
                <a16:creationId xmlns:a16="http://schemas.microsoft.com/office/drawing/2014/main" id="{B01F275B-3EF2-7FA3-DD22-0AAFB282D977}"/>
              </a:ext>
            </a:extLst>
          </p:cNvPr>
          <p:cNvCxnSpPr>
            <a:cxnSpLocks/>
            <a:stCxn id="11" idx="3"/>
            <a:endCxn id="204" idx="1"/>
          </p:cNvCxnSpPr>
          <p:nvPr/>
        </p:nvCxnSpPr>
        <p:spPr>
          <a:xfrm>
            <a:off x="3462626" y="2706700"/>
            <a:ext cx="843243" cy="734298"/>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31" name="Elaborazione 10">
            <a:extLst>
              <a:ext uri="{FF2B5EF4-FFF2-40B4-BE49-F238E27FC236}">
                <a16:creationId xmlns:a16="http://schemas.microsoft.com/office/drawing/2014/main" id="{55B4DBE0-7503-788D-0EDF-E993B39274B0}"/>
              </a:ext>
            </a:extLst>
          </p:cNvPr>
          <p:cNvSpPr/>
          <p:nvPr/>
        </p:nvSpPr>
        <p:spPr>
          <a:xfrm>
            <a:off x="2228639" y="4019792"/>
            <a:ext cx="1718280" cy="872389"/>
          </a:xfrm>
          <a:prstGeom prst="flowChartProcess">
            <a:avLst/>
          </a:prstGeom>
          <a:solidFill>
            <a:schemeClr val="accent1">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600" b="1" kern="1200" dirty="0">
                <a:solidFill>
                  <a:schemeClr val="tx1"/>
                </a:solidFill>
              </a:rPr>
              <a:t>PAYROLL</a:t>
            </a:r>
          </a:p>
          <a:p>
            <a:pPr algn="ctr" defTabSz="666750">
              <a:lnSpc>
                <a:spcPct val="90000"/>
              </a:lnSpc>
              <a:spcBef>
                <a:spcPct val="0"/>
              </a:spcBef>
              <a:spcAft>
                <a:spcPct val="35000"/>
              </a:spcAft>
            </a:pPr>
            <a:r>
              <a:rPr lang="it-IT" sz="1200" b="1" dirty="0">
                <a:solidFill>
                  <a:schemeClr val="tx1"/>
                </a:solidFill>
              </a:rPr>
              <a:t>ALTRI PAESI</a:t>
            </a:r>
          </a:p>
          <a:p>
            <a:pPr algn="ctr" defTabSz="666750">
              <a:lnSpc>
                <a:spcPct val="90000"/>
              </a:lnSpc>
              <a:spcBef>
                <a:spcPct val="0"/>
              </a:spcBef>
              <a:spcAft>
                <a:spcPct val="35000"/>
              </a:spcAft>
            </a:pPr>
            <a:r>
              <a:rPr lang="it-IT" sz="1200" b="1" kern="1200" dirty="0">
                <a:solidFill>
                  <a:schemeClr val="tx1"/>
                </a:solidFill>
              </a:rPr>
              <a:t>(USA-MX-CR-GT-RO </a:t>
            </a:r>
            <a:r>
              <a:rPr lang="it-IT" sz="1200" b="1" kern="1200" dirty="0" err="1">
                <a:solidFill>
                  <a:schemeClr val="tx1"/>
                </a:solidFill>
              </a:rPr>
              <a:t>etc</a:t>
            </a:r>
            <a:r>
              <a:rPr lang="it-IT" sz="1200" b="1" kern="1200" dirty="0">
                <a:solidFill>
                  <a:schemeClr val="tx1"/>
                </a:solidFill>
              </a:rPr>
              <a:t>)</a:t>
            </a:r>
          </a:p>
        </p:txBody>
      </p:sp>
      <p:sp>
        <p:nvSpPr>
          <p:cNvPr id="232" name="CasellaDiTesto 81">
            <a:extLst>
              <a:ext uri="{FF2B5EF4-FFF2-40B4-BE49-F238E27FC236}">
                <a16:creationId xmlns:a16="http://schemas.microsoft.com/office/drawing/2014/main" id="{7A2E05E9-CACC-780B-363E-9D17EBD11ED2}"/>
              </a:ext>
            </a:extLst>
          </p:cNvPr>
          <p:cNvSpPr txBox="1"/>
          <p:nvPr/>
        </p:nvSpPr>
        <p:spPr>
          <a:xfrm>
            <a:off x="4280354" y="4273879"/>
            <a:ext cx="2303971" cy="153888"/>
          </a:xfrm>
          <a:prstGeom prst="rect">
            <a:avLst/>
          </a:prstGeom>
          <a:solidFill>
            <a:srgbClr val="FFFF00"/>
          </a:solidFill>
        </p:spPr>
        <p:txBody>
          <a:bodyPr wrap="square" lIns="0" tIns="0" rIns="0" bIns="0" rtlCol="0">
            <a:spAutoFit/>
          </a:bodyPr>
          <a:lstStyle/>
          <a:p>
            <a:pPr algn="ctr"/>
            <a:r>
              <a:rPr lang="it-IT" sz="1000" b="1" i="1" dirty="0"/>
              <a:t>Costo del lavoro  per OU Payroll</a:t>
            </a:r>
          </a:p>
        </p:txBody>
      </p:sp>
      <p:cxnSp>
        <p:nvCxnSpPr>
          <p:cNvPr id="234" name="Connector: Elbow 233">
            <a:extLst>
              <a:ext uri="{FF2B5EF4-FFF2-40B4-BE49-F238E27FC236}">
                <a16:creationId xmlns:a16="http://schemas.microsoft.com/office/drawing/2014/main" id="{1B5C542B-143D-4C27-3175-81F0AF8E319D}"/>
              </a:ext>
            </a:extLst>
          </p:cNvPr>
          <p:cNvCxnSpPr>
            <a:cxnSpLocks/>
            <a:stCxn id="231" idx="3"/>
            <a:endCxn id="9" idx="1"/>
          </p:cNvCxnSpPr>
          <p:nvPr/>
        </p:nvCxnSpPr>
        <p:spPr>
          <a:xfrm>
            <a:off x="3946919" y="4455987"/>
            <a:ext cx="3157561" cy="23507"/>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36" name="Connector: Elbow 235">
            <a:extLst>
              <a:ext uri="{FF2B5EF4-FFF2-40B4-BE49-F238E27FC236}">
                <a16:creationId xmlns:a16="http://schemas.microsoft.com/office/drawing/2014/main" id="{E43A4C8C-B824-6A45-7EB3-12BBBD1E3771}"/>
              </a:ext>
            </a:extLst>
          </p:cNvPr>
          <p:cNvCxnSpPr>
            <a:cxnSpLocks/>
            <a:stCxn id="11" idx="2"/>
            <a:endCxn id="231" idx="0"/>
          </p:cNvCxnSpPr>
          <p:nvPr/>
        </p:nvCxnSpPr>
        <p:spPr>
          <a:xfrm rot="16200000" flipH="1">
            <a:off x="2596891" y="3528903"/>
            <a:ext cx="782373" cy="199404"/>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57" name="CasellaDiTesto 81">
            <a:extLst>
              <a:ext uri="{FF2B5EF4-FFF2-40B4-BE49-F238E27FC236}">
                <a16:creationId xmlns:a16="http://schemas.microsoft.com/office/drawing/2014/main" id="{61210552-A658-59EF-6E67-C34DE21767D1}"/>
              </a:ext>
            </a:extLst>
          </p:cNvPr>
          <p:cNvSpPr txBox="1"/>
          <p:nvPr/>
        </p:nvSpPr>
        <p:spPr>
          <a:xfrm>
            <a:off x="6873330" y="5448466"/>
            <a:ext cx="1006976" cy="769441"/>
          </a:xfrm>
          <a:prstGeom prst="rect">
            <a:avLst/>
          </a:prstGeom>
          <a:solidFill>
            <a:srgbClr val="FFFF00"/>
          </a:solidFill>
        </p:spPr>
        <p:txBody>
          <a:bodyPr wrap="square" lIns="0" tIns="0" rIns="0" bIns="0" rtlCol="0">
            <a:spAutoFit/>
          </a:bodyPr>
          <a:lstStyle/>
          <a:p>
            <a:pPr algn="ctr"/>
            <a:r>
              <a:rPr lang="it-IT" sz="1000" b="1" i="1" dirty="0"/>
              <a:t>Aggiornamento Automatico Tabelle SAP OU-CC con OU-CC SNOW</a:t>
            </a:r>
          </a:p>
        </p:txBody>
      </p:sp>
      <p:sp>
        <p:nvSpPr>
          <p:cNvPr id="259" name="CasellaDiTesto 81">
            <a:extLst>
              <a:ext uri="{FF2B5EF4-FFF2-40B4-BE49-F238E27FC236}">
                <a16:creationId xmlns:a16="http://schemas.microsoft.com/office/drawing/2014/main" id="{3597AC57-01C3-91DA-A16E-A416FCAE9BDE}"/>
              </a:ext>
            </a:extLst>
          </p:cNvPr>
          <p:cNvSpPr txBox="1"/>
          <p:nvPr/>
        </p:nvSpPr>
        <p:spPr>
          <a:xfrm>
            <a:off x="8396296" y="5477585"/>
            <a:ext cx="1315311" cy="615553"/>
          </a:xfrm>
          <a:prstGeom prst="rect">
            <a:avLst/>
          </a:prstGeom>
          <a:solidFill>
            <a:srgbClr val="FFFF00"/>
          </a:solidFill>
        </p:spPr>
        <p:txBody>
          <a:bodyPr wrap="square" lIns="0" tIns="0" rIns="0" bIns="0" rtlCol="0">
            <a:spAutoFit/>
          </a:bodyPr>
          <a:lstStyle/>
          <a:p>
            <a:pPr algn="ctr"/>
            <a:r>
              <a:rPr lang="it-IT" sz="1000" b="1" i="1" dirty="0"/>
              <a:t>Allineamento</a:t>
            </a:r>
          </a:p>
          <a:p>
            <a:pPr algn="ctr"/>
            <a:r>
              <a:rPr lang="it-IT" sz="1000" b="1" i="1" dirty="0"/>
              <a:t>MANUALE Tabelle SAP OU-CC a tabelle OU-CC SNOW</a:t>
            </a:r>
          </a:p>
        </p:txBody>
      </p:sp>
    </p:spTree>
    <p:extLst>
      <p:ext uri="{BB962C8B-B14F-4D97-AF65-F5344CB8AC3E}">
        <p14:creationId xmlns:p14="http://schemas.microsoft.com/office/powerpoint/2010/main" val="2340140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Rettangolo 116"/>
          <p:cNvSpPr/>
          <p:nvPr/>
        </p:nvSpPr>
        <p:spPr>
          <a:xfrm>
            <a:off x="826117" y="1896919"/>
            <a:ext cx="10116942" cy="1424030"/>
          </a:xfrm>
          <a:prstGeom prst="rect">
            <a:avLst/>
          </a:prstGeom>
          <a:solidFill>
            <a:schemeClr val="bg1">
              <a:lumMod val="85000"/>
            </a:schemeClr>
          </a:solidFill>
          <a:ln>
            <a:solidFill>
              <a:schemeClr val="accent1"/>
            </a:solidFill>
            <a:prstDash val="dash"/>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sp>
        <p:nvSpPr>
          <p:cNvPr id="33" name="Rettangolo 32"/>
          <p:cNvSpPr/>
          <p:nvPr/>
        </p:nvSpPr>
        <p:spPr>
          <a:xfrm>
            <a:off x="2635313" y="111211"/>
            <a:ext cx="5750613" cy="923330"/>
          </a:xfrm>
          <a:prstGeom prst="rect">
            <a:avLst/>
          </a:prstGeom>
          <a:noFill/>
        </p:spPr>
        <p:txBody>
          <a:bodyPr wrap="none" lIns="91440" tIns="45720" rIns="91440" bIns="45720">
            <a:spAutoFit/>
          </a:bodyPr>
          <a:lstStyle/>
          <a:p>
            <a:pPr algn="ctr"/>
            <a:r>
              <a:rPr lang="it-IT" sz="5400" b="1" cap="none" spc="0"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Timeline</a:t>
            </a:r>
            <a:r>
              <a:rPr lang="it-IT"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 mensile</a:t>
            </a:r>
          </a:p>
        </p:txBody>
      </p:sp>
      <p:graphicFrame>
        <p:nvGraphicFramePr>
          <p:cNvPr id="2" name="Diagramma 1"/>
          <p:cNvGraphicFramePr/>
          <p:nvPr>
            <p:extLst>
              <p:ext uri="{D42A27DB-BD31-4B8C-83A1-F6EECF244321}">
                <p14:modId xmlns:p14="http://schemas.microsoft.com/office/powerpoint/2010/main" val="2628310284"/>
              </p:ext>
            </p:extLst>
          </p:nvPr>
        </p:nvGraphicFramePr>
        <p:xfrm>
          <a:off x="1989417" y="2012486"/>
          <a:ext cx="8128000" cy="709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8" name="CasellaDiTesto 37"/>
          <p:cNvSpPr txBox="1"/>
          <p:nvPr/>
        </p:nvSpPr>
        <p:spPr>
          <a:xfrm rot="20765534">
            <a:off x="239714" y="1406292"/>
            <a:ext cx="3947381" cy="492443"/>
          </a:xfrm>
          <a:prstGeom prst="rect">
            <a:avLst/>
          </a:prstGeom>
          <a:blipFill>
            <a:blip r:embed="rId7"/>
            <a:tile tx="0" ty="0" sx="100000" sy="100000" flip="none" algn="tl"/>
          </a:blipFill>
        </p:spPr>
        <p:txBody>
          <a:bodyPr wrap="square" lIns="0" tIns="0" rIns="0" bIns="0" rtlCol="0">
            <a:spAutoFit/>
          </a:bodyPr>
          <a:lstStyle/>
          <a:p>
            <a:r>
              <a:rPr lang="it-IT" sz="1600" dirty="0"/>
              <a:t>Giorni 2,4,6,11,14,16,22,25,28 e ultimo gg del mese</a:t>
            </a:r>
          </a:p>
        </p:txBody>
      </p:sp>
      <p:sp>
        <p:nvSpPr>
          <p:cNvPr id="48" name="CasellaDiTesto 47"/>
          <p:cNvSpPr txBox="1"/>
          <p:nvPr/>
        </p:nvSpPr>
        <p:spPr>
          <a:xfrm>
            <a:off x="7454346" y="2789407"/>
            <a:ext cx="2861770" cy="338554"/>
          </a:xfrm>
          <a:prstGeom prst="rect">
            <a:avLst/>
          </a:prstGeom>
          <a:noFill/>
        </p:spPr>
        <p:txBody>
          <a:bodyPr wrap="square" lIns="0" tIns="0" rIns="0" bIns="0" rtlCol="0">
            <a:spAutoFit/>
          </a:bodyPr>
          <a:lstStyle/>
          <a:p>
            <a:r>
              <a:rPr lang="it-IT" sz="1400" b="1" dirty="0"/>
              <a:t>Ore 03:00</a:t>
            </a:r>
          </a:p>
          <a:p>
            <a:r>
              <a:rPr lang="it-IT" sz="800" i="1" dirty="0"/>
              <a:t>Durata: circa 15’ per 700 UO e  6.000 CC</a:t>
            </a:r>
          </a:p>
        </p:txBody>
      </p:sp>
      <p:sp>
        <p:nvSpPr>
          <p:cNvPr id="62" name="CasellaDiTesto 61"/>
          <p:cNvSpPr txBox="1"/>
          <p:nvPr/>
        </p:nvSpPr>
        <p:spPr>
          <a:xfrm>
            <a:off x="2757900" y="2759312"/>
            <a:ext cx="1846154" cy="338554"/>
          </a:xfrm>
          <a:prstGeom prst="rect">
            <a:avLst/>
          </a:prstGeom>
          <a:noFill/>
        </p:spPr>
        <p:txBody>
          <a:bodyPr wrap="square" lIns="0" tIns="0" rIns="0" bIns="0" rtlCol="0">
            <a:spAutoFit/>
          </a:bodyPr>
          <a:lstStyle/>
          <a:p>
            <a:r>
              <a:rPr lang="it-IT" sz="1400" b="1" dirty="0"/>
              <a:t>Ore 22:00 gg prec</a:t>
            </a:r>
          </a:p>
          <a:p>
            <a:r>
              <a:rPr lang="it-IT" sz="800" i="1" dirty="0"/>
              <a:t>Durata: circa 30’ per 700 UO</a:t>
            </a:r>
          </a:p>
        </p:txBody>
      </p:sp>
      <p:graphicFrame>
        <p:nvGraphicFramePr>
          <p:cNvPr id="64" name="Diagramma 63"/>
          <p:cNvGraphicFramePr/>
          <p:nvPr>
            <p:extLst>
              <p:ext uri="{D42A27DB-BD31-4B8C-83A1-F6EECF244321}">
                <p14:modId xmlns:p14="http://schemas.microsoft.com/office/powerpoint/2010/main" val="1587449908"/>
              </p:ext>
            </p:extLst>
          </p:nvPr>
        </p:nvGraphicFramePr>
        <p:xfrm>
          <a:off x="3756071" y="787725"/>
          <a:ext cx="8128000" cy="70959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2" name="Rettangolo 41"/>
          <p:cNvSpPr/>
          <p:nvPr/>
        </p:nvSpPr>
        <p:spPr>
          <a:xfrm>
            <a:off x="826117" y="4248242"/>
            <a:ext cx="10116942" cy="1650282"/>
          </a:xfrm>
          <a:prstGeom prst="rect">
            <a:avLst/>
          </a:prstGeom>
          <a:solidFill>
            <a:schemeClr val="bg1">
              <a:lumMod val="85000"/>
            </a:schemeClr>
          </a:solidFill>
          <a:ln>
            <a:solidFill>
              <a:schemeClr val="accent1"/>
            </a:solidFill>
            <a:prstDash val="dash"/>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graphicFrame>
        <p:nvGraphicFramePr>
          <p:cNvPr id="43" name="Diagramma 42"/>
          <p:cNvGraphicFramePr/>
          <p:nvPr>
            <p:extLst>
              <p:ext uri="{D42A27DB-BD31-4B8C-83A1-F6EECF244321}">
                <p14:modId xmlns:p14="http://schemas.microsoft.com/office/powerpoint/2010/main" val="3352587412"/>
              </p:ext>
            </p:extLst>
          </p:nvPr>
        </p:nvGraphicFramePr>
        <p:xfrm>
          <a:off x="1989417" y="4502623"/>
          <a:ext cx="8128000" cy="98092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47" name="CasellaDiTesto 46"/>
          <p:cNvSpPr txBox="1"/>
          <p:nvPr/>
        </p:nvSpPr>
        <p:spPr>
          <a:xfrm rot="20224175">
            <a:off x="339587" y="4359882"/>
            <a:ext cx="1419652" cy="246221"/>
          </a:xfrm>
          <a:prstGeom prst="rect">
            <a:avLst/>
          </a:prstGeom>
          <a:blipFill>
            <a:blip r:embed="rId7"/>
            <a:tile tx="0" ty="0" sx="100000" sy="100000" flip="none" algn="tl"/>
          </a:blipFill>
        </p:spPr>
        <p:txBody>
          <a:bodyPr wrap="square" lIns="0" tIns="0" rIns="0" bIns="0" rtlCol="0">
            <a:spAutoFit/>
          </a:bodyPr>
          <a:lstStyle/>
          <a:p>
            <a:r>
              <a:rPr lang="it-IT" sz="1600" dirty="0"/>
              <a:t>Giorno 20</a:t>
            </a:r>
          </a:p>
        </p:txBody>
      </p:sp>
      <p:sp>
        <p:nvSpPr>
          <p:cNvPr id="49" name="CasellaDiTesto 48"/>
          <p:cNvSpPr txBox="1"/>
          <p:nvPr/>
        </p:nvSpPr>
        <p:spPr>
          <a:xfrm>
            <a:off x="5402961" y="5665878"/>
            <a:ext cx="963254" cy="215444"/>
          </a:xfrm>
          <a:prstGeom prst="rect">
            <a:avLst/>
          </a:prstGeom>
          <a:noFill/>
        </p:spPr>
        <p:txBody>
          <a:bodyPr wrap="square" lIns="0" tIns="0" rIns="0" bIns="0" rtlCol="0">
            <a:spAutoFit/>
          </a:bodyPr>
          <a:lstStyle/>
          <a:p>
            <a:r>
              <a:rPr lang="it-IT" sz="1400" b="1" dirty="0"/>
              <a:t>Ore 01:00 </a:t>
            </a:r>
          </a:p>
        </p:txBody>
      </p:sp>
      <p:sp>
        <p:nvSpPr>
          <p:cNvPr id="3" name="CasellaDiTesto 2"/>
          <p:cNvSpPr txBox="1"/>
          <p:nvPr/>
        </p:nvSpPr>
        <p:spPr>
          <a:xfrm>
            <a:off x="3537707" y="6220496"/>
            <a:ext cx="7405352" cy="307777"/>
          </a:xfrm>
          <a:prstGeom prst="rect">
            <a:avLst/>
          </a:prstGeom>
          <a:noFill/>
        </p:spPr>
        <p:txBody>
          <a:bodyPr wrap="square" lIns="0" tIns="0" rIns="0" bIns="0" rtlCol="0">
            <a:spAutoFit/>
          </a:bodyPr>
          <a:lstStyle/>
          <a:p>
            <a:r>
              <a:rPr lang="it-IT" sz="2000" dirty="0"/>
              <a:t>N.B: sono inclusi i giorni festivi</a:t>
            </a:r>
          </a:p>
        </p:txBody>
      </p:sp>
      <p:sp>
        <p:nvSpPr>
          <p:cNvPr id="50" name="Ovale 49"/>
          <p:cNvSpPr/>
          <p:nvPr/>
        </p:nvSpPr>
        <p:spPr>
          <a:xfrm>
            <a:off x="5110131" y="1894298"/>
            <a:ext cx="400488" cy="380983"/>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3</a:t>
            </a:r>
            <a:endParaRPr lang="it-IT" sz="800" b="1" kern="1200" dirty="0">
              <a:solidFill>
                <a:schemeClr val="tx1"/>
              </a:solidFill>
            </a:endParaRPr>
          </a:p>
        </p:txBody>
      </p:sp>
      <p:sp>
        <p:nvSpPr>
          <p:cNvPr id="51" name="Ovale 50"/>
          <p:cNvSpPr/>
          <p:nvPr/>
        </p:nvSpPr>
        <p:spPr>
          <a:xfrm>
            <a:off x="9909462" y="1894297"/>
            <a:ext cx="400488" cy="380983"/>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1</a:t>
            </a:r>
            <a:endParaRPr lang="it-IT" sz="800" b="1" kern="1200" dirty="0">
              <a:solidFill>
                <a:schemeClr val="tx1"/>
              </a:solidFill>
            </a:endParaRPr>
          </a:p>
        </p:txBody>
      </p:sp>
      <p:sp>
        <p:nvSpPr>
          <p:cNvPr id="52" name="Ovale 51"/>
          <p:cNvSpPr/>
          <p:nvPr/>
        </p:nvSpPr>
        <p:spPr>
          <a:xfrm>
            <a:off x="9909462" y="4320290"/>
            <a:ext cx="400488" cy="380983"/>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8</a:t>
            </a:r>
            <a:endParaRPr lang="it-IT" sz="800" b="1" kern="1200" dirty="0">
              <a:solidFill>
                <a:schemeClr val="tx1"/>
              </a:solidFill>
            </a:endParaRPr>
          </a:p>
        </p:txBody>
      </p:sp>
    </p:spTree>
    <p:extLst>
      <p:ext uri="{BB962C8B-B14F-4D97-AF65-F5344CB8AC3E}">
        <p14:creationId xmlns:p14="http://schemas.microsoft.com/office/powerpoint/2010/main" val="3534494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Rettangolo 117"/>
          <p:cNvSpPr/>
          <p:nvPr/>
        </p:nvSpPr>
        <p:spPr>
          <a:xfrm>
            <a:off x="877631" y="1542271"/>
            <a:ext cx="10116942" cy="4700326"/>
          </a:xfrm>
          <a:prstGeom prst="rect">
            <a:avLst/>
          </a:prstGeom>
          <a:solidFill>
            <a:schemeClr val="bg1">
              <a:lumMod val="85000"/>
            </a:schemeClr>
          </a:solidFill>
          <a:ln>
            <a:solidFill>
              <a:schemeClr val="accent1"/>
            </a:solidFill>
            <a:prstDash val="dash"/>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endParaRPr lang="it-IT" sz="1000" kern="1200" dirty="0">
              <a:solidFill>
                <a:schemeClr val="tx1"/>
              </a:solidFill>
            </a:endParaRPr>
          </a:p>
        </p:txBody>
      </p:sp>
      <p:sp>
        <p:nvSpPr>
          <p:cNvPr id="33" name="Rettangolo 32"/>
          <p:cNvSpPr/>
          <p:nvPr/>
        </p:nvSpPr>
        <p:spPr>
          <a:xfrm>
            <a:off x="2154413" y="111211"/>
            <a:ext cx="6712415" cy="923330"/>
          </a:xfrm>
          <a:prstGeom prst="rect">
            <a:avLst/>
          </a:prstGeom>
          <a:noFill/>
        </p:spPr>
        <p:txBody>
          <a:bodyPr wrap="none" lIns="91440" tIns="45720" rIns="91440" bIns="45720">
            <a:spAutoFit/>
          </a:bodyPr>
          <a:lstStyle/>
          <a:p>
            <a:pPr algn="ctr"/>
            <a:r>
              <a:rPr lang="it-IT" sz="5400" b="1" cap="none" spc="0"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Timeline</a:t>
            </a:r>
            <a:r>
              <a:rPr lang="it-IT"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 giornaliera</a:t>
            </a:r>
          </a:p>
        </p:txBody>
      </p:sp>
      <p:sp>
        <p:nvSpPr>
          <p:cNvPr id="56" name="CasellaDiTesto 55"/>
          <p:cNvSpPr txBox="1"/>
          <p:nvPr/>
        </p:nvSpPr>
        <p:spPr>
          <a:xfrm>
            <a:off x="3189355" y="2509248"/>
            <a:ext cx="1752138" cy="338554"/>
          </a:xfrm>
          <a:prstGeom prst="rect">
            <a:avLst/>
          </a:prstGeom>
          <a:solidFill>
            <a:srgbClr val="FFFF00"/>
          </a:solidFill>
        </p:spPr>
        <p:txBody>
          <a:bodyPr wrap="square" lIns="0" tIns="0" rIns="0" bIns="0" rtlCol="0">
            <a:spAutoFit/>
          </a:bodyPr>
          <a:lstStyle/>
          <a:p>
            <a:r>
              <a:rPr lang="it-IT" sz="1100" b="1" dirty="0"/>
              <a:t>Solo nei giorni della Full alle 20:00</a:t>
            </a:r>
          </a:p>
        </p:txBody>
      </p:sp>
      <p:graphicFrame>
        <p:nvGraphicFramePr>
          <p:cNvPr id="64" name="Diagramma 63"/>
          <p:cNvGraphicFramePr/>
          <p:nvPr/>
        </p:nvGraphicFramePr>
        <p:xfrm>
          <a:off x="3756071" y="787725"/>
          <a:ext cx="8128000" cy="709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ttangolo 5"/>
          <p:cNvSpPr/>
          <p:nvPr/>
        </p:nvSpPr>
        <p:spPr>
          <a:xfrm>
            <a:off x="3052176" y="1870976"/>
            <a:ext cx="1889317" cy="561664"/>
          </a:xfrm>
          <a:prstGeom prst="rect">
            <a:avLst/>
          </a:prstGeom>
          <a:solidFill>
            <a:schemeClr val="accent1"/>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600" b="1" i="1" dirty="0"/>
              <a:t>Estrazione UO (*)</a:t>
            </a:r>
            <a:endParaRPr lang="it-IT" sz="1600" dirty="0"/>
          </a:p>
        </p:txBody>
      </p:sp>
      <p:sp>
        <p:nvSpPr>
          <p:cNvPr id="70" name="Rettangolo 69"/>
          <p:cNvSpPr/>
          <p:nvPr/>
        </p:nvSpPr>
        <p:spPr>
          <a:xfrm>
            <a:off x="6864281" y="1878459"/>
            <a:ext cx="2679809" cy="561664"/>
          </a:xfrm>
          <a:prstGeom prst="rect">
            <a:avLst/>
          </a:prstGeom>
          <a:solidFill>
            <a:schemeClr val="accent1"/>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lvl="0"/>
            <a:r>
              <a:rPr lang="it-IT" b="1" dirty="0"/>
              <a:t>Lettura agganci UO-CC</a:t>
            </a:r>
          </a:p>
        </p:txBody>
      </p:sp>
      <p:sp>
        <p:nvSpPr>
          <p:cNvPr id="71" name="Rettangolo 70"/>
          <p:cNvSpPr/>
          <p:nvPr/>
        </p:nvSpPr>
        <p:spPr>
          <a:xfrm>
            <a:off x="4393098" y="3354126"/>
            <a:ext cx="2043109" cy="561664"/>
          </a:xfrm>
          <a:prstGeom prst="rect">
            <a:avLst/>
          </a:prstGeom>
          <a:solidFill>
            <a:schemeClr val="accent1"/>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lvl="0"/>
            <a:r>
              <a:rPr lang="it-IT" b="1" i="1" dirty="0"/>
              <a:t>Trasferimento agganci UO-CC</a:t>
            </a:r>
            <a:endParaRPr lang="it-IT" dirty="0"/>
          </a:p>
        </p:txBody>
      </p:sp>
      <p:sp>
        <p:nvSpPr>
          <p:cNvPr id="72" name="Rettangolo 71"/>
          <p:cNvSpPr/>
          <p:nvPr/>
        </p:nvSpPr>
        <p:spPr>
          <a:xfrm>
            <a:off x="5199148" y="5119491"/>
            <a:ext cx="2450901" cy="561664"/>
          </a:xfrm>
          <a:prstGeom prst="rect">
            <a:avLst/>
          </a:prstGeom>
          <a:solidFill>
            <a:schemeClr val="accent1"/>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lvl="0"/>
            <a:r>
              <a:rPr lang="it-IT" sz="1600" b="1" i="1" dirty="0"/>
              <a:t>Lettura agganci UO-CC e aggiornamento task</a:t>
            </a:r>
            <a:endParaRPr lang="it-IT" sz="1600" dirty="0"/>
          </a:p>
        </p:txBody>
      </p:sp>
      <p:sp>
        <p:nvSpPr>
          <p:cNvPr id="7" name="Parentesi graffa aperta 6"/>
          <p:cNvSpPr/>
          <p:nvPr/>
        </p:nvSpPr>
        <p:spPr>
          <a:xfrm>
            <a:off x="2697137" y="1844126"/>
            <a:ext cx="221543" cy="724636"/>
          </a:xfrm>
          <a:prstGeom prst="lef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73" name="CasellaDiTesto 72"/>
          <p:cNvSpPr txBox="1"/>
          <p:nvPr/>
        </p:nvSpPr>
        <p:spPr>
          <a:xfrm>
            <a:off x="1757708" y="2052556"/>
            <a:ext cx="668755" cy="307777"/>
          </a:xfrm>
          <a:prstGeom prst="rect">
            <a:avLst/>
          </a:prstGeom>
          <a:noFill/>
        </p:spPr>
        <p:txBody>
          <a:bodyPr wrap="square" lIns="0" tIns="0" rIns="0" bIns="0" rtlCol="0">
            <a:spAutoFit/>
          </a:bodyPr>
          <a:lstStyle/>
          <a:p>
            <a:r>
              <a:rPr lang="it-IT" sz="2000" dirty="0"/>
              <a:t>AWS</a:t>
            </a:r>
            <a:endParaRPr lang="it-IT" sz="1400" dirty="0"/>
          </a:p>
        </p:txBody>
      </p:sp>
      <p:sp>
        <p:nvSpPr>
          <p:cNvPr id="75" name="Parentesi graffa aperta 74"/>
          <p:cNvSpPr/>
          <p:nvPr/>
        </p:nvSpPr>
        <p:spPr>
          <a:xfrm>
            <a:off x="2732964" y="3340436"/>
            <a:ext cx="221543" cy="618796"/>
          </a:xfrm>
          <a:prstGeom prst="lef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77" name="CasellaDiTesto 76"/>
          <p:cNvSpPr txBox="1"/>
          <p:nvPr/>
        </p:nvSpPr>
        <p:spPr>
          <a:xfrm>
            <a:off x="1660459" y="3478783"/>
            <a:ext cx="1243913" cy="307777"/>
          </a:xfrm>
          <a:prstGeom prst="rect">
            <a:avLst/>
          </a:prstGeom>
          <a:noFill/>
        </p:spPr>
        <p:txBody>
          <a:bodyPr wrap="square" lIns="0" tIns="0" rIns="0" bIns="0" rtlCol="0">
            <a:spAutoFit/>
          </a:bodyPr>
          <a:lstStyle/>
          <a:p>
            <a:r>
              <a:rPr lang="it-IT" sz="2000" dirty="0"/>
              <a:t>DI</a:t>
            </a:r>
            <a:endParaRPr lang="it-IT" sz="1400" dirty="0"/>
          </a:p>
        </p:txBody>
      </p:sp>
      <p:sp>
        <p:nvSpPr>
          <p:cNvPr id="81" name="Parentesi graffa aperta 80"/>
          <p:cNvSpPr/>
          <p:nvPr/>
        </p:nvSpPr>
        <p:spPr>
          <a:xfrm>
            <a:off x="2697136" y="4947187"/>
            <a:ext cx="221543" cy="798131"/>
          </a:xfrm>
          <a:prstGeom prst="lef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84" name="CasellaDiTesto 83"/>
          <p:cNvSpPr txBox="1"/>
          <p:nvPr/>
        </p:nvSpPr>
        <p:spPr>
          <a:xfrm>
            <a:off x="1649933" y="5062164"/>
            <a:ext cx="1091273" cy="307777"/>
          </a:xfrm>
          <a:prstGeom prst="rect">
            <a:avLst/>
          </a:prstGeom>
          <a:noFill/>
        </p:spPr>
        <p:txBody>
          <a:bodyPr wrap="square" lIns="0" tIns="0" rIns="0" bIns="0" rtlCol="0">
            <a:spAutoFit/>
          </a:bodyPr>
          <a:lstStyle/>
          <a:p>
            <a:r>
              <a:rPr lang="it-IT" sz="2000" dirty="0"/>
              <a:t>SAP HR</a:t>
            </a:r>
          </a:p>
        </p:txBody>
      </p:sp>
      <p:sp>
        <p:nvSpPr>
          <p:cNvPr id="86" name="Parentesi graffa aperta 85"/>
          <p:cNvSpPr/>
          <p:nvPr/>
        </p:nvSpPr>
        <p:spPr>
          <a:xfrm>
            <a:off x="1372472" y="1692697"/>
            <a:ext cx="328750" cy="4372916"/>
          </a:xfrm>
          <a:prstGeom prst="lef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88" name="Elaborazione 87"/>
          <p:cNvSpPr/>
          <p:nvPr/>
        </p:nvSpPr>
        <p:spPr>
          <a:xfrm>
            <a:off x="3123197" y="3351840"/>
            <a:ext cx="797754" cy="561664"/>
          </a:xfrm>
          <a:prstGeom prst="flowChartProcess">
            <a:avLst/>
          </a:prstGeom>
          <a:noFill/>
          <a:ln>
            <a:solidFill>
              <a:schemeClr val="accent1"/>
            </a:solidFill>
            <a:prstDash val="dash"/>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AWS</a:t>
            </a:r>
          </a:p>
        </p:txBody>
      </p:sp>
      <p:cxnSp>
        <p:nvCxnSpPr>
          <p:cNvPr id="13" name="Connettore 2 12"/>
          <p:cNvCxnSpPr>
            <a:stCxn id="88" idx="3"/>
            <a:endCxn id="71" idx="1"/>
          </p:cNvCxnSpPr>
          <p:nvPr/>
        </p:nvCxnSpPr>
        <p:spPr>
          <a:xfrm>
            <a:off x="3920951" y="3632672"/>
            <a:ext cx="472147" cy="228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89" name="Elaborazione 88"/>
          <p:cNvSpPr/>
          <p:nvPr/>
        </p:nvSpPr>
        <p:spPr>
          <a:xfrm>
            <a:off x="7051365" y="3354126"/>
            <a:ext cx="1545648" cy="561664"/>
          </a:xfrm>
          <a:prstGeom prst="flowChartProcess">
            <a:avLst/>
          </a:prstGeom>
          <a:noFill/>
          <a:ln>
            <a:solidFill>
              <a:schemeClr val="accent1"/>
            </a:solidFill>
            <a:prstDash val="dash"/>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BW4HANA</a:t>
            </a:r>
          </a:p>
        </p:txBody>
      </p:sp>
      <p:cxnSp>
        <p:nvCxnSpPr>
          <p:cNvPr id="96" name="Connettore 2 95"/>
          <p:cNvCxnSpPr>
            <a:stCxn id="71" idx="3"/>
            <a:endCxn id="89" idx="1"/>
          </p:cNvCxnSpPr>
          <p:nvPr/>
        </p:nvCxnSpPr>
        <p:spPr>
          <a:xfrm>
            <a:off x="6436207" y="3634958"/>
            <a:ext cx="61515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01" name="Elaborazione 100"/>
          <p:cNvSpPr/>
          <p:nvPr/>
        </p:nvSpPr>
        <p:spPr>
          <a:xfrm>
            <a:off x="5369083" y="1866923"/>
            <a:ext cx="934547" cy="561664"/>
          </a:xfrm>
          <a:prstGeom prst="flowChartProcess">
            <a:avLst/>
          </a:prstGeom>
          <a:noFill/>
          <a:ln>
            <a:solidFill>
              <a:schemeClr val="accent1"/>
            </a:solidFill>
            <a:prstDash val="dash"/>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kern="1200" dirty="0">
                <a:solidFill>
                  <a:schemeClr val="tx1"/>
                </a:solidFill>
              </a:rPr>
              <a:t>SNOW</a:t>
            </a:r>
            <a:endParaRPr lang="it-IT" sz="3200" b="1" kern="1200" dirty="0">
              <a:solidFill>
                <a:schemeClr val="tx1"/>
              </a:solidFill>
            </a:endParaRPr>
          </a:p>
        </p:txBody>
      </p:sp>
      <p:cxnSp>
        <p:nvCxnSpPr>
          <p:cNvPr id="102" name="Connettore 2 101"/>
          <p:cNvCxnSpPr>
            <a:stCxn id="101" idx="3"/>
            <a:endCxn id="70" idx="1"/>
          </p:cNvCxnSpPr>
          <p:nvPr/>
        </p:nvCxnSpPr>
        <p:spPr>
          <a:xfrm>
            <a:off x="6303630" y="2147755"/>
            <a:ext cx="560651" cy="1153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03" name="Elaborazione 102"/>
          <p:cNvSpPr/>
          <p:nvPr/>
        </p:nvSpPr>
        <p:spPr>
          <a:xfrm>
            <a:off x="3750227" y="5020610"/>
            <a:ext cx="1018960" cy="363402"/>
          </a:xfrm>
          <a:prstGeom prst="flowChartProcess">
            <a:avLst/>
          </a:prstGeom>
          <a:noFill/>
          <a:ln>
            <a:solidFill>
              <a:schemeClr val="accent1"/>
            </a:solidFill>
            <a:prstDash val="dash"/>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SNOW</a:t>
            </a:r>
          </a:p>
        </p:txBody>
      </p:sp>
      <p:sp>
        <p:nvSpPr>
          <p:cNvPr id="104" name="Elaborazione 103"/>
          <p:cNvSpPr/>
          <p:nvPr/>
        </p:nvSpPr>
        <p:spPr>
          <a:xfrm>
            <a:off x="8057216" y="5119491"/>
            <a:ext cx="1079594" cy="561664"/>
          </a:xfrm>
          <a:prstGeom prst="flowChartProcess">
            <a:avLst/>
          </a:prstGeom>
          <a:noFill/>
          <a:ln>
            <a:solidFill>
              <a:schemeClr val="accent1"/>
            </a:solidFill>
            <a:prstDash val="dash"/>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SNOW</a:t>
            </a:r>
          </a:p>
        </p:txBody>
      </p:sp>
      <p:cxnSp>
        <p:nvCxnSpPr>
          <p:cNvPr id="106" name="Connettore 2 105"/>
          <p:cNvCxnSpPr>
            <a:stCxn id="72" idx="3"/>
            <a:endCxn id="104" idx="1"/>
          </p:cNvCxnSpPr>
          <p:nvPr/>
        </p:nvCxnSpPr>
        <p:spPr>
          <a:xfrm>
            <a:off x="7650049" y="5400323"/>
            <a:ext cx="407167"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07" name="Elaborazione 106"/>
          <p:cNvSpPr/>
          <p:nvPr/>
        </p:nvSpPr>
        <p:spPr>
          <a:xfrm>
            <a:off x="3348641" y="5545025"/>
            <a:ext cx="1420546" cy="363402"/>
          </a:xfrm>
          <a:prstGeom prst="flowChartProcess">
            <a:avLst/>
          </a:prstGeom>
          <a:noFill/>
          <a:ln>
            <a:solidFill>
              <a:schemeClr val="accent1"/>
            </a:solidFill>
            <a:prstDash val="dash"/>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2000" b="1" dirty="0">
                <a:solidFill>
                  <a:schemeClr val="tx1"/>
                </a:solidFill>
              </a:rPr>
              <a:t>BW4HANA</a:t>
            </a:r>
            <a:endParaRPr lang="it-IT" sz="1400" b="1" dirty="0">
              <a:solidFill>
                <a:schemeClr val="tx1"/>
              </a:solidFill>
            </a:endParaRPr>
          </a:p>
        </p:txBody>
      </p:sp>
      <p:cxnSp>
        <p:nvCxnSpPr>
          <p:cNvPr id="109" name="Connettore 4 108"/>
          <p:cNvCxnSpPr>
            <a:stCxn id="103" idx="3"/>
            <a:endCxn id="72" idx="1"/>
          </p:cNvCxnSpPr>
          <p:nvPr/>
        </p:nvCxnSpPr>
        <p:spPr>
          <a:xfrm>
            <a:off x="4769187" y="5202311"/>
            <a:ext cx="429961" cy="198012"/>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0" name="Connettore 4 109"/>
          <p:cNvCxnSpPr>
            <a:stCxn id="107" idx="3"/>
            <a:endCxn id="72" idx="1"/>
          </p:cNvCxnSpPr>
          <p:nvPr/>
        </p:nvCxnSpPr>
        <p:spPr>
          <a:xfrm flipV="1">
            <a:off x="4769187" y="5400323"/>
            <a:ext cx="429961" cy="326403"/>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6" name="Connettore 1 115"/>
          <p:cNvCxnSpPr/>
          <p:nvPr/>
        </p:nvCxnSpPr>
        <p:spPr>
          <a:xfrm>
            <a:off x="2418960" y="3093899"/>
            <a:ext cx="7390604" cy="0"/>
          </a:xfrm>
          <a:prstGeom prst="line">
            <a:avLst/>
          </a:prstGeom>
          <a:ln w="12700">
            <a:prstDash val="dashDot"/>
          </a:ln>
        </p:spPr>
        <p:style>
          <a:lnRef idx="1">
            <a:schemeClr val="accent1"/>
          </a:lnRef>
          <a:fillRef idx="0">
            <a:schemeClr val="accent1"/>
          </a:fillRef>
          <a:effectRef idx="0">
            <a:schemeClr val="accent1"/>
          </a:effectRef>
          <a:fontRef idx="minor">
            <a:schemeClr val="tx1"/>
          </a:fontRef>
        </p:style>
      </p:cxnSp>
      <p:cxnSp>
        <p:nvCxnSpPr>
          <p:cNvPr id="119" name="Connettore 1 118"/>
          <p:cNvCxnSpPr/>
          <p:nvPr/>
        </p:nvCxnSpPr>
        <p:spPr>
          <a:xfrm>
            <a:off x="2418960" y="4578435"/>
            <a:ext cx="7390604" cy="0"/>
          </a:xfrm>
          <a:prstGeom prst="line">
            <a:avLst/>
          </a:prstGeom>
          <a:ln w="12700">
            <a:prstDash val="dashDot"/>
          </a:ln>
        </p:spPr>
        <p:style>
          <a:lnRef idx="1">
            <a:schemeClr val="accent1"/>
          </a:lnRef>
          <a:fillRef idx="0">
            <a:schemeClr val="accent1"/>
          </a:fillRef>
          <a:effectRef idx="0">
            <a:schemeClr val="accent1"/>
          </a:effectRef>
          <a:fontRef idx="minor">
            <a:schemeClr val="tx1"/>
          </a:fontRef>
        </p:style>
      </p:cxnSp>
      <p:sp>
        <p:nvSpPr>
          <p:cNvPr id="120" name="CasellaDiTesto 119"/>
          <p:cNvSpPr txBox="1"/>
          <p:nvPr/>
        </p:nvSpPr>
        <p:spPr>
          <a:xfrm rot="20224175">
            <a:off x="317895" y="1804357"/>
            <a:ext cx="1190850" cy="246221"/>
          </a:xfrm>
          <a:prstGeom prst="rect">
            <a:avLst/>
          </a:prstGeom>
          <a:blipFill>
            <a:blip r:embed="rId7"/>
            <a:tile tx="0" ty="0" sx="100000" sy="100000" flip="none" algn="tl"/>
          </a:blipFill>
        </p:spPr>
        <p:txBody>
          <a:bodyPr wrap="square" lIns="0" tIns="0" rIns="0" bIns="0" rtlCol="0">
            <a:spAutoFit/>
          </a:bodyPr>
          <a:lstStyle/>
          <a:p>
            <a:r>
              <a:rPr lang="it-IT" sz="1600" dirty="0"/>
              <a:t>Ogni giorno</a:t>
            </a:r>
          </a:p>
        </p:txBody>
      </p:sp>
      <p:sp>
        <p:nvSpPr>
          <p:cNvPr id="121" name="CasellaDiTesto 120"/>
          <p:cNvSpPr txBox="1"/>
          <p:nvPr/>
        </p:nvSpPr>
        <p:spPr>
          <a:xfrm>
            <a:off x="4336294" y="4012745"/>
            <a:ext cx="2432066" cy="184666"/>
          </a:xfrm>
          <a:prstGeom prst="rect">
            <a:avLst/>
          </a:prstGeom>
          <a:noFill/>
        </p:spPr>
        <p:txBody>
          <a:bodyPr wrap="square" lIns="0" tIns="0" rIns="0" bIns="0" rtlCol="0">
            <a:spAutoFit/>
          </a:bodyPr>
          <a:lstStyle/>
          <a:p>
            <a:r>
              <a:rPr lang="it-IT" sz="1100" b="1" dirty="0"/>
              <a:t>Ogni</a:t>
            </a:r>
            <a:r>
              <a:rPr lang="it-IT" sz="1200" b="1" dirty="0"/>
              <a:t> 10’ a partire dalle 00:00</a:t>
            </a:r>
          </a:p>
        </p:txBody>
      </p:sp>
      <p:sp>
        <p:nvSpPr>
          <p:cNvPr id="45" name="CasellaDiTesto 44"/>
          <p:cNvSpPr txBox="1"/>
          <p:nvPr/>
        </p:nvSpPr>
        <p:spPr>
          <a:xfrm>
            <a:off x="7109953" y="2526576"/>
            <a:ext cx="2432066" cy="184666"/>
          </a:xfrm>
          <a:prstGeom prst="rect">
            <a:avLst/>
          </a:prstGeom>
          <a:noFill/>
        </p:spPr>
        <p:txBody>
          <a:bodyPr wrap="square" lIns="0" tIns="0" rIns="0" bIns="0" rtlCol="0">
            <a:spAutoFit/>
          </a:bodyPr>
          <a:lstStyle/>
          <a:p>
            <a:r>
              <a:rPr lang="it-IT" sz="1100" b="1" dirty="0"/>
              <a:t>Ogni</a:t>
            </a:r>
            <a:r>
              <a:rPr lang="it-IT" sz="1200" b="1" dirty="0"/>
              <a:t> 5’ a partire dalle 00:00</a:t>
            </a:r>
          </a:p>
        </p:txBody>
      </p:sp>
      <p:sp>
        <p:nvSpPr>
          <p:cNvPr id="46" name="CasellaDiTesto 45"/>
          <p:cNvSpPr txBox="1"/>
          <p:nvPr/>
        </p:nvSpPr>
        <p:spPr>
          <a:xfrm>
            <a:off x="5208565" y="5786834"/>
            <a:ext cx="2432066" cy="184666"/>
          </a:xfrm>
          <a:prstGeom prst="rect">
            <a:avLst/>
          </a:prstGeom>
          <a:noFill/>
        </p:spPr>
        <p:txBody>
          <a:bodyPr wrap="square" lIns="0" tIns="0" rIns="0" bIns="0" rtlCol="0">
            <a:spAutoFit/>
          </a:bodyPr>
          <a:lstStyle/>
          <a:p>
            <a:r>
              <a:rPr lang="it-IT" sz="1100" b="1" dirty="0"/>
              <a:t>Ogni</a:t>
            </a:r>
            <a:r>
              <a:rPr lang="it-IT" sz="1200" b="1" dirty="0"/>
              <a:t> 15’ a partire dalle 00:00</a:t>
            </a:r>
          </a:p>
        </p:txBody>
      </p:sp>
      <p:sp>
        <p:nvSpPr>
          <p:cNvPr id="63" name="CasellaDiTesto 62"/>
          <p:cNvSpPr txBox="1"/>
          <p:nvPr/>
        </p:nvSpPr>
        <p:spPr>
          <a:xfrm>
            <a:off x="3750227" y="6489133"/>
            <a:ext cx="3622947" cy="307777"/>
          </a:xfrm>
          <a:prstGeom prst="rect">
            <a:avLst/>
          </a:prstGeom>
          <a:noFill/>
        </p:spPr>
        <p:txBody>
          <a:bodyPr wrap="square" lIns="0" tIns="0" rIns="0" bIns="0" rtlCol="0">
            <a:spAutoFit/>
          </a:bodyPr>
          <a:lstStyle/>
          <a:p>
            <a:r>
              <a:rPr lang="it-IT" sz="2000" dirty="0"/>
              <a:t>N.B: sono inclusi i giorni festivi</a:t>
            </a:r>
          </a:p>
        </p:txBody>
      </p:sp>
      <p:sp>
        <p:nvSpPr>
          <p:cNvPr id="65" name="Ovale 64"/>
          <p:cNvSpPr/>
          <p:nvPr/>
        </p:nvSpPr>
        <p:spPr>
          <a:xfrm>
            <a:off x="3010938" y="1624440"/>
            <a:ext cx="400488" cy="380983"/>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2</a:t>
            </a:r>
            <a:endParaRPr lang="it-IT" sz="800" b="1" kern="1200" dirty="0">
              <a:solidFill>
                <a:schemeClr val="tx1"/>
              </a:solidFill>
            </a:endParaRPr>
          </a:p>
        </p:txBody>
      </p:sp>
      <p:sp>
        <p:nvSpPr>
          <p:cNvPr id="66" name="Ovale 65"/>
          <p:cNvSpPr/>
          <p:nvPr/>
        </p:nvSpPr>
        <p:spPr>
          <a:xfrm>
            <a:off x="6731220" y="1660096"/>
            <a:ext cx="400488" cy="380983"/>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5</a:t>
            </a:r>
            <a:endParaRPr lang="it-IT" sz="800" b="1" kern="1200" dirty="0">
              <a:solidFill>
                <a:schemeClr val="tx1"/>
              </a:solidFill>
            </a:endParaRPr>
          </a:p>
        </p:txBody>
      </p:sp>
      <p:sp>
        <p:nvSpPr>
          <p:cNvPr id="67" name="Ovale 66"/>
          <p:cNvSpPr/>
          <p:nvPr/>
        </p:nvSpPr>
        <p:spPr>
          <a:xfrm>
            <a:off x="6143054" y="3180704"/>
            <a:ext cx="400488" cy="380983"/>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6</a:t>
            </a:r>
            <a:endParaRPr lang="it-IT" sz="800" b="1" kern="1200" dirty="0">
              <a:solidFill>
                <a:schemeClr val="tx1"/>
              </a:solidFill>
            </a:endParaRPr>
          </a:p>
        </p:txBody>
      </p:sp>
      <p:sp>
        <p:nvSpPr>
          <p:cNvPr id="68" name="Ovale 67"/>
          <p:cNvSpPr/>
          <p:nvPr/>
        </p:nvSpPr>
        <p:spPr>
          <a:xfrm>
            <a:off x="7481392" y="4878924"/>
            <a:ext cx="400488" cy="380983"/>
          </a:xfrm>
          <a:prstGeom prst="ellipse">
            <a:avLst/>
          </a:prstGeom>
          <a:solidFill>
            <a:schemeClr val="accent3">
              <a:lumMod val="40000"/>
              <a:lumOff val="60000"/>
            </a:schemeClr>
          </a:solidFill>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6000" tIns="36000" rIns="36000" bIns="36000" numCol="1" spcCol="1270" rtlCol="0" anchor="ctr" anchorCtr="0">
            <a:noAutofit/>
          </a:bodyPr>
          <a:lstStyle/>
          <a:p>
            <a:pPr algn="ctr" defTabSz="666750">
              <a:lnSpc>
                <a:spcPct val="90000"/>
              </a:lnSpc>
              <a:spcBef>
                <a:spcPct val="0"/>
              </a:spcBef>
              <a:spcAft>
                <a:spcPct val="35000"/>
              </a:spcAft>
            </a:pPr>
            <a:r>
              <a:rPr lang="it-IT" sz="1200" b="1" dirty="0">
                <a:solidFill>
                  <a:schemeClr val="tx1"/>
                </a:solidFill>
              </a:rPr>
              <a:t>7</a:t>
            </a:r>
            <a:endParaRPr lang="it-IT" sz="800" b="1" kern="1200" dirty="0">
              <a:solidFill>
                <a:schemeClr val="tx1"/>
              </a:solidFill>
            </a:endParaRPr>
          </a:p>
        </p:txBody>
      </p:sp>
    </p:spTree>
    <p:extLst>
      <p:ext uri="{BB962C8B-B14F-4D97-AF65-F5344CB8AC3E}">
        <p14:creationId xmlns:p14="http://schemas.microsoft.com/office/powerpoint/2010/main" val="3118905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ttangolo 32"/>
          <p:cNvSpPr/>
          <p:nvPr/>
        </p:nvSpPr>
        <p:spPr>
          <a:xfrm>
            <a:off x="782408" y="111211"/>
            <a:ext cx="9456435" cy="923330"/>
          </a:xfrm>
          <a:prstGeom prst="rect">
            <a:avLst/>
          </a:prstGeom>
          <a:noFill/>
        </p:spPr>
        <p:txBody>
          <a:bodyPr wrap="none" lIns="91440" tIns="45720" rIns="91440" bIns="45720">
            <a:spAutoFit/>
          </a:bodyPr>
          <a:lstStyle/>
          <a:p>
            <a:pPr algn="ctr"/>
            <a:r>
              <a:rPr lang="it-IT"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Esigenze </a:t>
            </a:r>
            <a:r>
              <a:rPr lang="it-IT" sz="5400" b="1" cap="none" spc="0"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payroll</a:t>
            </a:r>
            <a:r>
              <a:rPr lang="it-IT"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 e calendari</a:t>
            </a:r>
          </a:p>
        </p:txBody>
      </p:sp>
      <p:graphicFrame>
        <p:nvGraphicFramePr>
          <p:cNvPr id="64" name="Diagramma 63"/>
          <p:cNvGraphicFramePr/>
          <p:nvPr/>
        </p:nvGraphicFramePr>
        <p:xfrm>
          <a:off x="3756071" y="787725"/>
          <a:ext cx="8128000" cy="709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magine 3"/>
          <p:cNvPicPr>
            <a:picLocks noChangeAspect="1"/>
          </p:cNvPicPr>
          <p:nvPr/>
        </p:nvPicPr>
        <p:blipFill>
          <a:blip r:embed="rId7"/>
          <a:stretch>
            <a:fillRect/>
          </a:stretch>
        </p:blipFill>
        <p:spPr>
          <a:xfrm>
            <a:off x="1729881" y="5492444"/>
            <a:ext cx="10045806" cy="1289996"/>
          </a:xfrm>
          <a:prstGeom prst="rect">
            <a:avLst/>
          </a:prstGeom>
        </p:spPr>
      </p:pic>
      <p:sp>
        <p:nvSpPr>
          <p:cNvPr id="43" name="Rettangolo 42"/>
          <p:cNvSpPr/>
          <p:nvPr/>
        </p:nvSpPr>
        <p:spPr>
          <a:xfrm>
            <a:off x="4482397" y="3586550"/>
            <a:ext cx="2732441" cy="461665"/>
          </a:xfrm>
          <a:prstGeom prst="rect">
            <a:avLst/>
          </a:prstGeom>
          <a:noFill/>
        </p:spPr>
        <p:txBody>
          <a:bodyPr wrap="square" lIns="91440" tIns="45720" rIns="91440" bIns="45720">
            <a:spAutoFit/>
          </a:bodyPr>
          <a:lstStyle/>
          <a:p>
            <a:pPr algn="ctr"/>
            <a:r>
              <a:rPr lang="it-IT" sz="2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Timeline Mensile</a:t>
            </a:r>
          </a:p>
        </p:txBody>
      </p:sp>
      <p:sp>
        <p:nvSpPr>
          <p:cNvPr id="44" name="Rettangolo 43"/>
          <p:cNvSpPr/>
          <p:nvPr/>
        </p:nvSpPr>
        <p:spPr>
          <a:xfrm>
            <a:off x="4011562" y="4937297"/>
            <a:ext cx="3482061" cy="461665"/>
          </a:xfrm>
          <a:prstGeom prst="rect">
            <a:avLst/>
          </a:prstGeom>
          <a:noFill/>
        </p:spPr>
        <p:txBody>
          <a:bodyPr wrap="square" lIns="91440" tIns="45720" rIns="91440" bIns="45720">
            <a:spAutoFit/>
          </a:bodyPr>
          <a:lstStyle/>
          <a:p>
            <a:pPr algn="ctr"/>
            <a:r>
              <a:rPr lang="it-IT" sz="2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Timeline giornaliera</a:t>
            </a:r>
          </a:p>
        </p:txBody>
      </p:sp>
      <p:pic>
        <p:nvPicPr>
          <p:cNvPr id="5" name="Immagine 4"/>
          <p:cNvPicPr>
            <a:picLocks noChangeAspect="1"/>
          </p:cNvPicPr>
          <p:nvPr/>
        </p:nvPicPr>
        <p:blipFill>
          <a:blip r:embed="rId8"/>
          <a:stretch>
            <a:fillRect/>
          </a:stretch>
        </p:blipFill>
        <p:spPr>
          <a:xfrm>
            <a:off x="193037" y="4165748"/>
            <a:ext cx="11054428" cy="825446"/>
          </a:xfrm>
          <a:prstGeom prst="rect">
            <a:avLst/>
          </a:prstGeom>
        </p:spPr>
      </p:pic>
      <p:graphicFrame>
        <p:nvGraphicFramePr>
          <p:cNvPr id="6" name="Object 5">
            <a:extLst>
              <a:ext uri="{FF2B5EF4-FFF2-40B4-BE49-F238E27FC236}">
                <a16:creationId xmlns:a16="http://schemas.microsoft.com/office/drawing/2014/main" id="{D8C1C9C9-ED06-4BF9-B484-B59D6B1E2E9F}"/>
              </a:ext>
            </a:extLst>
          </p:cNvPr>
          <p:cNvGraphicFramePr>
            <a:graphicFrameLocks noChangeAspect="1"/>
          </p:cNvGraphicFramePr>
          <p:nvPr>
            <p:extLst>
              <p:ext uri="{D42A27DB-BD31-4B8C-83A1-F6EECF244321}">
                <p14:modId xmlns:p14="http://schemas.microsoft.com/office/powerpoint/2010/main" val="2568397533"/>
              </p:ext>
            </p:extLst>
          </p:nvPr>
        </p:nvGraphicFramePr>
        <p:xfrm>
          <a:off x="952266" y="1204025"/>
          <a:ext cx="5581650" cy="2105025"/>
        </p:xfrm>
        <a:graphic>
          <a:graphicData uri="http://schemas.openxmlformats.org/presentationml/2006/ole">
            <mc:AlternateContent xmlns:mc="http://schemas.openxmlformats.org/markup-compatibility/2006">
              <mc:Choice xmlns:v="urn:schemas-microsoft-com:vml" Requires="v">
                <p:oleObj name="Worksheet" r:id="rId9" imgW="5581562" imgH="2104985" progId="Excel.Sheet.12">
                  <p:embed/>
                </p:oleObj>
              </mc:Choice>
              <mc:Fallback>
                <p:oleObj name="Worksheet" r:id="rId9" imgW="5581562" imgH="2104985" progId="Excel.Sheet.12">
                  <p:embed/>
                  <p:pic>
                    <p:nvPicPr>
                      <p:cNvPr id="6" name="Object 5">
                        <a:extLst>
                          <a:ext uri="{FF2B5EF4-FFF2-40B4-BE49-F238E27FC236}">
                            <a16:creationId xmlns:a16="http://schemas.microsoft.com/office/drawing/2014/main" id="{D8C1C9C9-ED06-4BF9-B484-B59D6B1E2E9F}"/>
                          </a:ext>
                        </a:extLst>
                      </p:cNvPr>
                      <p:cNvPicPr/>
                      <p:nvPr/>
                    </p:nvPicPr>
                    <p:blipFill>
                      <a:blip r:embed="rId10"/>
                      <a:stretch>
                        <a:fillRect/>
                      </a:stretch>
                    </p:blipFill>
                    <p:spPr>
                      <a:xfrm>
                        <a:off x="952266" y="1204025"/>
                        <a:ext cx="5581650" cy="2105025"/>
                      </a:xfrm>
                      <a:prstGeom prst="rect">
                        <a:avLst/>
                      </a:prstGeom>
                    </p:spPr>
                  </p:pic>
                </p:oleObj>
              </mc:Fallback>
            </mc:AlternateContent>
          </a:graphicData>
        </a:graphic>
      </p:graphicFrame>
      <p:graphicFrame>
        <p:nvGraphicFramePr>
          <p:cNvPr id="7" name="Table 7">
            <a:extLst>
              <a:ext uri="{FF2B5EF4-FFF2-40B4-BE49-F238E27FC236}">
                <a16:creationId xmlns:a16="http://schemas.microsoft.com/office/drawing/2014/main" id="{04D04051-FD9A-45CC-834A-7245D5197E4E}"/>
              </a:ext>
            </a:extLst>
          </p:cNvPr>
          <p:cNvGraphicFramePr>
            <a:graphicFrameLocks noGrp="1"/>
          </p:cNvGraphicFramePr>
          <p:nvPr>
            <p:extLst>
              <p:ext uri="{D42A27DB-BD31-4B8C-83A1-F6EECF244321}">
                <p14:modId xmlns:p14="http://schemas.microsoft.com/office/powerpoint/2010/main" val="2602001779"/>
              </p:ext>
            </p:extLst>
          </p:nvPr>
        </p:nvGraphicFramePr>
        <p:xfrm>
          <a:off x="10348332" y="5452942"/>
          <a:ext cx="1427355" cy="914401"/>
        </p:xfrm>
        <a:graphic>
          <a:graphicData uri="http://schemas.openxmlformats.org/drawingml/2006/table">
            <a:tbl>
              <a:tblPr firstRow="1" bandRow="1">
                <a:tableStyleId>{5C22544A-7EE6-4342-B048-85BDC9FD1C3A}</a:tableStyleId>
              </a:tblPr>
              <a:tblGrid>
                <a:gridCol w="1427355">
                  <a:extLst>
                    <a:ext uri="{9D8B030D-6E8A-4147-A177-3AD203B41FA5}">
                      <a16:colId xmlns:a16="http://schemas.microsoft.com/office/drawing/2014/main" val="1789327304"/>
                    </a:ext>
                  </a:extLst>
                </a:gridCol>
              </a:tblGrid>
              <a:tr h="914401">
                <a:tc>
                  <a:txBody>
                    <a:bodyPr/>
                    <a:lstStyle/>
                    <a:p>
                      <a:pPr algn="ctr"/>
                      <a:r>
                        <a:rPr lang="it-IT" sz="1050" dirty="0">
                          <a:solidFill>
                            <a:schemeClr val="tx1"/>
                          </a:solidFill>
                        </a:rPr>
                        <a:t>Allineamento Cataloghi SNOW-AWS </a:t>
                      </a:r>
                    </a:p>
                    <a:p>
                      <a:pPr algn="ctr"/>
                      <a:r>
                        <a:rPr lang="it-IT" sz="1050" dirty="0">
                          <a:solidFill>
                            <a:schemeClr val="tx1"/>
                          </a:solidFill>
                        </a:rPr>
                        <a:t>Ogni Domenica alle 19.00</a:t>
                      </a:r>
                      <a:endParaRPr lang="en-GB" sz="105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6249854"/>
                  </a:ext>
                </a:extLst>
              </a:tr>
            </a:tbl>
          </a:graphicData>
        </a:graphic>
      </p:graphicFrame>
    </p:spTree>
    <p:extLst>
      <p:ext uri="{BB962C8B-B14F-4D97-AF65-F5344CB8AC3E}">
        <p14:creationId xmlns:p14="http://schemas.microsoft.com/office/powerpoint/2010/main" val="3103488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ttangolo 32"/>
          <p:cNvSpPr/>
          <p:nvPr/>
        </p:nvSpPr>
        <p:spPr>
          <a:xfrm>
            <a:off x="1966985" y="210964"/>
            <a:ext cx="6771405" cy="769441"/>
          </a:xfrm>
          <a:prstGeom prst="rect">
            <a:avLst/>
          </a:prstGeom>
          <a:noFill/>
        </p:spPr>
        <p:txBody>
          <a:bodyPr wrap="none" lIns="91440" tIns="45720" rIns="91440" bIns="45720">
            <a:spAutoFit/>
          </a:bodyPr>
          <a:lstStyle/>
          <a:p>
            <a:pPr algn="ctr"/>
            <a:r>
              <a:rPr lang="it-IT" sz="4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Puntamenti sistemi </a:t>
            </a:r>
            <a:r>
              <a:rPr lang="it-IT" sz="4400" b="1" cap="none" spc="0"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prod</a:t>
            </a:r>
            <a:endParaRPr lang="it-IT" sz="4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
        <p:nvSpPr>
          <p:cNvPr id="3" name="CasellaDiTesto 2"/>
          <p:cNvSpPr txBox="1"/>
          <p:nvPr/>
        </p:nvSpPr>
        <p:spPr>
          <a:xfrm>
            <a:off x="364872" y="1497323"/>
            <a:ext cx="5653543" cy="1246495"/>
          </a:xfrm>
          <a:prstGeom prst="rect">
            <a:avLst/>
          </a:prstGeom>
          <a:solidFill>
            <a:schemeClr val="accent5">
              <a:lumMod val="20000"/>
              <a:lumOff val="80000"/>
            </a:schemeClr>
          </a:solidFill>
        </p:spPr>
        <p:txBody>
          <a:bodyPr wrap="square" lIns="0" tIns="0" rIns="0" bIns="0" rtlCol="0">
            <a:spAutoFit/>
          </a:bodyPr>
          <a:lstStyle/>
          <a:p>
            <a:pPr algn="ctr"/>
            <a:r>
              <a:rPr lang="it-IT" dirty="0"/>
              <a:t>SAP HR</a:t>
            </a:r>
          </a:p>
          <a:p>
            <a:r>
              <a:rPr lang="it-IT" sz="900" b="1" dirty="0"/>
              <a:t>per la E-API esposta da SAP HR Global per OU:</a:t>
            </a:r>
          </a:p>
          <a:p>
            <a:r>
              <a:rPr lang="it-IT" sz="900" dirty="0"/>
              <a:t>&lt;</a:t>
            </a:r>
            <a:r>
              <a:rPr lang="it-IT" sz="900" dirty="0" err="1"/>
              <a:t>production_endpoint</a:t>
            </a:r>
            <a:r>
              <a:rPr lang="it-IT" sz="900" dirty="0"/>
              <a:t>&gt; = https://hgp-as1.aws.enelint.global:8300/eapi/emp-masterdata/v1/hrmasterdata-ou?</a:t>
            </a:r>
          </a:p>
          <a:p>
            <a:r>
              <a:rPr lang="it-IT" sz="900" dirty="0"/>
              <a:t>Utenza in Produzione.</a:t>
            </a:r>
          </a:p>
          <a:p>
            <a:r>
              <a:rPr lang="it-IT" sz="900" dirty="0"/>
              <a:t>                </a:t>
            </a:r>
            <a:r>
              <a:rPr lang="it-IT" sz="900" dirty="0" err="1"/>
              <a:t>UserID</a:t>
            </a:r>
            <a:r>
              <a:rPr lang="it-IT" sz="900" dirty="0"/>
              <a:t> :	S_API_ENG</a:t>
            </a:r>
          </a:p>
          <a:p>
            <a:r>
              <a:rPr lang="it-IT" sz="900" dirty="0"/>
              <a:t>                Password: 	Enel.001</a:t>
            </a:r>
          </a:p>
          <a:p>
            <a:endParaRPr lang="it-IT" dirty="0"/>
          </a:p>
        </p:txBody>
      </p:sp>
      <p:sp>
        <p:nvSpPr>
          <p:cNvPr id="10" name="CasellaDiTesto 9"/>
          <p:cNvSpPr txBox="1"/>
          <p:nvPr/>
        </p:nvSpPr>
        <p:spPr>
          <a:xfrm>
            <a:off x="6184669" y="1497323"/>
            <a:ext cx="5511338" cy="1800493"/>
          </a:xfrm>
          <a:prstGeom prst="rect">
            <a:avLst/>
          </a:prstGeom>
          <a:solidFill>
            <a:schemeClr val="accent3">
              <a:lumMod val="20000"/>
              <a:lumOff val="80000"/>
            </a:schemeClr>
          </a:solidFill>
        </p:spPr>
        <p:txBody>
          <a:bodyPr wrap="square" lIns="0" tIns="0" rIns="0" bIns="0" rtlCol="0">
            <a:spAutoFit/>
          </a:bodyPr>
          <a:lstStyle/>
          <a:p>
            <a:pPr algn="ctr"/>
            <a:r>
              <a:rPr lang="it-IT" dirty="0"/>
              <a:t>SNOW</a:t>
            </a:r>
          </a:p>
          <a:p>
            <a:r>
              <a:rPr lang="en-US" sz="900" b="1" dirty="0"/>
              <a:t>Per AWS/AFC: </a:t>
            </a:r>
          </a:p>
          <a:p>
            <a:pPr lvl="1"/>
            <a:r>
              <a:rPr lang="en-US" sz="900" dirty="0"/>
              <a:t>&lt;</a:t>
            </a:r>
            <a:r>
              <a:rPr lang="en-US" sz="900" dirty="0" err="1"/>
              <a:t>production_endpoint</a:t>
            </a:r>
            <a:r>
              <a:rPr lang="en-US" sz="900" dirty="0"/>
              <a:t>&gt; = </a:t>
            </a:r>
            <a:r>
              <a:rPr lang="en-US" sz="900" dirty="0">
                <a:hlinkClick r:id="rId2"/>
              </a:rPr>
              <a:t>https://enel.service-now.com/</a:t>
            </a:r>
            <a:r>
              <a:rPr lang="en-US" sz="900" dirty="0"/>
              <a:t> </a:t>
            </a:r>
          </a:p>
          <a:p>
            <a:pPr lvl="1"/>
            <a:r>
              <a:rPr lang="en-US" sz="900" dirty="0" err="1"/>
              <a:t>Utenza</a:t>
            </a:r>
            <a:r>
              <a:rPr lang="en-US" sz="900" dirty="0"/>
              <a:t> in </a:t>
            </a:r>
            <a:r>
              <a:rPr lang="en-US" sz="900" dirty="0" err="1"/>
              <a:t>Produzione</a:t>
            </a:r>
            <a:r>
              <a:rPr lang="en-US" sz="900" dirty="0"/>
              <a:t>.</a:t>
            </a:r>
          </a:p>
          <a:p>
            <a:pPr lvl="1"/>
            <a:r>
              <a:rPr lang="en-US" sz="900" dirty="0" err="1"/>
              <a:t>UserID</a:t>
            </a:r>
            <a:r>
              <a:rPr lang="en-US" sz="900" dirty="0"/>
              <a:t>: </a:t>
            </a:r>
            <a:r>
              <a:rPr lang="en-US" sz="900" dirty="0" err="1"/>
              <a:t>AFC_AWS_ws_user</a:t>
            </a:r>
            <a:endParaRPr lang="en-US" sz="900" dirty="0"/>
          </a:p>
          <a:p>
            <a:pPr lvl="1"/>
            <a:r>
              <a:rPr lang="en-US" sz="900" dirty="0"/>
              <a:t>Password: </a:t>
            </a:r>
            <a:r>
              <a:rPr lang="en-US" sz="900" dirty="0" err="1"/>
              <a:t>AFC_AWS_ws_user</a:t>
            </a:r>
            <a:endParaRPr lang="en-US" sz="900" dirty="0"/>
          </a:p>
          <a:p>
            <a:r>
              <a:rPr lang="it-IT" sz="900" b="1" dirty="0"/>
              <a:t>Per SAP HR</a:t>
            </a:r>
          </a:p>
          <a:p>
            <a:pPr lvl="1"/>
            <a:r>
              <a:rPr lang="it-IT" sz="900" dirty="0"/>
              <a:t>&lt;</a:t>
            </a:r>
            <a:r>
              <a:rPr lang="it-IT" sz="900" dirty="0" err="1"/>
              <a:t>production_endpoint</a:t>
            </a:r>
            <a:r>
              <a:rPr lang="it-IT" sz="900" dirty="0"/>
              <a:t>&gt; = https://enel.service-now.com/ </a:t>
            </a:r>
          </a:p>
          <a:p>
            <a:pPr lvl="1"/>
            <a:r>
              <a:rPr lang="it-IT" sz="900" dirty="0"/>
              <a:t>Utenza in Produzione.</a:t>
            </a:r>
          </a:p>
          <a:p>
            <a:pPr lvl="1"/>
            <a:r>
              <a:rPr lang="it-IT" sz="900" dirty="0" err="1"/>
              <a:t>UserID</a:t>
            </a:r>
            <a:r>
              <a:rPr lang="it-IT" sz="900" dirty="0"/>
              <a:t>: </a:t>
            </a:r>
            <a:r>
              <a:rPr lang="it-IT" sz="900" dirty="0" err="1"/>
              <a:t>SAP_HR_ws_user</a:t>
            </a:r>
            <a:endParaRPr lang="it-IT" sz="900" dirty="0"/>
          </a:p>
          <a:p>
            <a:pPr lvl="1"/>
            <a:r>
              <a:rPr lang="it-IT" sz="900" dirty="0"/>
              <a:t>Password: </a:t>
            </a:r>
            <a:r>
              <a:rPr lang="it-IT" sz="900" dirty="0" err="1"/>
              <a:t>SAP_HR_ws_user</a:t>
            </a:r>
            <a:endParaRPr lang="it-IT" sz="900" dirty="0"/>
          </a:p>
          <a:p>
            <a:pPr lvl="1"/>
            <a:endParaRPr lang="it-IT" sz="900" dirty="0"/>
          </a:p>
        </p:txBody>
      </p:sp>
      <p:sp>
        <p:nvSpPr>
          <p:cNvPr id="11" name="CasellaDiTesto 10"/>
          <p:cNvSpPr txBox="1"/>
          <p:nvPr/>
        </p:nvSpPr>
        <p:spPr>
          <a:xfrm>
            <a:off x="364871" y="2893162"/>
            <a:ext cx="5653543" cy="3739485"/>
          </a:xfrm>
          <a:prstGeom prst="rect">
            <a:avLst/>
          </a:prstGeom>
          <a:solidFill>
            <a:schemeClr val="accent1">
              <a:lumMod val="40000"/>
              <a:lumOff val="60000"/>
            </a:schemeClr>
          </a:solidFill>
        </p:spPr>
        <p:txBody>
          <a:bodyPr wrap="square" lIns="0" tIns="0" rIns="0" bIns="0" rtlCol="0">
            <a:spAutoFit/>
          </a:bodyPr>
          <a:lstStyle/>
          <a:p>
            <a:pPr algn="ctr"/>
            <a:r>
              <a:rPr lang="it-IT" dirty="0"/>
              <a:t>AWS/AFC</a:t>
            </a:r>
          </a:p>
          <a:p>
            <a:pPr marL="171450" indent="-171450">
              <a:buFont typeface="Arial" panose="020B0604020202020204" pitchFamily="34" charset="0"/>
              <a:buChar char="•"/>
            </a:pPr>
            <a:r>
              <a:rPr lang="it-IT" sz="900" i="1" dirty="0"/>
              <a:t>Service Base URL: </a:t>
            </a:r>
            <a:r>
              <a:rPr lang="it-IT" sz="900" i="1" dirty="0">
                <a:hlinkClick r:id="rId3"/>
              </a:rPr>
              <a:t>http://reporting-afc.enelint.global</a:t>
            </a:r>
            <a:endParaRPr lang="it-IT" sz="900" i="1" dirty="0"/>
          </a:p>
          <a:p>
            <a:pPr marL="171450" indent="-171450">
              <a:buFont typeface="Arial" panose="020B0604020202020204" pitchFamily="34" charset="0"/>
              <a:buChar char="•"/>
            </a:pPr>
            <a:r>
              <a:rPr lang="it-IT" sz="900" i="1" dirty="0"/>
              <a:t>Port: 5005</a:t>
            </a:r>
          </a:p>
          <a:p>
            <a:pPr marL="171450" indent="-171450">
              <a:buFont typeface="Arial" panose="020B0604020202020204" pitchFamily="34" charset="0"/>
              <a:buChar char="•"/>
            </a:pPr>
            <a:r>
              <a:rPr lang="it-IT" sz="900" i="1" dirty="0"/>
              <a:t>Authentication: Basic </a:t>
            </a:r>
            <a:r>
              <a:rPr lang="it-IT" sz="900" i="1" dirty="0" err="1"/>
              <a:t>Auth</a:t>
            </a:r>
            <a:r>
              <a:rPr lang="it-IT" sz="900" i="1" dirty="0"/>
              <a:t> (username and password)</a:t>
            </a:r>
          </a:p>
          <a:p>
            <a:endParaRPr lang="it-IT" sz="900" b="1" dirty="0"/>
          </a:p>
          <a:p>
            <a:r>
              <a:rPr lang="it-IT" sz="900" b="1" dirty="0"/>
              <a:t>Per sistema SNOW:</a:t>
            </a:r>
          </a:p>
          <a:p>
            <a:pPr marL="171450" indent="-171450">
              <a:buFont typeface="Arial" panose="020B0604020202020204" pitchFamily="34" charset="0"/>
              <a:buChar char="•"/>
            </a:pPr>
            <a:r>
              <a:rPr lang="it-IT" sz="900" i="1" dirty="0"/>
              <a:t>Username: SNOW_PROD</a:t>
            </a:r>
          </a:p>
          <a:p>
            <a:pPr marL="171450" indent="-171450">
              <a:buFont typeface="Arial" panose="020B0604020202020204" pitchFamily="34" charset="0"/>
              <a:buChar char="•"/>
            </a:pPr>
            <a:r>
              <a:rPr lang="it-IT" sz="900" i="1" dirty="0"/>
              <a:t>Password: p$153tn_ll21</a:t>
            </a:r>
          </a:p>
          <a:p>
            <a:pPr marL="171450" indent="-171450">
              <a:buFont typeface="Arial" panose="020B0604020202020204" pitchFamily="34" charset="0"/>
              <a:buChar char="•"/>
            </a:pPr>
            <a:r>
              <a:rPr lang="it-IT" sz="900" i="1" u="sng" dirty="0"/>
              <a:t>Endpoints:</a:t>
            </a:r>
          </a:p>
          <a:p>
            <a:pPr marL="628650" lvl="1" indent="-171450">
              <a:buFont typeface="Arial" panose="020B0604020202020204" pitchFamily="34" charset="0"/>
              <a:buChar char="•"/>
            </a:pPr>
            <a:r>
              <a:rPr lang="it-IT" sz="900" i="1" dirty="0"/>
              <a:t>/</a:t>
            </a:r>
            <a:r>
              <a:rPr lang="it-IT" sz="900" i="1" dirty="0" err="1"/>
              <a:t>masterdata</a:t>
            </a:r>
            <a:r>
              <a:rPr lang="it-IT" sz="900" i="1" dirty="0"/>
              <a:t>/v2/</a:t>
            </a:r>
            <a:r>
              <a:rPr lang="it-IT" sz="900" i="1" dirty="0" err="1"/>
              <a:t>associations</a:t>
            </a:r>
            <a:r>
              <a:rPr lang="it-IT" sz="900" i="1" dirty="0"/>
              <a:t>/</a:t>
            </a:r>
            <a:r>
              <a:rPr lang="it-IT" sz="900" i="1" dirty="0" err="1"/>
              <a:t>total</a:t>
            </a:r>
            <a:r>
              <a:rPr lang="it-IT" sz="900" i="1" dirty="0"/>
              <a:t>/q</a:t>
            </a:r>
          </a:p>
          <a:p>
            <a:pPr marL="628650" lvl="1" indent="-171450">
              <a:buFont typeface="Arial" panose="020B0604020202020204" pitchFamily="34" charset="0"/>
              <a:buChar char="•"/>
            </a:pPr>
            <a:r>
              <a:rPr lang="it-IT" sz="900" i="1" dirty="0"/>
              <a:t>/</a:t>
            </a:r>
            <a:r>
              <a:rPr lang="it-IT" sz="900" i="1" dirty="0" err="1"/>
              <a:t>masterdata</a:t>
            </a:r>
            <a:r>
              <a:rPr lang="it-IT" sz="900" i="1" dirty="0"/>
              <a:t>/v2/</a:t>
            </a:r>
            <a:r>
              <a:rPr lang="it-IT" sz="900" i="1" dirty="0" err="1"/>
              <a:t>associations</a:t>
            </a:r>
            <a:r>
              <a:rPr lang="it-IT" sz="900" i="1" dirty="0"/>
              <a:t>/cc/q</a:t>
            </a:r>
          </a:p>
          <a:p>
            <a:pPr marL="628650" lvl="1" indent="-171450">
              <a:buFont typeface="Arial" panose="020B0604020202020204" pitchFamily="34" charset="0"/>
              <a:buChar char="•"/>
            </a:pPr>
            <a:r>
              <a:rPr lang="it-IT" sz="900" i="1" dirty="0"/>
              <a:t>/</a:t>
            </a:r>
            <a:r>
              <a:rPr lang="it-IT" sz="900" i="1" dirty="0" err="1"/>
              <a:t>masterdata</a:t>
            </a:r>
            <a:r>
              <a:rPr lang="it-IT" sz="900" i="1" dirty="0"/>
              <a:t>/v2/</a:t>
            </a:r>
            <a:r>
              <a:rPr lang="it-IT" sz="900" i="1" dirty="0" err="1"/>
              <a:t>associations</a:t>
            </a:r>
            <a:r>
              <a:rPr lang="it-IT" sz="900" i="1" dirty="0"/>
              <a:t>/</a:t>
            </a:r>
            <a:r>
              <a:rPr lang="it-IT" sz="900" i="1" dirty="0" err="1"/>
              <a:t>ou</a:t>
            </a:r>
            <a:r>
              <a:rPr lang="it-IT" sz="900" i="1" dirty="0"/>
              <a:t>/q</a:t>
            </a:r>
            <a:endParaRPr lang="it-IT" sz="900" b="1" dirty="0"/>
          </a:p>
          <a:p>
            <a:r>
              <a:rPr lang="it-IT" sz="900" b="1" dirty="0"/>
              <a:t>Per sistema SAP HR (per </a:t>
            </a:r>
            <a:r>
              <a:rPr lang="it-IT" sz="900" b="1" dirty="0" err="1"/>
              <a:t>Cleaning</a:t>
            </a:r>
            <a:r>
              <a:rPr lang="it-IT" sz="900" b="1" dirty="0"/>
              <a:t>):</a:t>
            </a:r>
          </a:p>
          <a:p>
            <a:pPr marL="171450" indent="-171450">
              <a:buFont typeface="Arial" panose="020B0604020202020204" pitchFamily="34" charset="0"/>
              <a:buChar char="•"/>
            </a:pPr>
            <a:r>
              <a:rPr lang="it-IT" sz="900" i="1" dirty="0"/>
              <a:t>Username: SAPHRGLO</a:t>
            </a:r>
          </a:p>
          <a:p>
            <a:pPr marL="171450" indent="-171450">
              <a:buFont typeface="Arial" panose="020B0604020202020204" pitchFamily="34" charset="0"/>
              <a:buChar char="•"/>
            </a:pPr>
            <a:r>
              <a:rPr lang="it-IT" sz="900" i="1" dirty="0"/>
              <a:t>Password: HRCLEAN_PROD</a:t>
            </a:r>
          </a:p>
          <a:p>
            <a:pPr marL="171450" indent="-171450">
              <a:buFont typeface="Arial" panose="020B0604020202020204" pitchFamily="34" charset="0"/>
              <a:buChar char="•"/>
            </a:pPr>
            <a:r>
              <a:rPr lang="it-IT" sz="900" i="1" u="sng" dirty="0"/>
              <a:t>Endpoints:</a:t>
            </a:r>
            <a:endParaRPr lang="it-IT" sz="900" i="1" dirty="0"/>
          </a:p>
          <a:p>
            <a:pPr marL="628650" lvl="1" indent="-171450">
              <a:buFont typeface="Arial" panose="020B0604020202020204" pitchFamily="34" charset="0"/>
              <a:buChar char="•"/>
            </a:pPr>
            <a:r>
              <a:rPr lang="it-IT" sz="900" i="1" dirty="0"/>
              <a:t>/</a:t>
            </a:r>
            <a:r>
              <a:rPr lang="it-IT" sz="900" i="1" dirty="0" err="1"/>
              <a:t>masterdata</a:t>
            </a:r>
            <a:r>
              <a:rPr lang="it-IT" sz="900" i="1" dirty="0"/>
              <a:t>/v1/cleaning</a:t>
            </a:r>
          </a:p>
          <a:p>
            <a:pPr marL="628650" lvl="1" indent="-171450">
              <a:buFont typeface="Arial" panose="020B0604020202020204" pitchFamily="34" charset="0"/>
              <a:buChar char="•"/>
            </a:pPr>
            <a:r>
              <a:rPr lang="it-IT" sz="900" i="1" dirty="0"/>
              <a:t>/</a:t>
            </a:r>
            <a:r>
              <a:rPr lang="it-IT" sz="900" i="1" dirty="0" err="1"/>
              <a:t>masterdata</a:t>
            </a:r>
            <a:r>
              <a:rPr lang="it-IT" sz="900" i="1" dirty="0"/>
              <a:t>/v1/cleaning/q</a:t>
            </a:r>
          </a:p>
          <a:p>
            <a:pPr marL="628650" lvl="1" indent="-171450">
              <a:buFont typeface="Arial" panose="020B0604020202020204" pitchFamily="34" charset="0"/>
              <a:buChar char="•"/>
            </a:pPr>
            <a:r>
              <a:rPr lang="it-IT" sz="900" dirty="0"/>
              <a:t>/</a:t>
            </a:r>
            <a:r>
              <a:rPr lang="it-IT" sz="900" dirty="0" err="1"/>
              <a:t>masterdata</a:t>
            </a:r>
            <a:r>
              <a:rPr lang="it-IT" sz="900" dirty="0"/>
              <a:t>/v1/cleaning/output/q</a:t>
            </a:r>
          </a:p>
          <a:p>
            <a:pPr marL="628650" lvl="1" indent="-171450">
              <a:buFont typeface="Arial" panose="020B0604020202020204" pitchFamily="34" charset="0"/>
              <a:buChar char="•"/>
            </a:pPr>
            <a:r>
              <a:rPr lang="it-IT" sz="900" i="1" dirty="0"/>
              <a:t>/</a:t>
            </a:r>
            <a:r>
              <a:rPr lang="it-IT" sz="900" i="1" dirty="0" err="1"/>
              <a:t>masterdata</a:t>
            </a:r>
            <a:r>
              <a:rPr lang="it-IT" sz="900" i="1" dirty="0"/>
              <a:t>/v2/cleaning</a:t>
            </a:r>
          </a:p>
          <a:p>
            <a:pPr marL="628650" lvl="1" indent="-171450">
              <a:buFont typeface="Arial" panose="020B0604020202020204" pitchFamily="34" charset="0"/>
              <a:buChar char="•"/>
            </a:pPr>
            <a:r>
              <a:rPr lang="it-IT" sz="900" i="1" dirty="0"/>
              <a:t>/</a:t>
            </a:r>
            <a:r>
              <a:rPr lang="it-IT" sz="900" i="1" dirty="0" err="1"/>
              <a:t>masterdata</a:t>
            </a:r>
            <a:r>
              <a:rPr lang="it-IT" sz="900" i="1" dirty="0"/>
              <a:t>/v2/cleaning/q</a:t>
            </a:r>
            <a:endParaRPr lang="it-IT" sz="900" b="1" dirty="0"/>
          </a:p>
          <a:p>
            <a:r>
              <a:rPr lang="it-IT" sz="900" b="1" dirty="0"/>
              <a:t>Per sistema DI:</a:t>
            </a:r>
          </a:p>
          <a:p>
            <a:pPr marL="171450" indent="-171450">
              <a:buFont typeface="Arial" panose="020B0604020202020204" pitchFamily="34" charset="0"/>
              <a:buChar char="•"/>
            </a:pPr>
            <a:r>
              <a:rPr lang="it-IT" sz="900" i="1" dirty="0"/>
              <a:t>Username: BW4HANA</a:t>
            </a:r>
          </a:p>
          <a:p>
            <a:pPr marL="171450" indent="-171450">
              <a:buFont typeface="Arial" panose="020B0604020202020204" pitchFamily="34" charset="0"/>
              <a:buChar char="•"/>
            </a:pPr>
            <a:r>
              <a:rPr lang="it-IT" sz="900" i="1" dirty="0"/>
              <a:t>Password: 10BWCONNECTPR0D</a:t>
            </a:r>
          </a:p>
          <a:p>
            <a:pPr marL="171450" indent="-171450">
              <a:buFont typeface="Arial" panose="020B0604020202020204" pitchFamily="34" charset="0"/>
              <a:buChar char="•"/>
            </a:pPr>
            <a:r>
              <a:rPr lang="it-IT" sz="900" i="1" u="sng" dirty="0"/>
              <a:t>Endpoints:</a:t>
            </a:r>
          </a:p>
          <a:p>
            <a:pPr marL="628650" lvl="1" indent="-171450">
              <a:buFont typeface="Arial" panose="020B0604020202020204" pitchFamily="34" charset="0"/>
              <a:buChar char="•"/>
            </a:pPr>
            <a:r>
              <a:rPr lang="it-IT" sz="900" dirty="0"/>
              <a:t>/</a:t>
            </a:r>
            <a:r>
              <a:rPr lang="it-IT" sz="900" dirty="0" err="1"/>
              <a:t>masterdata</a:t>
            </a:r>
            <a:r>
              <a:rPr lang="it-IT" sz="900" dirty="0"/>
              <a:t>/v1/</a:t>
            </a:r>
            <a:r>
              <a:rPr lang="it-IT" sz="900" dirty="0" err="1"/>
              <a:t>snow</a:t>
            </a:r>
            <a:endParaRPr lang="it-IT" dirty="0"/>
          </a:p>
        </p:txBody>
      </p:sp>
      <p:sp>
        <p:nvSpPr>
          <p:cNvPr id="12" name="CasellaDiTesto 11"/>
          <p:cNvSpPr txBox="1"/>
          <p:nvPr/>
        </p:nvSpPr>
        <p:spPr>
          <a:xfrm>
            <a:off x="6184669" y="3461896"/>
            <a:ext cx="5653543" cy="3185487"/>
          </a:xfrm>
          <a:prstGeom prst="rect">
            <a:avLst/>
          </a:prstGeom>
          <a:solidFill>
            <a:schemeClr val="accent6">
              <a:lumMod val="40000"/>
              <a:lumOff val="60000"/>
            </a:schemeClr>
          </a:solidFill>
        </p:spPr>
        <p:txBody>
          <a:bodyPr wrap="square" lIns="0" tIns="0" rIns="0" bIns="0" rtlCol="0">
            <a:spAutoFit/>
          </a:bodyPr>
          <a:lstStyle/>
          <a:p>
            <a:pPr algn="ctr"/>
            <a:r>
              <a:rPr lang="it-IT" dirty="0"/>
              <a:t>BW4HANA</a:t>
            </a:r>
            <a:endParaRPr lang="it-IT" sz="900" b="1" dirty="0"/>
          </a:p>
          <a:p>
            <a:r>
              <a:rPr lang="it-IT" sz="900" b="1" dirty="0"/>
              <a:t>Per sistema DI: scrittura direttamente su DB BW4HANA</a:t>
            </a:r>
          </a:p>
          <a:p>
            <a:r>
              <a:rPr lang="it-IT" sz="900" b="1" dirty="0"/>
              <a:t>Per sistema SAP HR/SNOW: </a:t>
            </a:r>
            <a:r>
              <a:rPr lang="it-IT" sz="900" i="1" dirty="0"/>
              <a:t>https://xwp.enelint.global:44331/sap/opu/odata/sap/ZODATA_OR_Q1_CDC_CDP_VAR_SRV/ZODATA_OR_Q1_CDC_CDP_VAR(ZVAR_COST_CENTER='',ZVAR_COMPANY_FILTER='DD01')/Results/?saml2=disabled&amp;$format=json</a:t>
            </a:r>
          </a:p>
          <a:p>
            <a:r>
              <a:rPr lang="it-IT" sz="900" b="1" dirty="0"/>
              <a:t>Per il sistema AWS:</a:t>
            </a:r>
          </a:p>
          <a:p>
            <a:r>
              <a:rPr lang="it-IT" sz="1000" i="1" dirty="0">
                <a:hlinkClick r:id="rId4"/>
              </a:rPr>
              <a:t>https://xwp.enelint.global:44331/sap/opu/odata/sap/ZODATA_OR_Q1_CDC_CDP_AWS_SRV/ZODATA_OR_Q1_CDC_CDP_AWS(ZVAR_MACRO_ORG1='BSER',ZVAR_MACRO_ORG2='ACTSEIT01',ZVAR_VCS='',ZVAR_COMPANY_FILTER='IT1C',ZVAR_PROCESS_CODE='DOTP',ZVAR_ORGANIZ_CODE='CD11')/Results/?saml2=disabled&amp;$format=json</a:t>
            </a:r>
            <a:endParaRPr lang="it-IT" sz="1000" i="1" dirty="0"/>
          </a:p>
          <a:p>
            <a:r>
              <a:rPr lang="it-IT" sz="900" b="1" dirty="0"/>
              <a:t>Per il sistema AWS (senza variabile company): </a:t>
            </a:r>
            <a:r>
              <a:rPr lang="it-IT" sz="800" i="1" u="sng" dirty="0">
                <a:hlinkClick r:id="rId5"/>
              </a:rPr>
              <a:t>https://xwp.enelint.global:44331/sap/opu/odata/sap/ZODATA_OR_Q1_CDC_CDP_PAR_SRV/ZODATA_OR_Q1_CDC_CDP_PAR(ZVAR_MACRO_ORG1='BSER',ZVAR_MACRO_ORG2='ACTSEIT01',ZVAR_VCS='')/Results/?saml2=disabled&amp;$format=json</a:t>
            </a:r>
            <a:endParaRPr lang="it-IT" sz="800" i="1" u="sng" dirty="0"/>
          </a:p>
          <a:p>
            <a:endParaRPr lang="it-IT" sz="1100" i="1" dirty="0"/>
          </a:p>
          <a:p>
            <a:r>
              <a:rPr lang="it-IT" sz="1100" i="1" dirty="0"/>
              <a:t>Le utenze per accedere a questi servizi sono:</a:t>
            </a:r>
          </a:p>
          <a:p>
            <a:r>
              <a:rPr lang="it-IT" sz="1100" i="1" dirty="0"/>
              <a:t>USR_ODATA_HR con </a:t>
            </a:r>
            <a:r>
              <a:rPr lang="it-IT" sz="1100" i="1" dirty="0" err="1"/>
              <a:t>pwd</a:t>
            </a:r>
            <a:r>
              <a:rPr lang="it-IT" sz="1100" i="1" dirty="0"/>
              <a:t> </a:t>
            </a:r>
            <a:r>
              <a:rPr lang="en-US" sz="1100" i="1" dirty="0"/>
              <a:t>YYQRLRODOVUDMPSH</a:t>
            </a:r>
          </a:p>
          <a:p>
            <a:r>
              <a:rPr lang="it-IT" sz="1100" i="1" dirty="0"/>
              <a:t>USR_ODATA con </a:t>
            </a:r>
            <a:r>
              <a:rPr lang="it-IT" sz="1100" i="1" dirty="0" err="1"/>
              <a:t>pwd</a:t>
            </a:r>
            <a:r>
              <a:rPr lang="it-IT" sz="1100" i="1" dirty="0"/>
              <a:t> Enel$100.</a:t>
            </a:r>
            <a:endParaRPr lang="en-US" sz="1100" i="1" dirty="0"/>
          </a:p>
          <a:p>
            <a:endParaRPr lang="en-US" sz="800" i="1" dirty="0"/>
          </a:p>
          <a:p>
            <a:endParaRPr lang="it-IT" sz="300" i="1" dirty="0"/>
          </a:p>
        </p:txBody>
      </p:sp>
    </p:spTree>
    <p:extLst>
      <p:ext uri="{BB962C8B-B14F-4D97-AF65-F5344CB8AC3E}">
        <p14:creationId xmlns:p14="http://schemas.microsoft.com/office/powerpoint/2010/main" val="3827816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ttangolo 32"/>
          <p:cNvSpPr/>
          <p:nvPr/>
        </p:nvSpPr>
        <p:spPr>
          <a:xfrm>
            <a:off x="587256" y="711232"/>
            <a:ext cx="8853706" cy="646331"/>
          </a:xfrm>
          <a:prstGeom prst="rect">
            <a:avLst/>
          </a:prstGeom>
          <a:noFill/>
        </p:spPr>
        <p:txBody>
          <a:bodyPr wrap="none" lIns="91440" tIns="45720" rIns="91440" bIns="45720">
            <a:spAutoFit/>
          </a:bodyPr>
          <a:lstStyle/>
          <a:p>
            <a:pPr algn="ctr"/>
            <a:r>
              <a:rPr lang="it-IT" sz="3600" b="1" cap="none" spc="0"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Microservizi</a:t>
            </a:r>
            <a:r>
              <a:rPr lang="it-IT" sz="3600" b="1"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o</a:t>
            </a:r>
            <a:r>
              <a:rPr lang="it-IT" sz="3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 per recuperare CC da BW</a:t>
            </a:r>
            <a:endParaRPr lang="it-IT" sz="36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
        <p:nvSpPr>
          <p:cNvPr id="2" name="Rectangle 2">
            <a:extLst>
              <a:ext uri="{FF2B5EF4-FFF2-40B4-BE49-F238E27FC236}">
                <a16:creationId xmlns:a16="http://schemas.microsoft.com/office/drawing/2014/main" id="{C6AC99B5-19B4-F4C6-5803-1DBD0BB4128C}"/>
              </a:ext>
            </a:extLst>
          </p:cNvPr>
          <p:cNvSpPr>
            <a:spLocks noChangeArrowheads="1"/>
          </p:cNvSpPr>
          <p:nvPr/>
        </p:nvSpPr>
        <p:spPr bwMode="auto">
          <a:xfrm>
            <a:off x="855784" y="1609601"/>
            <a:ext cx="953086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it-IT" altLang="en-US" sz="1600" dirty="0">
                <a:latin typeface="Calibri" panose="020F0502020204030204" pitchFamily="34" charset="0"/>
                <a:ea typeface="Calibri" panose="020F0502020204030204" pitchFamily="34" charset="0"/>
                <a:cs typeface="Arial" panose="020B0604020202020204" pitchFamily="34" charset="0"/>
              </a:rPr>
              <a:t>Questo è l’a</a:t>
            </a:r>
            <a:r>
              <a:rPr kumimoji="0" lang="it-IT"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ccount  AWS 533849777519 che esegue il </a:t>
            </a:r>
            <a:r>
              <a:rPr kumimoji="0" lang="it-IT" altLang="en-US" sz="16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microservizio</a:t>
            </a:r>
            <a:r>
              <a:rPr kumimoji="0" lang="it-IT"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glhl-ap05703-prod-namespace/</a:t>
            </a:r>
            <a:r>
              <a:rPr kumimoji="0" lang="it-IT" altLang="en-US" sz="16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bwsync</a:t>
            </a:r>
            <a:r>
              <a:rPr kumimoji="0" lang="it-IT"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attraverso il </a:t>
            </a:r>
            <a:r>
              <a:rPr kumimoji="0" lang="it-IT" altLang="en-US" sz="16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Kubernets</a:t>
            </a:r>
            <a:r>
              <a:rPr lang="it-IT" altLang="en-US" sz="1600" dirty="0" err="1">
                <a:latin typeface="Calibri" panose="020F0502020204030204" pitchFamily="34" charset="0"/>
                <a:ea typeface="Calibri" panose="020F0502020204030204" pitchFamily="34" charset="0"/>
                <a:cs typeface="Arial" panose="020B0604020202020204" pitchFamily="34" charset="0"/>
              </a:rPr>
              <a:t>Cluster</a:t>
            </a:r>
            <a:r>
              <a:rPr lang="it-IT" altLang="en-US" sz="1600" dirty="0">
                <a:latin typeface="Calibri" panose="020F0502020204030204" pitchFamily="34" charset="0"/>
                <a:ea typeface="Calibri" panose="020F0502020204030204" pitchFamily="34" charset="0"/>
                <a:cs typeface="Arial" panose="020B0604020202020204" pitchFamily="34" charset="0"/>
              </a:rPr>
              <a:t> Enel-AP0781101-production-SharedLAN-Cluster</a:t>
            </a:r>
            <a:r>
              <a:rPr kumimoji="0" lang="it-IT"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a:t>
            </a:r>
            <a:endParaRPr kumimoji="0" lang="en-US" altLang="en-US" sz="1400" b="0" i="0" u="none" strike="noStrike" cap="none" normalizeH="0" baseline="0" dirty="0">
              <a:ln>
                <a:noFill/>
              </a:ln>
              <a:solidFill>
                <a:schemeClr val="tx1"/>
              </a:solidFill>
              <a:effectLst/>
            </a:endParaRPr>
          </a:p>
        </p:txBody>
      </p:sp>
      <p:pic>
        <p:nvPicPr>
          <p:cNvPr id="1025" name="Picture 1" descr="A screenshot of a computer&#10;&#10;Description automatically generated with low confidence">
            <a:extLst>
              <a:ext uri="{FF2B5EF4-FFF2-40B4-BE49-F238E27FC236}">
                <a16:creationId xmlns:a16="http://schemas.microsoft.com/office/drawing/2014/main" id="{5227FC07-6355-4413-9B81-61E6169B0E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784" y="2559690"/>
            <a:ext cx="8510954" cy="141628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F99A40F-B85E-173E-2A2B-AAA1F0D7D489}"/>
              </a:ext>
            </a:extLst>
          </p:cNvPr>
          <p:cNvSpPr>
            <a:spLocks noChangeArrowheads="1"/>
          </p:cNvSpPr>
          <p:nvPr/>
        </p:nvSpPr>
        <p:spPr bwMode="auto">
          <a:xfrm rot="10800000" flipV="1">
            <a:off x="587256" y="4142791"/>
            <a:ext cx="95308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Questo </a:t>
            </a:r>
            <a:r>
              <a:rPr kumimoji="0" lang="it-IT" altLang="en-US" sz="14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microservizio</a:t>
            </a:r>
            <a:r>
              <a:rPr kumimoji="0" lang="it-IT"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manda una richiesta </a:t>
            </a:r>
            <a:r>
              <a:rPr kumimoji="0" lang="it-IT" altLang="en-US" sz="14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RestAPI</a:t>
            </a:r>
            <a:r>
              <a:rPr kumimoji="0" lang="it-IT"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verso  il server </a:t>
            </a:r>
            <a:r>
              <a:rPr kumimoji="0" lang="it-IT" altLang="en-US" sz="14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xwp.enelint.global</a:t>
            </a:r>
            <a:r>
              <a:rPr kumimoji="0" lang="it-IT"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(IP secondario 10.153.207.6) sulla porta 44331</a:t>
            </a:r>
            <a:r>
              <a:rPr kumimoji="0" lang="en-US" altLang="en-US" sz="1050" b="0" i="0" u="none" strike="noStrike" cap="none" normalizeH="0" baseline="0" dirty="0">
                <a:ln>
                  <a:noFill/>
                </a:ln>
                <a:solidFill>
                  <a:schemeClr val="tx1"/>
                </a:solidFill>
                <a:effectLst/>
                <a:latin typeface="Arial" panose="020B0604020202020204" pitchFamily="34" charset="0"/>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F6D11A34-F7EC-BC51-3C6E-C06E541742B3}"/>
              </a:ext>
            </a:extLst>
          </p:cNvPr>
          <p:cNvSpPr txBox="1"/>
          <p:nvPr/>
        </p:nvSpPr>
        <p:spPr>
          <a:xfrm>
            <a:off x="492369" y="4783014"/>
            <a:ext cx="11195540" cy="1578637"/>
          </a:xfrm>
          <a:prstGeom prst="rect">
            <a:avLst/>
          </a:prstGeom>
          <a:noFill/>
        </p:spPr>
        <p:txBody>
          <a:bodyPr wrap="square">
            <a:spAutoFit/>
          </a:bodyPr>
          <a:lstStyle/>
          <a:p>
            <a:pPr>
              <a:lnSpc>
                <a:spcPct val="107000"/>
              </a:lnSpc>
              <a:spcAft>
                <a:spcPts val="800"/>
              </a:spcAft>
            </a:pPr>
            <a:r>
              <a:rPr lang="it-IT" sz="1400" kern="100" dirty="0">
                <a:effectLst/>
                <a:latin typeface="Calibri" panose="020F0502020204030204" pitchFamily="34" charset="0"/>
                <a:ea typeface="Calibri" panose="020F0502020204030204" pitchFamily="34" charset="0"/>
                <a:cs typeface="Arial" panose="020B0604020202020204" pitchFamily="34" charset="0"/>
              </a:rPr>
              <a:t>Ad esempio la </a:t>
            </a:r>
            <a:r>
              <a:rPr lang="it-IT" sz="1400" kern="100" dirty="0" err="1">
                <a:effectLst/>
                <a:latin typeface="Calibri" panose="020F0502020204030204" pitchFamily="34" charset="0"/>
                <a:ea typeface="Calibri" panose="020F0502020204030204" pitchFamily="34" charset="0"/>
                <a:cs typeface="Arial" panose="020B0604020202020204" pitchFamily="34" charset="0"/>
              </a:rPr>
              <a:t>RestAPI</a:t>
            </a:r>
            <a:r>
              <a:rPr lang="it-IT" sz="1400" kern="100" dirty="0">
                <a:effectLst/>
                <a:latin typeface="Calibri" panose="020F0502020204030204" pitchFamily="34" charset="0"/>
                <a:ea typeface="Calibri" panose="020F0502020204030204" pitchFamily="34" charset="0"/>
                <a:cs typeface="Arial" panose="020B0604020202020204" pitchFamily="34" charset="0"/>
              </a:rPr>
              <a:t> : </a:t>
            </a:r>
            <a:r>
              <a:rPr lang="it-IT" sz="1400" u="sng" kern="100" dirty="0">
                <a:solidFill>
                  <a:srgbClr val="0000FF"/>
                </a:solidFill>
                <a:effectLst/>
                <a:latin typeface="Calibri" panose="020F0502020204030204" pitchFamily="34" charset="0"/>
                <a:ea typeface="Calibri" panose="020F0502020204030204" pitchFamily="34" charset="0"/>
                <a:cs typeface="Arial" panose="020B0604020202020204" pitchFamily="34" charset="0"/>
                <a:hlinkClick r:id="rId3" tooltip="https://xwp.enelint.global:44331/sap/opu/odata/sap/zodata_or_q1_cdc_cdp_aws_v2_srv/zodata_or_q1_cdc_cdp_aws_v2(zvar_macro_org1=%27beso%27,zvar_macro_org2=%27actes01%27,zvar_vcs=%27%27,zvar_company_filter=%27ie11%27,zvar_process_code=%27%27,zvar_organiz_co"/>
              </a:rPr>
              <a:t>https://xwp.enelint.global:44331/sap/opu/odata/sap/ZODATA_OR_Q1_CDC_CDP_AWS_V2_SRV/ZODATA_OR_Q1_CDC_CDP_AWS_V2(ZVAR_MACRO_ORG1='BESO',ZVAR_MACRO_ORG2='ACTES01',ZVAR_VCS='',ZVAR_COMPANY_FILTER='IE11',ZVAR_PROCESS_CODE='',ZVAR_ORGANIZ_CODE='')/Results/?saml2=disabled&amp;$format=json</a:t>
            </a:r>
            <a:r>
              <a:rPr lang="it-IT" sz="1400" kern="100" dirty="0">
                <a:effectLst/>
                <a:latin typeface="Calibri" panose="020F0502020204030204" pitchFamily="34" charset="0"/>
                <a:ea typeface="Calibri" panose="020F0502020204030204" pitchFamily="34" charset="0"/>
                <a:cs typeface="Arial" panose="020B0604020202020204" pitchFamily="34" charset="0"/>
              </a:rPr>
              <a:t> </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r>
              <a:rPr lang="it-IT" sz="1200" i="1" dirty="0"/>
              <a:t>USR</a:t>
            </a:r>
            <a:r>
              <a:rPr lang="it-IT" sz="1200" i="1"/>
              <a:t>_ODATA_HR </a:t>
            </a:r>
            <a:r>
              <a:rPr lang="it-IT" sz="1200" i="1" dirty="0"/>
              <a:t>con </a:t>
            </a:r>
            <a:r>
              <a:rPr lang="it-IT" sz="1200" i="1" dirty="0" err="1"/>
              <a:t>pwd</a:t>
            </a:r>
            <a:r>
              <a:rPr lang="it-IT" sz="1200" i="1" dirty="0"/>
              <a:t> Enel$100</a:t>
            </a:r>
            <a:endParaRPr lang="it-IT" sz="1200" dirty="0">
              <a:effectLst/>
              <a:latin typeface="Segoe UI" panose="020B0502040204020203" pitchFamily="34" charset="0"/>
              <a:ea typeface="Times New Roman" panose="02020603050405020304" pitchFamily="18" charset="0"/>
            </a:endParaRPr>
          </a:p>
          <a:p>
            <a:r>
              <a:rPr lang="it-IT" sz="1400" dirty="0">
                <a:effectLst/>
                <a:latin typeface="Segoe UI" panose="020B0502040204020203" pitchFamily="34" charset="0"/>
                <a:ea typeface="Times New Roman" panose="02020603050405020304" pitchFamily="18" charset="0"/>
              </a:rPr>
              <a:t>Il server di destinazione </a:t>
            </a:r>
            <a:r>
              <a:rPr lang="it-IT" dirty="0" err="1">
                <a:effectLst/>
                <a:latin typeface="Times New Roman" panose="02020603050405020304" pitchFamily="18" charset="0"/>
                <a:ea typeface="Times New Roman" panose="02020603050405020304" pitchFamily="18" charset="0"/>
              </a:rPr>
              <a:t>xwp.enelint.global</a:t>
            </a:r>
            <a:r>
              <a:rPr lang="it-IT" dirty="0">
                <a:effectLst/>
                <a:latin typeface="Times New Roman" panose="02020603050405020304" pitchFamily="18" charset="0"/>
                <a:ea typeface="Times New Roman" panose="02020603050405020304" pitchFamily="18" charset="0"/>
              </a:rPr>
              <a:t> </a:t>
            </a:r>
            <a:r>
              <a:rPr lang="it-IT" sz="1400" dirty="0">
                <a:effectLst/>
                <a:latin typeface="Segoe UI" panose="020B0502040204020203" pitchFamily="34" charset="0"/>
                <a:ea typeface="Times New Roman" panose="02020603050405020304" pitchFamily="18" charset="0"/>
              </a:rPr>
              <a:t>si trova nella VPC AWS : </a:t>
            </a:r>
            <a:r>
              <a:rPr lang="it-IT" sz="1400" dirty="0" err="1">
                <a:effectLst/>
                <a:latin typeface="Segoe UI" panose="020B0502040204020203" pitchFamily="34" charset="0"/>
                <a:ea typeface="Times New Roman" panose="02020603050405020304" pitchFamily="18" charset="0"/>
              </a:rPr>
              <a:t>enel-glhl-prod</a:t>
            </a:r>
            <a:r>
              <a:rPr lang="it-IT" sz="1400" dirty="0">
                <a:effectLst/>
                <a:latin typeface="Segoe UI" panose="020B0502040204020203" pitchFamily="34" charset="0"/>
                <a:ea typeface="Times New Roman" panose="02020603050405020304" pitchFamily="18" charset="0"/>
              </a:rPr>
              <a:t> (260738597304) </a:t>
            </a:r>
            <a:endParaRPr lang="en-US"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823725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Enel+PowerPoint+template_printfriendly_DR">
  <a:themeElements>
    <a:clrScheme name="ENEL">
      <a:dk1>
        <a:sysClr val="windowText" lastClr="000000"/>
      </a:dk1>
      <a:lt1>
        <a:sysClr val="window" lastClr="FFFFFF"/>
      </a:lt1>
      <a:dk2>
        <a:srgbClr val="C6C6C6"/>
      </a:dk2>
      <a:lt2>
        <a:srgbClr val="EDEEE8"/>
      </a:lt2>
      <a:accent1>
        <a:srgbClr val="0655FA"/>
      </a:accent1>
      <a:accent2>
        <a:srgbClr val="40B9E6"/>
      </a:accent2>
      <a:accent3>
        <a:srgbClr val="E71401"/>
      </a:accent3>
      <a:accent4>
        <a:srgbClr val="FE0F64"/>
      </a:accent4>
      <a:accent5>
        <a:srgbClr val="028C59"/>
      </a:accent5>
      <a:accent6>
        <a:srgbClr val="55BD5A"/>
      </a:accent6>
      <a:hlink>
        <a:srgbClr val="000000"/>
      </a:hlink>
      <a:folHlink>
        <a:srgbClr val="00000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85000"/>
          </a:schemeClr>
        </a:solidFill>
      </a:spPr>
      <a:bodyPr spcFirstLastPara="0" vert="horz" wrap="square" lIns="36000" tIns="36000" rIns="36000" bIns="36000" numCol="1" spcCol="1270" rtlCol="0" anchor="ctr" anchorCtr="0">
        <a:noAutofit/>
      </a:bodyPr>
      <a:lstStyle>
        <a:defPPr algn="ctr" defTabSz="666750">
          <a:lnSpc>
            <a:spcPct val="90000"/>
          </a:lnSpc>
          <a:spcBef>
            <a:spcPct val="0"/>
          </a:spcBef>
          <a:spcAft>
            <a:spcPct val="35000"/>
          </a:spcAft>
          <a:defRPr sz="1000" kern="1200" dirty="0" smtClean="0">
            <a:solidFill>
              <a:schemeClr val="tx1"/>
            </a:solidFill>
          </a:defRPr>
        </a:defPPr>
      </a:lstStyle>
      <a: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000" dirty="0" smtClean="0"/>
        </a:defPPr>
      </a:lstStyle>
    </a:txDef>
  </a:objectDefaults>
  <a:extraClrSchemeLst/>
  <a:extLst>
    <a:ext uri="{05A4C25C-085E-4340-85A3-A5531E510DB2}">
      <thm15:themeFamily xmlns:thm15="http://schemas.microsoft.com/office/thememl/2012/main" name="Presentation2" id="{88E4D010-1F27-4A82-8F74-3F1761496E3A}" vid="{82C91379-86C5-4FC2-B588-90C0BFC7AC0B}"/>
    </a:ext>
  </a:extLst>
</a:theme>
</file>

<file path=ppt/theme/theme2.xml><?xml version="1.0" encoding="utf-8"?>
<a:theme xmlns:a="http://schemas.openxmlformats.org/drawingml/2006/main" name="1_Enel Template v2.2">
  <a:themeElements>
    <a:clrScheme name="ENEL">
      <a:dk1>
        <a:sysClr val="windowText" lastClr="000000"/>
      </a:dk1>
      <a:lt1>
        <a:sysClr val="window" lastClr="FFFFFF"/>
      </a:lt1>
      <a:dk2>
        <a:srgbClr val="C6C6C6"/>
      </a:dk2>
      <a:lt2>
        <a:srgbClr val="EDEEE8"/>
      </a:lt2>
      <a:accent1>
        <a:srgbClr val="0655FA"/>
      </a:accent1>
      <a:accent2>
        <a:srgbClr val="40B9E6"/>
      </a:accent2>
      <a:accent3>
        <a:srgbClr val="E71401"/>
      </a:accent3>
      <a:accent4>
        <a:srgbClr val="FE0F64"/>
      </a:accent4>
      <a:accent5>
        <a:srgbClr val="028C59"/>
      </a:accent5>
      <a:accent6>
        <a:srgbClr val="55BD5A"/>
      </a:accent6>
      <a:hlink>
        <a:srgbClr val="000000"/>
      </a:hlink>
      <a:folHlink>
        <a:srgbClr val="00000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72000" tIns="36000" rIns="72000" bIns="36000"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000" dirty="0" smtClean="0"/>
        </a:defPPr>
      </a:lstStyle>
    </a:txDef>
  </a:objectDefaults>
  <a:extraClrSchemeLst/>
  <a:extLst>
    <a:ext uri="{05A4C25C-085E-4340-85A3-A5531E510DB2}">
      <thm15:themeFamily xmlns:thm15="http://schemas.microsoft.com/office/thememl/2012/main" name="Presentation2" id="{88E4D010-1F27-4A82-8F74-3F1761496E3A}" vid="{18D66783-A63F-4EA3-9EB7-07C3A372964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6AD0D5D769FB1F4C8C82693089BEBB8C" ma:contentTypeVersion="6" ma:contentTypeDescription="Creare un nuovo documento." ma:contentTypeScope="" ma:versionID="a1e6f91a305860d860bb52ee9ab6219b">
  <xsd:schema xmlns:xsd="http://www.w3.org/2001/XMLSchema" xmlns:xs="http://www.w3.org/2001/XMLSchema" xmlns:p="http://schemas.microsoft.com/office/2006/metadata/properties" xmlns:ns2="e0291adc-2074-491e-a4e6-dd327137f4a4" targetNamespace="http://schemas.microsoft.com/office/2006/metadata/properties" ma:root="true" ma:fieldsID="5a50b932118c2e4868f124f10824230d" ns2:_="">
    <xsd:import namespace="e0291adc-2074-491e-a4e6-dd327137f4a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291adc-2074-491e-a4e6-dd327137f4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AD35B5-73F3-4DDF-8CDD-0F78E7E5AC9B}">
  <ds:schemaRefs>
    <ds:schemaRef ds:uri="fa08d7e0-1251-4dc7-87b9-13a3435fd2c9"/>
    <ds:schemaRef ds:uri="http://purl.org/dc/terms/"/>
    <ds:schemaRef ds:uri="http://schemas.openxmlformats.org/package/2006/metadata/core-properties"/>
    <ds:schemaRef ds:uri="http://schemas.microsoft.com/office/2006/documentManagement/types"/>
    <ds:schemaRef ds:uri="d785b8fc-d22c-4ba9-b454-aea9cb9fa48f"/>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DD344056-E777-47F5-BDC3-AE472201A0E2}"/>
</file>

<file path=customXml/itemProps3.xml><?xml version="1.0" encoding="utf-8"?>
<ds:datastoreItem xmlns:ds="http://schemas.openxmlformats.org/officeDocument/2006/customXml" ds:itemID="{7486B43F-386B-4964-8FF6-49BF86E062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Enel+PowerPoint+template_printfriendly_DR</Template>
  <TotalTime>0</TotalTime>
  <Words>1819</Words>
  <Application>Microsoft Office PowerPoint</Application>
  <PresentationFormat>Widescreen</PresentationFormat>
  <Paragraphs>331</Paragraphs>
  <Slides>11</Slides>
  <Notes>0</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2</vt:i4>
      </vt:variant>
      <vt:variant>
        <vt:lpstr>Slide Titles</vt:lpstr>
      </vt:variant>
      <vt:variant>
        <vt:i4>11</vt:i4>
      </vt:variant>
    </vt:vector>
  </HeadingPairs>
  <TitlesOfParts>
    <vt:vector size="20" baseType="lpstr">
      <vt:lpstr>Arial</vt:lpstr>
      <vt:lpstr>Calibri</vt:lpstr>
      <vt:lpstr>Lucida Grande</vt:lpstr>
      <vt:lpstr>Segoe UI</vt:lpstr>
      <vt:lpstr>Times New Roman</vt:lpstr>
      <vt:lpstr>Enel+PowerPoint+template_printfriendly_DR</vt:lpstr>
      <vt:lpstr>1_Enel Template v2.2</vt:lpstr>
      <vt:lpstr>Diapositiva think-cell</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System Integration</dc:title>
  <dc:creator/>
  <cp:lastModifiedBy/>
  <cp:revision>1</cp:revision>
  <cp:lastPrinted>2016-01-18T12:45:27Z</cp:lastPrinted>
  <dcterms:created xsi:type="dcterms:W3CDTF">2016-01-29T08:04:45Z</dcterms:created>
  <dcterms:modified xsi:type="dcterms:W3CDTF">2023-06-23T13:21:40Z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0x0101006AD0D5D769FB1F4C8C82693089BEBB8C</vt:lpwstr>
  </property>
  <property fmtid="{D5CDD505-2E9C-101B-9397-08002B2CF9AE}" pid="3" name="AuthorIds_UIVersion_512">
    <vt:lpwstr>213</vt:lpwstr>
  </property>
  <property fmtid="{D5CDD505-2E9C-101B-9397-08002B2CF9AE}" pid="4" name="MSIP_Label_00183ae1-726f-4969-b787-1995b26b5e2f_Enabled">
    <vt:lpwstr>True</vt:lpwstr>
  </property>
  <property fmtid="{D5CDD505-2E9C-101B-9397-08002B2CF9AE}" pid="5" name="MSIP_Label_00183ae1-726f-4969-b787-1995b26b5e2f_SiteId">
    <vt:lpwstr>d539d4bf-5610-471a-afc2-1c76685cfefa</vt:lpwstr>
  </property>
  <property fmtid="{D5CDD505-2E9C-101B-9397-08002B2CF9AE}" pid="6" name="MSIP_Label_00183ae1-726f-4969-b787-1995b26b5e2f_Owner">
    <vt:lpwstr>luca.angioletti@enel.com</vt:lpwstr>
  </property>
  <property fmtid="{D5CDD505-2E9C-101B-9397-08002B2CF9AE}" pid="7" name="MSIP_Label_00183ae1-726f-4969-b787-1995b26b5e2f_SetDate">
    <vt:lpwstr>2021-01-21T08:44:33.0180873Z</vt:lpwstr>
  </property>
  <property fmtid="{D5CDD505-2E9C-101B-9397-08002B2CF9AE}" pid="8" name="MSIP_Label_00183ae1-726f-4969-b787-1995b26b5e2f_Name">
    <vt:lpwstr>Internal</vt:lpwstr>
  </property>
  <property fmtid="{D5CDD505-2E9C-101B-9397-08002B2CF9AE}" pid="9" name="MSIP_Label_00183ae1-726f-4969-b787-1995b26b5e2f_Application">
    <vt:lpwstr>Microsoft Azure Information Protection</vt:lpwstr>
  </property>
  <property fmtid="{D5CDD505-2E9C-101B-9397-08002B2CF9AE}" pid="10" name="MSIP_Label_00183ae1-726f-4969-b787-1995b26b5e2f_ActionId">
    <vt:lpwstr>a294bb4b-1fa5-44f8-b2ef-6b0e7d501f3d</vt:lpwstr>
  </property>
  <property fmtid="{D5CDD505-2E9C-101B-9397-08002B2CF9AE}" pid="11" name="MSIP_Label_00183ae1-726f-4969-b787-1995b26b5e2f_Extended_MSFT_Method">
    <vt:lpwstr>Automatic</vt:lpwstr>
  </property>
  <property fmtid="{D5CDD505-2E9C-101B-9397-08002B2CF9AE}" pid="12" name="MSIP_Label_797ad33d-ed35-43c0-b526-22bc83c17deb_Enabled">
    <vt:lpwstr>True</vt:lpwstr>
  </property>
  <property fmtid="{D5CDD505-2E9C-101B-9397-08002B2CF9AE}" pid="13" name="MSIP_Label_797ad33d-ed35-43c0-b526-22bc83c17deb_SiteId">
    <vt:lpwstr>d539d4bf-5610-471a-afc2-1c76685cfefa</vt:lpwstr>
  </property>
  <property fmtid="{D5CDD505-2E9C-101B-9397-08002B2CF9AE}" pid="14" name="MSIP_Label_797ad33d-ed35-43c0-b526-22bc83c17deb_Owner">
    <vt:lpwstr>luca.angioletti@enel.com</vt:lpwstr>
  </property>
  <property fmtid="{D5CDD505-2E9C-101B-9397-08002B2CF9AE}" pid="15" name="MSIP_Label_797ad33d-ed35-43c0-b526-22bc83c17deb_SetDate">
    <vt:lpwstr>2021-01-21T08:44:33.0180873Z</vt:lpwstr>
  </property>
  <property fmtid="{D5CDD505-2E9C-101B-9397-08002B2CF9AE}" pid="16" name="MSIP_Label_797ad33d-ed35-43c0-b526-22bc83c17deb_Name">
    <vt:lpwstr>Not Encrypted</vt:lpwstr>
  </property>
  <property fmtid="{D5CDD505-2E9C-101B-9397-08002B2CF9AE}" pid="17" name="MSIP_Label_797ad33d-ed35-43c0-b526-22bc83c17deb_Application">
    <vt:lpwstr>Microsoft Azure Information Protection</vt:lpwstr>
  </property>
  <property fmtid="{D5CDD505-2E9C-101B-9397-08002B2CF9AE}" pid="18" name="MSIP_Label_797ad33d-ed35-43c0-b526-22bc83c17deb_ActionId">
    <vt:lpwstr>a294bb4b-1fa5-44f8-b2ef-6b0e7d501f3d</vt:lpwstr>
  </property>
  <property fmtid="{D5CDD505-2E9C-101B-9397-08002B2CF9AE}" pid="19" name="MSIP_Label_797ad33d-ed35-43c0-b526-22bc83c17deb_Parent">
    <vt:lpwstr>00183ae1-726f-4969-b787-1995b26b5e2f</vt:lpwstr>
  </property>
  <property fmtid="{D5CDD505-2E9C-101B-9397-08002B2CF9AE}" pid="20" name="MSIP_Label_797ad33d-ed35-43c0-b526-22bc83c17deb_Extended_MSFT_Method">
    <vt:lpwstr>Automatic</vt:lpwstr>
  </property>
  <property fmtid="{D5CDD505-2E9C-101B-9397-08002B2CF9AE}" pid="21" name="Sensitivity">
    <vt:lpwstr>Internal Not Encrypted</vt:lpwstr>
  </property>
</Properties>
</file>